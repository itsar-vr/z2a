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the Zero to Agent workshop. Today we're going to take you from knowing absolutely nothing about AI-powered development to building a fully functional web application. This isn't vibe coding — we're using enterprise-grade techniques.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the next 3 hours. We'll start with foundations — what AI actually is, and how you talk to it effectively. Then we'll set up our toolkit and do a live walkthrough. The second half is hands-on — you'll build a real app from scratch. Let's break through each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1.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1.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1.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548640" y="1280160"/>
            <a:ext cx="54864" cy="548640"/>
          </a:xfrm>
          <a:prstGeom prst="rect">
            <a:avLst/>
          </a:prstGeom>
          <a:solidFill>
            <a:srgbClr val="0891B2"/>
          </a:solidFill>
          <a:ln/>
        </p:spPr>
        <p:txBody>
          <a:bodyPr/>
          <a:p/>
        </p:txBody>
      </p:sp>
      <p:sp>
        <p:nvSpPr>
          <p:cNvPr id="3" name="Text 1"/>
          <p:cNvSpPr/>
          <p:nvPr/>
        </p:nvSpPr>
        <p:spPr>
          <a:xfrm>
            <a:off x="777240" y="1234440"/>
            <a:ext cx="5486400" cy="320040"/>
          </a:xfrm>
          <a:prstGeom prst="rect">
            <a:avLst/>
          </a:prstGeom>
          <a:noFill/>
          <a:ln/>
        </p:spPr>
        <p:txBody>
          <a:bodyPr wrap="square" lIns="0" tIns="0" rIns="0" bIns="0" rtlCol="0" anchor="ctr"/>
          <a:lstStyle/>
          <a:p>
            <a:pPr indent="0" marL="0">
              <a:buNone/>
            </a:pPr>
            <a:r>
              <a:rPr lang="en-US" sz="1100" b="1" spc="400" kern="0" dirty="0">
                <a:solidFill>
                  <a:srgbClr val="0891B2"/>
                </a:solidFill>
                <a:latin typeface="Calibri" pitchFamily="34" charset="0"/>
                <a:ea typeface="Calibri" pitchFamily="34" charset="-122"/>
                <a:cs typeface="Calibri" pitchFamily="34" charset="-120"/>
              </a:rPr>
              <a:t>ZERO TO AGENT</a:t>
            </a:r>
            <a:endParaRPr lang="en-US" sz="1100" dirty="0"/>
          </a:p>
        </p:txBody>
      </p:sp>
      <p:sp>
        <p:nvSpPr>
          <p:cNvPr id="4" name="Text 2"/>
          <p:cNvSpPr/>
          <p:nvPr/>
        </p:nvSpPr>
        <p:spPr>
          <a:xfrm>
            <a:off x="777240" y="1600200"/>
            <a:ext cx="7315200" cy="10972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AGENTIC ENGINEERING WORKSHOP</a:t>
            </a:r>
            <a:endParaRPr lang="en-US" sz="3400" dirty="0"/>
          </a:p>
        </p:txBody>
      </p:sp>
      <p:sp>
        <p:nvSpPr>
          <p:cNvPr id="5" name="Text 3"/>
          <p:cNvSpPr/>
          <p:nvPr/>
        </p:nvSpPr>
        <p:spPr>
          <a:xfrm>
            <a:off x="777240" y="2697480"/>
            <a:ext cx="6400800" cy="457200"/>
          </a:xfrm>
          <a:prstGeom prst="rect">
            <a:avLst/>
          </a:prstGeom>
          <a:noFill/>
          <a:ln/>
        </p:spPr>
        <p:txBody>
          <a:bodyPr wrap="square" lIns="0" tIns="0" rIns="0" bIns="0" rtlCol="0" anchor="ctr"/>
          <a:lstStyle/>
          <a:p>
            <a:pPr indent="0" marL="0">
              <a:buNone/>
            </a:pPr>
            <a:r>
              <a:rPr lang="en-US" sz="1800" dirty="0">
                <a:solidFill>
                  <a:srgbClr val="94A3B8"/>
                </a:solidFill>
                <a:latin typeface="Calibri Light" pitchFamily="34" charset="0"/>
                <a:ea typeface="Calibri Light" pitchFamily="34" charset="-122"/>
                <a:cs typeface="Calibri Light" pitchFamily="34" charset="-120"/>
              </a:rPr>
              <a:t>Build Real Software with AI — From Zero to Production-Ready</a:t>
            </a:r>
            <a:endParaRPr lang="en-US" sz="1800" dirty="0"/>
          </a:p>
        </p:txBody>
      </p:sp>
      <p:sp>
        <p:nvSpPr>
          <p:cNvPr id="6" name="Text 4"/>
          <p:cNvSpPr/>
          <p:nvPr/>
        </p:nvSpPr>
        <p:spPr>
          <a:xfrm>
            <a:off x="777240" y="4411980"/>
            <a:ext cx="73152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Light" pitchFamily="34" charset="0"/>
                <a:ea typeface="Calibri Light" pitchFamily="34" charset="-122"/>
                <a:cs typeface="Calibri Light" pitchFamily="34" charset="-120"/>
              </a:rPr>
              <a:t>AR Sajid • February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Today's Workshop</a:t>
            </a:r>
            <a:endParaRPr lang="en-US" sz="3200" dirty="0"/>
          </a:p>
        </p:txBody>
      </p:sp>
      <p:sp>
        <p:nvSpPr>
          <p:cNvPr id="3" name="Text 1"/>
          <p:cNvSpPr/>
          <p:nvPr/>
        </p:nvSpPr>
        <p:spPr>
          <a:xfrm>
            <a:off x="548640" y="1280160"/>
            <a:ext cx="640080" cy="457200"/>
          </a:xfrm>
          <a:prstGeom prst="rect">
            <a:avLst/>
          </a:prstGeom>
          <a:noFill/>
          <a:ln/>
        </p:spPr>
        <p:txBody>
          <a:bodyPr wrap="square" lIns="0" tIns="0" rIns="0" bIns="0" rtlCol="0" anchor="ctr"/>
          <a:lstStyle/>
          <a:p>
            <a:pPr indent="0" marL="0">
              <a:buNone/>
            </a:pPr>
            <a:r>
              <a:rPr lang="en-US" sz="2000" b="1" dirty="0">
                <a:solidFill>
                  <a:srgbClr val="0891B2"/>
                </a:solidFill>
                <a:latin typeface="Calibri" pitchFamily="34" charset="0"/>
                <a:ea typeface="Calibri" pitchFamily="34" charset="-122"/>
                <a:cs typeface="Calibri" pitchFamily="34" charset="-120"/>
              </a:rPr>
              <a:t>01</a:t>
            </a:r>
            <a:endParaRPr lang="en-US" sz="2000" dirty="0"/>
          </a:p>
        </p:txBody>
      </p:sp>
      <p:sp>
        <p:nvSpPr>
          <p:cNvPr id="4" name="Shape 2"/>
          <p:cNvSpPr/>
          <p:nvPr/>
        </p:nvSpPr>
        <p:spPr>
          <a:xfrm>
            <a:off x="1234440" y="1481328"/>
            <a:ext cx="54864" cy="54864"/>
          </a:xfrm>
          <a:prstGeom prst="ellipse">
            <a:avLst/>
          </a:prstGeom>
          <a:solidFill>
            <a:srgbClr val="E2E8F0"/>
          </a:solidFill>
          <a:ln/>
        </p:spPr>
        <p:txBody>
          <a:bodyPr/>
          <a:p/>
        </p:txBody>
      </p:sp>
      <p:sp>
        <p:nvSpPr>
          <p:cNvPr id="5" name="Text 3"/>
          <p:cNvSpPr/>
          <p:nvPr/>
        </p:nvSpPr>
        <p:spPr>
          <a:xfrm>
            <a:off x="1463040" y="1280160"/>
            <a:ext cx="6949440" cy="457200"/>
          </a:xfrm>
          <a:prstGeom prst="rect">
            <a:avLst/>
          </a:prstGeom>
          <a:noFill/>
          <a:ln/>
        </p:spPr>
        <p:txBody>
          <a:bodyPr wrap="square" lIns="0" tIns="0" rIns="0" bIns="0" rtlCol="0" anchor="ctr"/>
          <a:lstStyle/>
          <a:p>
            <a:pPr indent="0" marL="0">
              <a:buNone/>
            </a:pPr>
            <a:r>
              <a:rPr lang="en-US" sz="1800" dirty="0">
                <a:solidFill>
                  <a:srgbClr val="4A5568"/>
                </a:solidFill>
                <a:latin typeface="Calibri Light" pitchFamily="34" charset="0"/>
                <a:ea typeface="Calibri Light" pitchFamily="34" charset="-122"/>
                <a:cs typeface="Calibri Light" pitchFamily="34" charset="-120"/>
              </a:rPr>
              <a:t>What is AI? — The landscape explained simply (15 min)</a:t>
            </a:r>
            <a:endParaRPr lang="en-US" sz="1800" dirty="0"/>
          </a:p>
        </p:txBody>
      </p:sp>
      <p:sp>
        <p:nvSpPr>
          <p:cNvPr id="6" name="Text 4"/>
          <p:cNvSpPr/>
          <p:nvPr/>
        </p:nvSpPr>
        <p:spPr>
          <a:xfrm>
            <a:off x="548640" y="1874520"/>
            <a:ext cx="640080" cy="457200"/>
          </a:xfrm>
          <a:prstGeom prst="rect">
            <a:avLst/>
          </a:prstGeom>
          <a:noFill/>
          <a:ln/>
        </p:spPr>
        <p:txBody>
          <a:bodyPr wrap="square" lIns="0" tIns="0" rIns="0" bIns="0" rtlCol="0" anchor="ctr"/>
          <a:lstStyle/>
          <a:p>
            <a:pPr indent="0" marL="0">
              <a:buNone/>
            </a:pPr>
            <a:r>
              <a:rPr lang="en-US" sz="2000" b="1" dirty="0">
                <a:solidFill>
                  <a:srgbClr val="0891B2"/>
                </a:solidFill>
                <a:latin typeface="Calibri" pitchFamily="34" charset="0"/>
                <a:ea typeface="Calibri" pitchFamily="34" charset="-122"/>
                <a:cs typeface="Calibri" pitchFamily="34" charset="-120"/>
              </a:rPr>
              <a:t>02</a:t>
            </a:r>
            <a:endParaRPr lang="en-US" sz="2000" dirty="0"/>
          </a:p>
        </p:txBody>
      </p:sp>
      <p:sp>
        <p:nvSpPr>
          <p:cNvPr id="7" name="Shape 5"/>
          <p:cNvSpPr/>
          <p:nvPr/>
        </p:nvSpPr>
        <p:spPr>
          <a:xfrm>
            <a:off x="1234440" y="2075688"/>
            <a:ext cx="54864" cy="54864"/>
          </a:xfrm>
          <a:prstGeom prst="ellipse">
            <a:avLst/>
          </a:prstGeom>
          <a:solidFill>
            <a:srgbClr val="E2E8F0"/>
          </a:solidFill>
          <a:ln/>
        </p:spPr>
        <p:txBody>
          <a:bodyPr/>
          <a:p/>
        </p:txBody>
      </p:sp>
      <p:sp>
        <p:nvSpPr>
          <p:cNvPr id="8" name="Text 6"/>
          <p:cNvSpPr/>
          <p:nvPr/>
        </p:nvSpPr>
        <p:spPr>
          <a:xfrm>
            <a:off x="1463040" y="1874520"/>
            <a:ext cx="6949440" cy="457200"/>
          </a:xfrm>
          <a:prstGeom prst="rect">
            <a:avLst/>
          </a:prstGeom>
          <a:noFill/>
          <a:ln/>
        </p:spPr>
        <p:txBody>
          <a:bodyPr wrap="square" lIns="0" tIns="0" rIns="0" bIns="0" rtlCol="0" anchor="ctr"/>
          <a:lstStyle/>
          <a:p>
            <a:pPr indent="0" marL="0">
              <a:buNone/>
            </a:pPr>
            <a:r>
              <a:rPr lang="en-US" sz="1800" dirty="0">
                <a:solidFill>
                  <a:srgbClr val="4A5568"/>
                </a:solidFill>
                <a:latin typeface="Calibri Light" pitchFamily="34" charset="0"/>
                <a:ea typeface="Calibri Light" pitchFamily="34" charset="-122"/>
                <a:cs typeface="Calibri Light" pitchFamily="34" charset="-120"/>
              </a:rPr>
              <a:t>AI Use Cases — From marketing &amp; content to your business (25 min)</a:t>
            </a:r>
            <a:endParaRPr lang="en-US" sz="1800" dirty="0"/>
          </a:p>
        </p:txBody>
      </p:sp>
      <p:sp>
        <p:nvSpPr>
          <p:cNvPr id="9" name="Text 7"/>
          <p:cNvSpPr/>
          <p:nvPr/>
        </p:nvSpPr>
        <p:spPr>
          <a:xfrm>
            <a:off x="548640" y="2468880"/>
            <a:ext cx="640080" cy="457200"/>
          </a:xfrm>
          <a:prstGeom prst="rect">
            <a:avLst/>
          </a:prstGeom>
          <a:noFill/>
          <a:ln/>
        </p:spPr>
        <p:txBody>
          <a:bodyPr wrap="square" lIns="0" tIns="0" rIns="0" bIns="0" rtlCol="0" anchor="ctr"/>
          <a:lstStyle/>
          <a:p>
            <a:pPr indent="0" marL="0">
              <a:buNone/>
            </a:pPr>
            <a:r>
              <a:rPr lang="en-US" sz="2000" b="1" dirty="0">
                <a:solidFill>
                  <a:srgbClr val="0891B2"/>
                </a:solidFill>
                <a:latin typeface="Calibri" pitchFamily="34" charset="0"/>
                <a:ea typeface="Calibri" pitchFamily="34" charset="-122"/>
                <a:cs typeface="Calibri" pitchFamily="34" charset="-120"/>
              </a:rPr>
              <a:t>03</a:t>
            </a:r>
            <a:endParaRPr lang="en-US" sz="2000" dirty="0"/>
          </a:p>
        </p:txBody>
      </p:sp>
      <p:sp>
        <p:nvSpPr>
          <p:cNvPr id="10" name="Shape 8"/>
          <p:cNvSpPr/>
          <p:nvPr/>
        </p:nvSpPr>
        <p:spPr>
          <a:xfrm>
            <a:off x="1234440" y="2670048"/>
            <a:ext cx="54864" cy="54864"/>
          </a:xfrm>
          <a:prstGeom prst="ellipse">
            <a:avLst/>
          </a:prstGeom>
          <a:solidFill>
            <a:srgbClr val="E2E8F0"/>
          </a:solidFill>
          <a:ln/>
        </p:spPr>
        <p:txBody>
          <a:bodyPr/>
          <a:p/>
        </p:txBody>
      </p:sp>
      <p:sp>
        <p:nvSpPr>
          <p:cNvPr id="11" name="Text 9"/>
          <p:cNvSpPr/>
          <p:nvPr/>
        </p:nvSpPr>
        <p:spPr>
          <a:xfrm>
            <a:off x="1463040" y="2468880"/>
            <a:ext cx="6949440" cy="457200"/>
          </a:xfrm>
          <a:prstGeom prst="rect">
            <a:avLst/>
          </a:prstGeom>
          <a:noFill/>
          <a:ln/>
        </p:spPr>
        <p:txBody>
          <a:bodyPr wrap="square" lIns="0" tIns="0" rIns="0" bIns="0" rtlCol="0" anchor="ctr"/>
          <a:lstStyle/>
          <a:p>
            <a:pPr indent="0" marL="0">
              <a:buNone/>
            </a:pPr>
            <a:r>
              <a:rPr lang="en-US" sz="1800" dirty="0">
                <a:solidFill>
                  <a:srgbClr val="4A5568"/>
                </a:solidFill>
                <a:latin typeface="Calibri Light" pitchFamily="34" charset="0"/>
                <a:ea typeface="Calibri Light" pitchFamily="34" charset="-122"/>
                <a:cs typeface="Calibri Light" pitchFamily="34" charset="-120"/>
              </a:rPr>
              <a:t>Prompt Engineering — Talking to AI effectively (30 min)</a:t>
            </a:r>
            <a:endParaRPr lang="en-US" sz="1800" dirty="0"/>
          </a:p>
        </p:txBody>
      </p:sp>
      <p:sp>
        <p:nvSpPr>
          <p:cNvPr id="12" name="Text 10"/>
          <p:cNvSpPr/>
          <p:nvPr/>
        </p:nvSpPr>
        <p:spPr>
          <a:xfrm>
            <a:off x="548640" y="3063240"/>
            <a:ext cx="640080" cy="457200"/>
          </a:xfrm>
          <a:prstGeom prst="rect">
            <a:avLst/>
          </a:prstGeom>
          <a:noFill/>
          <a:ln/>
        </p:spPr>
        <p:txBody>
          <a:bodyPr wrap="square" lIns="0" tIns="0" rIns="0" bIns="0" rtlCol="0" anchor="ctr"/>
          <a:lstStyle/>
          <a:p>
            <a:pPr indent="0" marL="0">
              <a:buNone/>
            </a:pPr>
            <a:r>
              <a:rPr lang="en-US" sz="2000" b="1" dirty="0">
                <a:solidFill>
                  <a:srgbClr val="0891B2"/>
                </a:solidFill>
                <a:latin typeface="Calibri" pitchFamily="34" charset="0"/>
                <a:ea typeface="Calibri" pitchFamily="34" charset="-122"/>
                <a:cs typeface="Calibri" pitchFamily="34" charset="-120"/>
              </a:rPr>
              <a:t>04</a:t>
            </a:r>
            <a:endParaRPr lang="en-US" sz="2000" dirty="0"/>
          </a:p>
        </p:txBody>
      </p:sp>
      <p:sp>
        <p:nvSpPr>
          <p:cNvPr id="13" name="Shape 11"/>
          <p:cNvSpPr/>
          <p:nvPr/>
        </p:nvSpPr>
        <p:spPr>
          <a:xfrm>
            <a:off x="1234440" y="3264408"/>
            <a:ext cx="54864" cy="54864"/>
          </a:xfrm>
          <a:prstGeom prst="ellipse">
            <a:avLst/>
          </a:prstGeom>
          <a:solidFill>
            <a:srgbClr val="E2E8F0"/>
          </a:solidFill>
          <a:ln/>
        </p:spPr>
        <p:txBody>
          <a:bodyPr/>
          <a:p/>
        </p:txBody>
      </p:sp>
      <p:sp>
        <p:nvSpPr>
          <p:cNvPr id="14" name="Text 12"/>
          <p:cNvSpPr/>
          <p:nvPr/>
        </p:nvSpPr>
        <p:spPr>
          <a:xfrm>
            <a:off x="1463040" y="3063240"/>
            <a:ext cx="6949440" cy="457200"/>
          </a:xfrm>
          <a:prstGeom prst="rect">
            <a:avLst/>
          </a:prstGeom>
          <a:noFill/>
          <a:ln/>
        </p:spPr>
        <p:txBody>
          <a:bodyPr wrap="square" lIns="0" tIns="0" rIns="0" bIns="0" rtlCol="0" anchor="ctr"/>
          <a:lstStyle/>
          <a:p>
            <a:pPr indent="0" marL="0">
              <a:buNone/>
            </a:pPr>
            <a:r>
              <a:rPr lang="en-US" sz="1800" dirty="0">
                <a:solidFill>
                  <a:srgbClr val="4A5568"/>
                </a:solidFill>
                <a:latin typeface="Calibri Light" pitchFamily="34" charset="0"/>
                <a:ea typeface="Calibri Light" pitchFamily="34" charset="-122"/>
                <a:cs typeface="Calibri Light" pitchFamily="34" charset="-120"/>
              </a:rPr>
              <a:t>Your Development Toolkit — Agents, Skills, and MCPs (25 min)</a:t>
            </a:r>
            <a:endParaRPr lang="en-US" sz="1800" dirty="0"/>
          </a:p>
        </p:txBody>
      </p:sp>
      <p:sp>
        <p:nvSpPr>
          <p:cNvPr id="15" name="Text 13"/>
          <p:cNvSpPr/>
          <p:nvPr/>
        </p:nvSpPr>
        <p:spPr>
          <a:xfrm>
            <a:off x="548640" y="3657600"/>
            <a:ext cx="640080" cy="457200"/>
          </a:xfrm>
          <a:prstGeom prst="rect">
            <a:avLst/>
          </a:prstGeom>
          <a:noFill/>
          <a:ln/>
        </p:spPr>
        <p:txBody>
          <a:bodyPr wrap="square" lIns="0" tIns="0" rIns="0" bIns="0" rtlCol="0" anchor="ctr"/>
          <a:lstStyle/>
          <a:p>
            <a:pPr indent="0" marL="0">
              <a:buNone/>
            </a:pPr>
            <a:r>
              <a:rPr lang="en-US" sz="2000" b="1" dirty="0">
                <a:solidFill>
                  <a:srgbClr val="0891B2"/>
                </a:solidFill>
                <a:latin typeface="Calibri" pitchFamily="34" charset="0"/>
                <a:ea typeface="Calibri" pitchFamily="34" charset="-122"/>
                <a:cs typeface="Calibri" pitchFamily="34" charset="-120"/>
              </a:rPr>
              <a:t>05</a:t>
            </a:r>
            <a:endParaRPr lang="en-US" sz="2000" dirty="0"/>
          </a:p>
        </p:txBody>
      </p:sp>
      <p:sp>
        <p:nvSpPr>
          <p:cNvPr id="16" name="Shape 14"/>
          <p:cNvSpPr/>
          <p:nvPr/>
        </p:nvSpPr>
        <p:spPr>
          <a:xfrm>
            <a:off x="1234440" y="3858768"/>
            <a:ext cx="54864" cy="54864"/>
          </a:xfrm>
          <a:prstGeom prst="ellipse">
            <a:avLst/>
          </a:prstGeom>
          <a:solidFill>
            <a:srgbClr val="E2E8F0"/>
          </a:solidFill>
          <a:ln/>
        </p:spPr>
        <p:txBody>
          <a:bodyPr/>
          <a:p/>
        </p:txBody>
      </p:sp>
      <p:sp>
        <p:nvSpPr>
          <p:cNvPr id="17" name="Text 15"/>
          <p:cNvSpPr/>
          <p:nvPr/>
        </p:nvSpPr>
        <p:spPr>
          <a:xfrm>
            <a:off x="1463040" y="3657600"/>
            <a:ext cx="6949440" cy="457200"/>
          </a:xfrm>
          <a:prstGeom prst="rect">
            <a:avLst/>
          </a:prstGeom>
          <a:noFill/>
          <a:ln/>
        </p:spPr>
        <p:txBody>
          <a:bodyPr wrap="square" lIns="0" tIns="0" rIns="0" bIns="0" rtlCol="0" anchor="ctr"/>
          <a:lstStyle/>
          <a:p>
            <a:pPr indent="0" marL="0">
              <a:buNone/>
            </a:pPr>
            <a:r>
              <a:rPr lang="en-US" sz="1800" dirty="0">
                <a:solidFill>
                  <a:srgbClr val="4A5568"/>
                </a:solidFill>
                <a:latin typeface="Calibri Light" pitchFamily="34" charset="0"/>
                <a:ea typeface="Calibri Light" pitchFamily="34" charset="-122"/>
                <a:cs typeface="Calibri Light" pitchFamily="34" charset="-120"/>
              </a:rPr>
              <a:t>Putting AI to Work — Live exercises with real tasks (30 min)</a:t>
            </a:r>
            <a:endParaRPr lang="en-US" sz="1800" dirty="0"/>
          </a:p>
        </p:txBody>
      </p:sp>
      <p:sp>
        <p:nvSpPr>
          <p:cNvPr id="18" name="Shape 16"/>
          <p:cNvSpPr/>
          <p:nvPr/>
        </p:nvSpPr>
        <p:spPr>
          <a:xfrm>
            <a:off x="548640" y="4732020"/>
            <a:ext cx="8046720" cy="0"/>
          </a:xfrm>
          <a:prstGeom prst="line">
            <a:avLst/>
          </a:prstGeom>
          <a:noFill/>
          <a:ln w="6350">
            <a:solidFill>
              <a:srgbClr val="E2E8F0"/>
            </a:solidFill>
            <a:prstDash val="solid"/>
          </a:ln>
        </p:spPr>
        <p:txBody>
          <a:bodyPr/>
          <a:p/>
        </p:txBody>
      </p:sp>
      <p:sp>
        <p:nvSpPr>
          <p:cNvPr id="19" name="Text 17"/>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20" name="Text 18"/>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77240" y="1188720"/>
            <a:ext cx="5486400" cy="320040"/>
          </a:xfrm>
          <a:prstGeom prst="rect">
            <a:avLst/>
          </a:prstGeom>
          <a:noFill/>
          <a:ln/>
        </p:spPr>
        <p:txBody>
          <a:bodyPr wrap="square" lIns="0" tIns="0" rIns="0" bIns="0" rtlCol="0" anchor="ctr"/>
          <a:lstStyle/>
          <a:p>
            <a:pPr indent="0" marL="0">
              <a:buNone/>
            </a:pPr>
            <a:r>
              <a:rPr lang="en-US" sz="1100" b="1" spc="400" kern="0" dirty="0">
                <a:solidFill>
                  <a:srgbClr val="0891B2"/>
                </a:solidFill>
                <a:latin typeface="Calibri" pitchFamily="34" charset="0"/>
                <a:ea typeface="Calibri" pitchFamily="34" charset="-122"/>
                <a:cs typeface="Calibri" pitchFamily="34" charset="-120"/>
              </a:rPr>
              <a:t>SECTION 01</a:t>
            </a:r>
            <a:endParaRPr lang="en-US" sz="1100" dirty="0"/>
          </a:p>
        </p:txBody>
      </p:sp>
      <p:sp>
        <p:nvSpPr>
          <p:cNvPr id="3" name="Shape 1"/>
          <p:cNvSpPr/>
          <p:nvPr/>
        </p:nvSpPr>
        <p:spPr>
          <a:xfrm>
            <a:off x="777240" y="1600200"/>
            <a:ext cx="731520" cy="36576"/>
          </a:xfrm>
          <a:prstGeom prst="rect">
            <a:avLst/>
          </a:prstGeom>
          <a:solidFill>
            <a:srgbClr val="0891B2"/>
          </a:solidFill>
          <a:ln/>
        </p:spPr>
        <p:txBody>
          <a:bodyPr/>
          <a:p/>
        </p:txBody>
      </p:sp>
      <p:sp>
        <p:nvSpPr>
          <p:cNvPr id="4" name="Text 2"/>
          <p:cNvSpPr/>
          <p:nvPr/>
        </p:nvSpPr>
        <p:spPr>
          <a:xfrm>
            <a:off x="777240" y="1783080"/>
            <a:ext cx="7315200" cy="9144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IS AI?</a:t>
            </a:r>
            <a:endParaRPr lang="en-US" sz="3000" dirty="0"/>
          </a:p>
        </p:txBody>
      </p:sp>
      <p:sp>
        <p:nvSpPr>
          <p:cNvPr id="5" name="Text 3"/>
          <p:cNvSpPr/>
          <p:nvPr/>
        </p:nvSpPr>
        <p:spPr>
          <a:xfrm>
            <a:off x="777240" y="2697480"/>
            <a:ext cx="6400800" cy="457200"/>
          </a:xfrm>
          <a:prstGeom prst="rect">
            <a:avLst/>
          </a:prstGeom>
          <a:noFill/>
          <a:ln/>
        </p:spPr>
        <p:txBody>
          <a:bodyPr wrap="square" lIns="0" tIns="0" rIns="0" bIns="0" rtlCol="0" anchor="ctr"/>
          <a:lstStyle/>
          <a:p>
            <a:pPr indent="0" marL="0">
              <a:buNone/>
            </a:pPr>
            <a:r>
              <a:rPr lang="en-US" sz="1800" dirty="0">
                <a:solidFill>
                  <a:srgbClr val="94A3B8"/>
                </a:solidFill>
                <a:latin typeface="Calibri Light" pitchFamily="34" charset="0"/>
                <a:ea typeface="Calibri Light" pitchFamily="34" charset="-122"/>
                <a:cs typeface="Calibri Light" pitchFamily="34" charset="-120"/>
              </a:rPr>
              <a:t>Understanding the landscape before we build</a:t>
            </a:r>
            <a:endParaRPr lang="en-US" sz="1800" dirty="0"/>
          </a:p>
        </p:txBody>
      </p:sp>
      <p:sp>
        <p:nvSpPr>
          <p:cNvPr id="6" name="Text 4"/>
          <p:cNvSpPr/>
          <p:nvPr/>
        </p:nvSpPr>
        <p:spPr>
          <a:xfrm>
            <a:off x="777240" y="4320540"/>
            <a:ext cx="3657600" cy="320040"/>
          </a:xfrm>
          <a:prstGeom prst="rect">
            <a:avLst/>
          </a:prstGeom>
          <a:noFill/>
          <a:ln/>
        </p:spPr>
        <p:txBody>
          <a:bodyPr wrap="square" lIns="0" tIns="0" rIns="0" bIns="0" rtlCol="0" anchor="ctr"/>
          <a:lstStyle/>
          <a:p>
            <a:pPr indent="0" marL="0">
              <a:buNone/>
            </a:pPr>
            <a:r>
              <a:rPr lang="en-US" sz="1400" dirty="0">
                <a:solidFill>
                  <a:srgbClr val="94A3B8"/>
                </a:solidFill>
                <a:latin typeface="Calibri Light" pitchFamily="34" charset="0"/>
                <a:ea typeface="Calibri Light" pitchFamily="34" charset="-122"/>
                <a:cs typeface="Calibri Light" pitchFamily="34" charset="-120"/>
              </a:rPr>
              <a:t>~20 minutes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What is Artificial Intelligence?</a:t>
            </a:r>
            <a:endParaRPr lang="en-US" sz="3200" dirty="0"/>
          </a:p>
        </p:txBody>
      </p:sp>
      <p:sp>
        <p:nvSpPr>
          <p:cNvPr id="3" name="Shape 1"/>
          <p:cNvSpPr/>
          <p:nvPr/>
        </p:nvSpPr>
        <p:spPr>
          <a:xfrm>
            <a:off x="548640" y="914400"/>
            <a:ext cx="548640" cy="36576"/>
          </a:xfrm>
          <a:prstGeom prst="rect">
            <a:avLst/>
          </a:prstGeom>
          <a:solidFill>
            <a:srgbClr val="0891B2"/>
          </a:solidFill>
          <a:ln/>
        </p:spPr>
        <p:txBody>
          <a:bodyPr/>
          <a:p/>
        </p:txBody>
      </p:sp>
      <p:sp>
        <p:nvSpPr>
          <p:cNvPr id="4" name="Text 2"/>
          <p:cNvSpPr/>
          <p:nvPr/>
        </p:nvSpPr>
        <p:spPr>
          <a:xfrm>
            <a:off x="548640" y="1143000"/>
            <a:ext cx="4667098" cy="777240"/>
          </a:xfrm>
          <a:prstGeom prst="rect">
            <a:avLst/>
          </a:prstGeom>
          <a:noFill/>
          <a:ln/>
        </p:spPr>
        <p:txBody>
          <a:bodyPr wrap="square" lIns="0" tIns="0" rIns="0" bIns="0" rtlCol="0" anchor="ctr">
            <a:normAutofit/>
          </a:bodyPr>
          <a:lstStyle/>
          <a:p>
            <a:pPr indent="0" marL="0">
              <a:lnSpc>
                <a:spcPct val="125000"/>
              </a:lnSpc>
              <a:buNone/>
            </a:pPr>
            <a:r>
              <a:rPr lang="en-US" sz="1400" dirty="0">
                <a:solidFill>
                  <a:srgbClr val="4A5568"/>
                </a:solidFill>
                <a:latin typeface="Calibri Light" pitchFamily="34" charset="0"/>
                <a:ea typeface="Calibri Light" pitchFamily="34" charset="-122"/>
                <a:cs typeface="Calibri Light" pitchFamily="34" charset="-120"/>
              </a:rPr>
              <a:t>AI is software that can learn patterns from data and make decisions or predictions without being explicitly programmed for every scenario. Think of it like teaching a computer to recognize patterns the way you learned to recognize faces as a child.</a:t>
            </a:r>
            <a:endParaRPr lang="en-US" sz="1400" dirty="0"/>
          </a:p>
        </p:txBody>
      </p:sp>
      <p:sp>
        <p:nvSpPr>
          <p:cNvPr id="5" name="Text 3"/>
          <p:cNvSpPr/>
          <p:nvPr/>
        </p:nvSpPr>
        <p:spPr>
          <a:xfrm>
            <a:off x="548640" y="2286000"/>
            <a:ext cx="4667098" cy="19659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It learns from examples, not hard-coded rules</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It can process and generate text, images, code, and more</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It gets better the more data and feedback it receives</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It's a tool — powerful when directed well, useless without clear instructions</a:t>
            </a:r>
            <a:endParaRPr lang="en-US" sz="1400" dirty="0"/>
          </a:p>
        </p:txBody>
      </p:sp>
      <p:sp>
        <p:nvSpPr>
          <p:cNvPr id="6" name="Shape 4"/>
          <p:cNvSpPr/>
          <p:nvPr/>
        </p:nvSpPr>
        <p:spPr>
          <a:xfrm>
            <a:off x="5672938" y="1143000"/>
            <a:ext cx="2922422" cy="2926080"/>
          </a:xfrm>
          <a:prstGeom prst="roundedRectangle">
            <a:avLst>
              <a:gd name="adj" fmla="val 250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7" name="Image 0" descr="preencoded.png">    </p:cNvPr>
          <p:cNvPicPr>
            <a:picLocks noChangeAspect="1"/>
          </p:cNvPicPr>
          <p:nvPr/>
        </p:nvPicPr>
        <p:blipFill>
          <a:blip r:embed="rId1"/>
          <a:stretch>
            <a:fillRect/>
          </a:stretch>
        </p:blipFill>
        <p:spPr>
          <a:xfrm>
            <a:off x="6676949" y="2148840"/>
            <a:ext cx="914400" cy="914400"/>
          </a:xfrm>
          <a:prstGeom prst="rect">
            <a:avLst/>
          </a:prstGeom>
        </p:spPr>
      </p:pic>
      <p:sp>
        <p:nvSpPr>
          <p:cNvPr id="8" name="Shape 5"/>
          <p:cNvSpPr/>
          <p:nvPr/>
        </p:nvSpPr>
        <p:spPr>
          <a:xfrm>
            <a:off x="548640" y="4732020"/>
            <a:ext cx="8046720" cy="0"/>
          </a:xfrm>
          <a:prstGeom prst="line">
            <a:avLst/>
          </a:prstGeom>
          <a:noFill/>
          <a:ln w="6350">
            <a:solidFill>
              <a:srgbClr val="E2E8F0"/>
            </a:solidFill>
            <a:prstDash val="solid"/>
          </a:ln>
        </p:spPr>
        <p:txBody>
          <a:bodyPr/>
          <a:p/>
        </p:txBody>
      </p:sp>
      <p:sp>
        <p:nvSpPr>
          <p:cNvPr id="9" name="Text 6"/>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0" name="Text 7"/>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Types of AI You'll Encounter</a:t>
            </a:r>
            <a:endParaRPr lang="en-US" sz="3200" dirty="0"/>
          </a:p>
        </p:txBody>
      </p:sp>
      <p:sp>
        <p:nvSpPr>
          <p:cNvPr id="3" name="Shape 1"/>
          <p:cNvSpPr/>
          <p:nvPr/>
        </p:nvSpPr>
        <p:spPr>
          <a:xfrm>
            <a:off x="54864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4" name="Image 0" descr="preencoded.png">    </p:cNvPr>
          <p:cNvPicPr>
            <a:picLocks noChangeAspect="1"/>
          </p:cNvPicPr>
          <p:nvPr/>
        </p:nvPicPr>
        <p:blipFill>
          <a:blip r:embed="rId1"/>
          <a:stretch>
            <a:fillRect/>
          </a:stretch>
        </p:blipFill>
        <p:spPr>
          <a:xfrm>
            <a:off x="1554480" y="1463040"/>
            <a:ext cx="457200" cy="457200"/>
          </a:xfrm>
          <a:prstGeom prst="rect">
            <a:avLst/>
          </a:prstGeom>
        </p:spPr>
      </p:pic>
      <p:sp>
        <p:nvSpPr>
          <p:cNvPr id="5" name="Text 2"/>
          <p:cNvSpPr/>
          <p:nvPr/>
        </p:nvSpPr>
        <p:spPr>
          <a:xfrm>
            <a:off x="82296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Chatbots (LLMs)</a:t>
            </a:r>
            <a:endParaRPr lang="en-US" sz="1600" dirty="0"/>
          </a:p>
        </p:txBody>
      </p:sp>
      <p:sp>
        <p:nvSpPr>
          <p:cNvPr id="6" name="Text 3"/>
          <p:cNvSpPr/>
          <p:nvPr/>
        </p:nvSpPr>
        <p:spPr>
          <a:xfrm>
            <a:off x="82296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ChatGPT, Claude, Gemini — they answer questions and generate text. Think of them as extremely knowledgeable conversation partners.</a:t>
            </a:r>
            <a:endParaRPr lang="en-US" sz="1200" dirty="0"/>
          </a:p>
        </p:txBody>
      </p:sp>
      <p:sp>
        <p:nvSpPr>
          <p:cNvPr id="7" name="Shape 4"/>
          <p:cNvSpPr/>
          <p:nvPr/>
        </p:nvSpPr>
        <p:spPr>
          <a:xfrm>
            <a:off x="333756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8" name="Image 1" descr="preencoded.png">    </p:cNvPr>
          <p:cNvPicPr>
            <a:picLocks noChangeAspect="1"/>
          </p:cNvPicPr>
          <p:nvPr/>
        </p:nvPicPr>
        <p:blipFill>
          <a:blip r:embed="rId2"/>
          <a:stretch>
            <a:fillRect/>
          </a:stretch>
        </p:blipFill>
        <p:spPr>
          <a:xfrm>
            <a:off x="4343400" y="1463040"/>
            <a:ext cx="457200" cy="457200"/>
          </a:xfrm>
          <a:prstGeom prst="rect">
            <a:avLst/>
          </a:prstGeom>
        </p:spPr>
      </p:pic>
      <p:sp>
        <p:nvSpPr>
          <p:cNvPr id="9" name="Text 5"/>
          <p:cNvSpPr/>
          <p:nvPr/>
        </p:nvSpPr>
        <p:spPr>
          <a:xfrm>
            <a:off x="361188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AI Agents</a:t>
            </a:r>
            <a:endParaRPr lang="en-US" sz="1600" dirty="0"/>
          </a:p>
        </p:txBody>
      </p:sp>
      <p:sp>
        <p:nvSpPr>
          <p:cNvPr id="10" name="Text 6"/>
          <p:cNvSpPr/>
          <p:nvPr/>
        </p:nvSpPr>
        <p:spPr>
          <a:xfrm>
            <a:off x="361188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LLMs that can take action — write code, browse the web, call APIs, manage files. They don't just answer, they do.</a:t>
            </a:r>
            <a:endParaRPr lang="en-US" sz="1200" dirty="0"/>
          </a:p>
        </p:txBody>
      </p:sp>
      <p:sp>
        <p:nvSpPr>
          <p:cNvPr id="11" name="Shape 7"/>
          <p:cNvSpPr/>
          <p:nvPr/>
        </p:nvSpPr>
        <p:spPr>
          <a:xfrm>
            <a:off x="612648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12" name="Image 2" descr="preencoded.png">    </p:cNvPr>
          <p:cNvPicPr>
            <a:picLocks noChangeAspect="1"/>
          </p:cNvPicPr>
          <p:nvPr/>
        </p:nvPicPr>
        <p:blipFill>
          <a:blip r:embed="rId3"/>
          <a:stretch>
            <a:fillRect/>
          </a:stretch>
        </p:blipFill>
        <p:spPr>
          <a:xfrm>
            <a:off x="7132320" y="1463040"/>
            <a:ext cx="457200" cy="457200"/>
          </a:xfrm>
          <a:prstGeom prst="rect">
            <a:avLst/>
          </a:prstGeom>
        </p:spPr>
      </p:pic>
      <p:sp>
        <p:nvSpPr>
          <p:cNvPr id="13" name="Text 8"/>
          <p:cNvSpPr/>
          <p:nvPr/>
        </p:nvSpPr>
        <p:spPr>
          <a:xfrm>
            <a:off x="640080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AI Automations</a:t>
            </a:r>
            <a:endParaRPr lang="en-US" sz="1600" dirty="0"/>
          </a:p>
        </p:txBody>
      </p:sp>
      <p:sp>
        <p:nvSpPr>
          <p:cNvPr id="14" name="Text 9"/>
          <p:cNvSpPr/>
          <p:nvPr/>
        </p:nvSpPr>
        <p:spPr>
          <a:xfrm>
            <a:off x="640080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Workflows that chain AI with other tools — automatically processing emails, generating reports, updating databases.</a:t>
            </a:r>
            <a:endParaRPr lang="en-US" sz="1200" dirty="0"/>
          </a:p>
        </p:txBody>
      </p:sp>
      <p:sp>
        <p:nvSpPr>
          <p:cNvPr id="15" name="Shape 10"/>
          <p:cNvSpPr/>
          <p:nvPr/>
        </p:nvSpPr>
        <p:spPr>
          <a:xfrm>
            <a:off x="548640" y="4732020"/>
            <a:ext cx="8046720" cy="0"/>
          </a:xfrm>
          <a:prstGeom prst="line">
            <a:avLst/>
          </a:prstGeom>
          <a:noFill/>
          <a:ln w="6350">
            <a:solidFill>
              <a:srgbClr val="E2E8F0"/>
            </a:solidFill>
            <a:prstDash val="solid"/>
          </a:ln>
        </p:spPr>
        <p:txBody>
          <a:bodyPr/>
          <a:p/>
        </p:txBody>
      </p:sp>
      <p:sp>
        <p:nvSpPr>
          <p:cNvPr id="16" name="Text 11"/>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7" name="Text 12"/>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Chatbot vs. Agent — The Key Difference</a:t>
            </a:r>
            <a:endParaRPr lang="en-US" sz="3200" dirty="0"/>
          </a:p>
        </p:txBody>
      </p:sp>
      <p:sp>
        <p:nvSpPr>
          <p:cNvPr id="3" name="Shape 1"/>
          <p:cNvSpPr/>
          <p:nvPr/>
        </p:nvSpPr>
        <p:spPr>
          <a:xfrm>
            <a:off x="548640" y="1143000"/>
            <a:ext cx="3863340" cy="3108960"/>
          </a:xfrm>
          <a:prstGeom prst="roundedRectangle">
            <a:avLst>
              <a:gd name="adj" fmla="val 2353"/>
            </a:avLst>
          </a:prstGeom>
          <a:solidFill>
            <a:srgbClr val="FEF2F2"/>
          </a:solidFill>
          <a:ln/>
        </p:spPr>
        <p:txBody>
          <a:bodyPr/>
          <a:p/>
        </p:txBody>
      </p:sp>
      <p:sp>
        <p:nvSpPr>
          <p:cNvPr id="4" name="Text 2"/>
          <p:cNvSpPr/>
          <p:nvPr/>
        </p:nvSpPr>
        <p:spPr>
          <a:xfrm>
            <a:off x="822960" y="1252728"/>
            <a:ext cx="3314700" cy="274320"/>
          </a:xfrm>
          <a:prstGeom prst="rect">
            <a:avLst/>
          </a:prstGeom>
          <a:noFill/>
          <a:ln/>
        </p:spPr>
        <p:txBody>
          <a:bodyPr wrap="square" lIns="0" tIns="0" rIns="0" bIns="0" rtlCol="0" anchor="ctr"/>
          <a:lstStyle/>
          <a:p>
            <a:pPr indent="0" marL="0">
              <a:buNone/>
            </a:pPr>
            <a:r>
              <a:rPr lang="en-US" sz="1200" b="1" spc="200" kern="0" dirty="0">
                <a:solidFill>
                  <a:srgbClr val="EF4444"/>
                </a:solidFill>
                <a:latin typeface="Calibri" pitchFamily="34" charset="0"/>
                <a:ea typeface="Calibri" pitchFamily="34" charset="-122"/>
                <a:cs typeface="Calibri" pitchFamily="34" charset="-120"/>
              </a:rPr>
              <a:t>CHATBOT</a:t>
            </a:r>
            <a:endParaRPr lang="en-US" sz="1200" dirty="0"/>
          </a:p>
        </p:txBody>
      </p:sp>
      <p:sp>
        <p:nvSpPr>
          <p:cNvPr id="5" name="Text 3"/>
          <p:cNvSpPr/>
          <p:nvPr/>
        </p:nvSpPr>
        <p:spPr>
          <a:xfrm>
            <a:off x="822960" y="1600200"/>
            <a:ext cx="3314700" cy="25146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Answers your questions</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Generates text on request</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Stays inside the chat window</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You copy/paste the output</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One conversation at a time</a:t>
            </a:r>
            <a:endParaRPr lang="en-US" sz="1200" dirty="0"/>
          </a:p>
        </p:txBody>
      </p:sp>
      <p:sp>
        <p:nvSpPr>
          <p:cNvPr id="6" name="Shape 4"/>
          <p:cNvSpPr/>
          <p:nvPr/>
        </p:nvSpPr>
        <p:spPr>
          <a:xfrm>
            <a:off x="4732020" y="1143000"/>
            <a:ext cx="3863340" cy="3108960"/>
          </a:xfrm>
          <a:prstGeom prst="roundedRectangle">
            <a:avLst>
              <a:gd name="adj" fmla="val 2353"/>
            </a:avLst>
          </a:prstGeom>
          <a:solidFill>
            <a:srgbClr val="ECFDF5"/>
          </a:solidFill>
          <a:ln/>
        </p:spPr>
        <p:txBody>
          <a:bodyPr/>
          <a:p/>
        </p:txBody>
      </p:sp>
      <p:sp>
        <p:nvSpPr>
          <p:cNvPr id="7" name="Text 5"/>
          <p:cNvSpPr/>
          <p:nvPr/>
        </p:nvSpPr>
        <p:spPr>
          <a:xfrm>
            <a:off x="5006340" y="1252728"/>
            <a:ext cx="3314700" cy="274320"/>
          </a:xfrm>
          <a:prstGeom prst="rect">
            <a:avLst/>
          </a:prstGeom>
          <a:noFill/>
          <a:ln/>
        </p:spPr>
        <p:txBody>
          <a:bodyPr wrap="square" lIns="0" tIns="0" rIns="0" bIns="0" rtlCol="0" anchor="ctr"/>
          <a:lstStyle/>
          <a:p>
            <a:pPr indent="0" marL="0">
              <a:buNone/>
            </a:pPr>
            <a:r>
              <a:rPr lang="en-US" sz="1200" b="1" spc="200" kern="0" dirty="0">
                <a:solidFill>
                  <a:srgbClr val="10B981"/>
                </a:solidFill>
                <a:latin typeface="Calibri" pitchFamily="34" charset="0"/>
                <a:ea typeface="Calibri" pitchFamily="34" charset="-122"/>
                <a:cs typeface="Calibri" pitchFamily="34" charset="-120"/>
              </a:rPr>
              <a:t>AI AGENT</a:t>
            </a:r>
            <a:endParaRPr lang="en-US" sz="1200" dirty="0"/>
          </a:p>
        </p:txBody>
      </p:sp>
      <p:sp>
        <p:nvSpPr>
          <p:cNvPr id="8" name="Text 6"/>
          <p:cNvSpPr/>
          <p:nvPr/>
        </p:nvSpPr>
        <p:spPr>
          <a:xfrm>
            <a:off x="5006340" y="1600200"/>
            <a:ext cx="3314700" cy="25146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Answers AND takes action</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Writes, tests, and deploys code</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Connects to databases, APIs, files</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Executes multi-step workflows</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Can run autonomously for hours</a:t>
            </a:r>
            <a:endParaRPr lang="en-US" sz="1200" dirty="0"/>
          </a:p>
        </p:txBody>
      </p:sp>
      <p:sp>
        <p:nvSpPr>
          <p:cNvPr id="9" name="Shape 7"/>
          <p:cNvSpPr/>
          <p:nvPr/>
        </p:nvSpPr>
        <p:spPr>
          <a:xfrm>
            <a:off x="548640" y="4732020"/>
            <a:ext cx="8046720" cy="0"/>
          </a:xfrm>
          <a:prstGeom prst="line">
            <a:avLst/>
          </a:prstGeom>
          <a:noFill/>
          <a:ln w="6350">
            <a:solidFill>
              <a:srgbClr val="E2E8F0"/>
            </a:solidFill>
            <a:prstDash val="solid"/>
          </a:ln>
        </p:spPr>
        <p:txBody>
          <a:bodyPr/>
          <a:p/>
        </p:txBody>
      </p:sp>
      <p:sp>
        <p:nvSpPr>
          <p:cNvPr id="10" name="Text 8"/>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1" name="Text 9"/>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4</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AFB"/>
          </a:solidFill>
          <a:ln/>
        </p:spPr>
        <p:txBody>
          <a:bodyPr/>
          <a:p/>
        </p:txBody>
      </p:sp>
      <p:sp>
        <p:nvSpPr>
          <p:cNvPr id="3" name="Shape 1"/>
          <p:cNvSpPr/>
          <p:nvPr/>
        </p:nvSpPr>
        <p:spPr>
          <a:xfrm>
            <a:off x="1371600" y="731520"/>
            <a:ext cx="6400800" cy="3474720"/>
          </a:xfrm>
          <a:prstGeom prst="roundedRectangle">
            <a:avLst>
              <a:gd name="adj" fmla="val 3158"/>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4" name="Image 0" descr="preencoded.png">    </p:cNvPr>
          <p:cNvPicPr>
            <a:picLocks noChangeAspect="1"/>
          </p:cNvPicPr>
          <p:nvPr/>
        </p:nvPicPr>
        <p:blipFill>
          <a:blip r:embed="rId1"/>
          <a:stretch>
            <a:fillRect/>
          </a:stretch>
        </p:blipFill>
        <p:spPr>
          <a:xfrm>
            <a:off x="4251960" y="1005840"/>
            <a:ext cx="640080" cy="640080"/>
          </a:xfrm>
          <a:prstGeom prst="rect">
            <a:avLst/>
          </a:prstGeom>
        </p:spPr>
      </p:pic>
      <p:sp>
        <p:nvSpPr>
          <p:cNvPr id="5" name="Text 2"/>
          <p:cNvSpPr/>
          <p:nvPr/>
        </p:nvSpPr>
        <p:spPr>
          <a:xfrm>
            <a:off x="1371600" y="1463040"/>
            <a:ext cx="6400800" cy="822960"/>
          </a:xfrm>
          <a:prstGeom prst="rect">
            <a:avLst/>
          </a:prstGeom>
          <a:noFill/>
          <a:ln/>
        </p:spPr>
        <p:txBody>
          <a:bodyPr wrap="square" lIns="0" tIns="0" rIns="0" bIns="0" rtlCol="0" anchor="ctr"/>
          <a:lstStyle/>
          <a:p>
            <a:pPr algn="ctr" indent="0" marL="0">
              <a:buNone/>
            </a:pPr>
            <a:r>
              <a:rPr lang="en-US" sz="5600" b="1" dirty="0">
                <a:solidFill>
                  <a:srgbClr val="0891B2"/>
                </a:solidFill>
                <a:latin typeface="Calibri" pitchFamily="34" charset="0"/>
                <a:ea typeface="Calibri" pitchFamily="34" charset="-122"/>
                <a:cs typeface="Calibri" pitchFamily="34" charset="-120"/>
              </a:rPr>
              <a:t>10-30x</a:t>
            </a:r>
            <a:endParaRPr lang="en-US" sz="5600" dirty="0"/>
          </a:p>
        </p:txBody>
      </p:sp>
      <p:sp>
        <p:nvSpPr>
          <p:cNvPr id="6" name="Text 3"/>
          <p:cNvSpPr/>
          <p:nvPr/>
        </p:nvSpPr>
        <p:spPr>
          <a:xfrm>
            <a:off x="1371600" y="2331720"/>
            <a:ext cx="6400800" cy="411480"/>
          </a:xfrm>
          <a:prstGeom prst="rect">
            <a:avLst/>
          </a:prstGeom>
          <a:noFill/>
          <a:ln/>
        </p:spPr>
        <p:txBody>
          <a:bodyPr wrap="square" lIns="0" tIns="0" rIns="0" bIns="0" rtlCol="0" anchor="ctr"/>
          <a:lstStyle/>
          <a:p>
            <a:pPr algn="ctr" indent="0" marL="0">
              <a:buNone/>
            </a:pPr>
            <a:r>
              <a:rPr lang="en-US" sz="2400" b="1" dirty="0">
                <a:solidFill>
                  <a:srgbClr val="1A1A2E"/>
                </a:solidFill>
                <a:latin typeface="Calibri" pitchFamily="34" charset="0"/>
                <a:ea typeface="Calibri" pitchFamily="34" charset="-122"/>
                <a:cs typeface="Calibri" pitchFamily="34" charset="-120"/>
              </a:rPr>
              <a:t>Productivity Multiplier</a:t>
            </a:r>
            <a:endParaRPr lang="en-US" sz="2400" dirty="0"/>
          </a:p>
        </p:txBody>
      </p:sp>
      <p:sp>
        <p:nvSpPr>
          <p:cNvPr id="7" name="Text 4"/>
          <p:cNvSpPr/>
          <p:nvPr/>
        </p:nvSpPr>
        <p:spPr>
          <a:xfrm>
            <a:off x="1828800" y="2880360"/>
            <a:ext cx="5486400" cy="640080"/>
          </a:xfrm>
          <a:prstGeom prst="rect">
            <a:avLst/>
          </a:prstGeom>
          <a:noFill/>
          <a:ln/>
        </p:spPr>
        <p:txBody>
          <a:bodyPr wrap="square" lIns="0" tIns="0" rIns="0" bIns="0" rtlCol="0" anchor="ctr"/>
          <a:lstStyle/>
          <a:p>
            <a:pPr algn="ctr" indent="0" marL="0">
              <a:lnSpc>
                <a:spcPct val="120000"/>
              </a:lnSpc>
              <a:buNone/>
            </a:pPr>
            <a:r>
              <a:rPr lang="en-US" sz="1400" dirty="0">
                <a:solidFill>
                  <a:srgbClr val="4A5568"/>
                </a:solidFill>
                <a:latin typeface="Calibri Light" pitchFamily="34" charset="0"/>
                <a:ea typeface="Calibri Light" pitchFamily="34" charset="-122"/>
                <a:cs typeface="Calibri Light" pitchFamily="34" charset="-120"/>
              </a:rPr>
              <a:t>Agentic Engineering combines AI agents with enterprise-grade techniques.</a:t>
            </a:r>
            <a:endParaRPr lang="en-US" sz="1400" dirty="0"/>
          </a:p>
          <a:p>
            <a:pPr algn="ctr" indent="0" marL="0">
              <a:lnSpc>
                <a:spcPct val="120000"/>
              </a:lnSpc>
              <a:buNone/>
            </a:pPr>
            <a:r>
              <a:rPr lang="en-US" sz="1400" dirty="0">
                <a:solidFill>
                  <a:srgbClr val="4A5568"/>
                </a:solidFill>
                <a:latin typeface="Calibri Light" pitchFamily="34" charset="0"/>
                <a:ea typeface="Calibri Light" pitchFamily="34" charset="-122"/>
                <a:cs typeface="Calibri Light" pitchFamily="34" charset="-120"/>
              </a:rPr>
              <a:t>This isn't vibe coding. This is systematic software building with AI as your partner.</a:t>
            </a:r>
            <a:endParaRPr lang="en-US" sz="1400" dirty="0"/>
          </a:p>
        </p:txBody>
      </p:sp>
      <p:sp>
        <p:nvSpPr>
          <p:cNvPr id="8" name="Shape 5"/>
          <p:cNvSpPr/>
          <p:nvPr/>
        </p:nvSpPr>
        <p:spPr>
          <a:xfrm>
            <a:off x="548640" y="4732020"/>
            <a:ext cx="8046720" cy="0"/>
          </a:xfrm>
          <a:prstGeom prst="line">
            <a:avLst/>
          </a:prstGeom>
          <a:noFill/>
          <a:ln w="6350">
            <a:solidFill>
              <a:srgbClr val="E2E8F0"/>
            </a:solidFill>
            <a:prstDash val="solid"/>
          </a:ln>
        </p:spPr>
        <p:txBody>
          <a:bodyPr/>
          <a:p/>
        </p:txBody>
      </p:sp>
      <p:sp>
        <p:nvSpPr>
          <p:cNvPr id="9" name="Text 6"/>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0" name="Text 7"/>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The AI Model Landscape</a:t>
            </a:r>
            <a:endParaRPr lang="en-US" sz="3200" dirty="0"/>
          </a:p>
        </p:txBody>
      </p:sp>
      <p:sp>
        <p:nvSpPr>
          <p:cNvPr id="3" name="Shape 1"/>
          <p:cNvSpPr/>
          <p:nvPr/>
        </p:nvSpPr>
        <p:spPr>
          <a:xfrm>
            <a:off x="548640" y="10515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4" name="Shape 2"/>
          <p:cNvSpPr/>
          <p:nvPr/>
        </p:nvSpPr>
        <p:spPr>
          <a:xfrm>
            <a:off x="548640" y="1051560"/>
            <a:ext cx="45720" cy="1600200"/>
          </a:xfrm>
          <a:prstGeom prst="rect">
            <a:avLst/>
          </a:prstGeom>
          <a:solidFill>
            <a:srgbClr val="0891B2"/>
          </a:solidFill>
          <a:ln/>
        </p:spPr>
        <p:txBody>
          <a:bodyPr/>
          <a:p/>
        </p:txBody>
      </p:sp>
      <p:pic>
        <p:nvPicPr>
          <p:cNvPr id="5" name="Image 0" descr="preencoded.png">    </p:cNvPr>
          <p:cNvPicPr>
            <a:picLocks noChangeAspect="1"/>
          </p:cNvPicPr>
          <p:nvPr/>
        </p:nvPicPr>
        <p:blipFill>
          <a:blip r:embed="rId1"/>
          <a:stretch>
            <a:fillRect/>
          </a:stretch>
        </p:blipFill>
        <p:spPr>
          <a:xfrm>
            <a:off x="777240" y="1234440"/>
            <a:ext cx="365760" cy="365760"/>
          </a:xfrm>
          <a:prstGeom prst="rect">
            <a:avLst/>
          </a:prstGeom>
        </p:spPr>
      </p:pic>
      <p:sp>
        <p:nvSpPr>
          <p:cNvPr id="6" name="Text 3"/>
          <p:cNvSpPr/>
          <p:nvPr/>
        </p:nvSpPr>
        <p:spPr>
          <a:xfrm>
            <a:off x="1280160" y="11887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ChatGPT / GPT Models</a:t>
            </a:r>
            <a:endParaRPr lang="en-US" sz="1400" dirty="0"/>
          </a:p>
        </p:txBody>
      </p:sp>
      <p:sp>
        <p:nvSpPr>
          <p:cNvPr id="7" name="Text 4"/>
          <p:cNvSpPr/>
          <p:nvPr/>
        </p:nvSpPr>
        <p:spPr>
          <a:xfrm>
            <a:off x="777240" y="16916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OpenAI's models. Great for planning, broad reasoning. GPT-5.2 has best-in-class context retention. Use for PRD generation and architecture.</a:t>
            </a:r>
            <a:endParaRPr lang="en-US" sz="1200" dirty="0"/>
          </a:p>
        </p:txBody>
      </p:sp>
      <p:sp>
        <p:nvSpPr>
          <p:cNvPr id="8" name="Shape 5"/>
          <p:cNvSpPr/>
          <p:nvPr/>
        </p:nvSpPr>
        <p:spPr>
          <a:xfrm>
            <a:off x="4686300" y="10515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9" name="Shape 6"/>
          <p:cNvSpPr/>
          <p:nvPr/>
        </p:nvSpPr>
        <p:spPr>
          <a:xfrm>
            <a:off x="4686300" y="1051560"/>
            <a:ext cx="45720" cy="1600200"/>
          </a:xfrm>
          <a:prstGeom prst="rect">
            <a:avLst/>
          </a:prstGeom>
          <a:solidFill>
            <a:srgbClr val="0891B2"/>
          </a:solidFill>
          <a:ln/>
        </p:spPr>
        <p:txBody>
          <a:bodyPr/>
          <a:p/>
        </p:txBody>
      </p:sp>
      <p:pic>
        <p:nvPicPr>
          <p:cNvPr id="10" name="Image 1" descr="preencoded.png">    </p:cNvPr>
          <p:cNvPicPr>
            <a:picLocks noChangeAspect="1"/>
          </p:cNvPicPr>
          <p:nvPr/>
        </p:nvPicPr>
        <p:blipFill>
          <a:blip r:embed="rId2"/>
          <a:stretch>
            <a:fillRect/>
          </a:stretch>
        </p:blipFill>
        <p:spPr>
          <a:xfrm>
            <a:off x="4914900" y="1234440"/>
            <a:ext cx="365760" cy="365760"/>
          </a:xfrm>
          <a:prstGeom prst="rect">
            <a:avLst/>
          </a:prstGeom>
        </p:spPr>
      </p:pic>
      <p:sp>
        <p:nvSpPr>
          <p:cNvPr id="11" name="Text 7"/>
          <p:cNvSpPr/>
          <p:nvPr/>
        </p:nvSpPr>
        <p:spPr>
          <a:xfrm>
            <a:off x="5417820" y="11887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Claude / Anthropic</a:t>
            </a:r>
            <a:endParaRPr lang="en-US" sz="1400" dirty="0"/>
          </a:p>
        </p:txBody>
      </p:sp>
      <p:sp>
        <p:nvSpPr>
          <p:cNvPr id="12" name="Text 8"/>
          <p:cNvSpPr/>
          <p:nvPr/>
        </p:nvSpPr>
        <p:spPr>
          <a:xfrm>
            <a:off x="4914900" y="16916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Best for code generation and nuanced reasoning. Claude Code is a terminal-based agent. Excellent for implementation and code review.</a:t>
            </a:r>
            <a:endParaRPr lang="en-US" sz="1200" dirty="0"/>
          </a:p>
        </p:txBody>
      </p:sp>
      <p:sp>
        <p:nvSpPr>
          <p:cNvPr id="13" name="Shape 9"/>
          <p:cNvSpPr/>
          <p:nvPr/>
        </p:nvSpPr>
        <p:spPr>
          <a:xfrm>
            <a:off x="548640" y="28803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4" name="Shape 10"/>
          <p:cNvSpPr/>
          <p:nvPr/>
        </p:nvSpPr>
        <p:spPr>
          <a:xfrm>
            <a:off x="548640" y="2880360"/>
            <a:ext cx="45720" cy="1600200"/>
          </a:xfrm>
          <a:prstGeom prst="rect">
            <a:avLst/>
          </a:prstGeom>
          <a:solidFill>
            <a:srgbClr val="0891B2"/>
          </a:solidFill>
          <a:ln/>
        </p:spPr>
        <p:txBody>
          <a:bodyPr/>
          <a:p/>
        </p:txBody>
      </p:sp>
      <p:pic>
        <p:nvPicPr>
          <p:cNvPr id="15" name="Image 2" descr="preencoded.png">    </p:cNvPr>
          <p:cNvPicPr>
            <a:picLocks noChangeAspect="1"/>
          </p:cNvPicPr>
          <p:nvPr/>
        </p:nvPicPr>
        <p:blipFill>
          <a:blip r:embed="rId3"/>
          <a:stretch>
            <a:fillRect/>
          </a:stretch>
        </p:blipFill>
        <p:spPr>
          <a:xfrm>
            <a:off x="777240" y="3063240"/>
            <a:ext cx="365760" cy="365760"/>
          </a:xfrm>
          <a:prstGeom prst="rect">
            <a:avLst/>
          </a:prstGeom>
        </p:spPr>
      </p:pic>
      <p:sp>
        <p:nvSpPr>
          <p:cNvPr id="16" name="Text 11"/>
          <p:cNvSpPr/>
          <p:nvPr/>
        </p:nvSpPr>
        <p:spPr>
          <a:xfrm>
            <a:off x="1280160" y="30175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Gemini / Google</a:t>
            </a:r>
            <a:endParaRPr lang="en-US" sz="1400" dirty="0"/>
          </a:p>
        </p:txBody>
      </p:sp>
      <p:sp>
        <p:nvSpPr>
          <p:cNvPr id="17" name="Text 12"/>
          <p:cNvSpPr/>
          <p:nvPr/>
        </p:nvSpPr>
        <p:spPr>
          <a:xfrm>
            <a:off x="777240" y="35204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Strong at multi-modal tasks and research. Good for analyzing documents, images, and complex data processing tasks.</a:t>
            </a:r>
            <a:endParaRPr lang="en-US" sz="1200" dirty="0"/>
          </a:p>
        </p:txBody>
      </p:sp>
      <p:sp>
        <p:nvSpPr>
          <p:cNvPr id="18" name="Shape 13"/>
          <p:cNvSpPr/>
          <p:nvPr/>
        </p:nvSpPr>
        <p:spPr>
          <a:xfrm>
            <a:off x="4686300" y="28803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9" name="Shape 14"/>
          <p:cNvSpPr/>
          <p:nvPr/>
        </p:nvSpPr>
        <p:spPr>
          <a:xfrm>
            <a:off x="4686300" y="2880360"/>
            <a:ext cx="45720" cy="1600200"/>
          </a:xfrm>
          <a:prstGeom prst="rect">
            <a:avLst/>
          </a:prstGeom>
          <a:solidFill>
            <a:srgbClr val="0891B2"/>
          </a:solidFill>
          <a:ln/>
        </p:spPr>
        <p:txBody>
          <a:bodyPr/>
          <a:p/>
        </p:txBody>
      </p:sp>
      <p:pic>
        <p:nvPicPr>
          <p:cNvPr id="20" name="Image 3" descr="preencoded.png">    </p:cNvPr>
          <p:cNvPicPr>
            <a:picLocks noChangeAspect="1"/>
          </p:cNvPicPr>
          <p:nvPr/>
        </p:nvPicPr>
        <p:blipFill>
          <a:blip r:embed="rId4"/>
          <a:stretch>
            <a:fillRect/>
          </a:stretch>
        </p:blipFill>
        <p:spPr>
          <a:xfrm>
            <a:off x="4914900" y="3063240"/>
            <a:ext cx="365760" cy="365760"/>
          </a:xfrm>
          <a:prstGeom prst="rect">
            <a:avLst/>
          </a:prstGeom>
        </p:spPr>
      </p:pic>
      <p:sp>
        <p:nvSpPr>
          <p:cNvPr id="21" name="Text 15"/>
          <p:cNvSpPr/>
          <p:nvPr/>
        </p:nvSpPr>
        <p:spPr>
          <a:xfrm>
            <a:off x="5417820" y="30175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Codex / CLI Agents</a:t>
            </a:r>
            <a:endParaRPr lang="en-US" sz="1400" dirty="0"/>
          </a:p>
        </p:txBody>
      </p:sp>
      <p:sp>
        <p:nvSpPr>
          <p:cNvPr id="22" name="Text 16"/>
          <p:cNvSpPr/>
          <p:nvPr/>
        </p:nvSpPr>
        <p:spPr>
          <a:xfrm>
            <a:off x="4914900" y="35204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Terminal-based AI agents that write, test, and deploy code. Codex (OpenAI) and Claude Code (Anthropic) are the frontier tools.</a:t>
            </a:r>
            <a:endParaRPr lang="en-US" sz="1200" dirty="0"/>
          </a:p>
        </p:txBody>
      </p:sp>
      <p:sp>
        <p:nvSpPr>
          <p:cNvPr id="23" name="Shape 17"/>
          <p:cNvSpPr/>
          <p:nvPr/>
        </p:nvSpPr>
        <p:spPr>
          <a:xfrm>
            <a:off x="548640" y="4732020"/>
            <a:ext cx="8046720" cy="0"/>
          </a:xfrm>
          <a:prstGeom prst="line">
            <a:avLst/>
          </a:prstGeom>
          <a:noFill/>
          <a:ln w="6350">
            <a:solidFill>
              <a:srgbClr val="E2E8F0"/>
            </a:solidFill>
            <a:prstDash val="solid"/>
          </a:ln>
        </p:spPr>
        <p:txBody>
          <a:bodyPr/>
          <a:p/>
        </p:txBody>
      </p:sp>
      <p:sp>
        <p:nvSpPr>
          <p:cNvPr id="24" name="Text 18"/>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25" name="Text 19"/>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Context Windows — AI's Memory Limit</a:t>
            </a:r>
            <a:endParaRPr lang="en-US" sz="3200" dirty="0"/>
          </a:p>
        </p:txBody>
      </p:sp>
      <p:sp>
        <p:nvSpPr>
          <p:cNvPr id="3" name="Shape 1"/>
          <p:cNvSpPr/>
          <p:nvPr/>
        </p:nvSpPr>
        <p:spPr>
          <a:xfrm>
            <a:off x="548640" y="914400"/>
            <a:ext cx="548640" cy="36576"/>
          </a:xfrm>
          <a:prstGeom prst="rect">
            <a:avLst/>
          </a:prstGeom>
          <a:solidFill>
            <a:srgbClr val="0891B2"/>
          </a:solidFill>
          <a:ln/>
        </p:spPr>
        <p:txBody>
          <a:bodyPr/>
          <a:p/>
        </p:txBody>
      </p:sp>
      <p:sp>
        <p:nvSpPr>
          <p:cNvPr id="4" name="Text 2"/>
          <p:cNvSpPr/>
          <p:nvPr/>
        </p:nvSpPr>
        <p:spPr>
          <a:xfrm>
            <a:off x="548640" y="1143000"/>
            <a:ext cx="4667098" cy="777240"/>
          </a:xfrm>
          <a:prstGeom prst="rect">
            <a:avLst/>
          </a:prstGeom>
          <a:noFill/>
          <a:ln/>
        </p:spPr>
        <p:txBody>
          <a:bodyPr wrap="square" lIns="0" tIns="0" rIns="0" bIns="0" rtlCol="0" anchor="ctr">
            <a:normAutofit/>
          </a:bodyPr>
          <a:lstStyle/>
          <a:p>
            <a:pPr indent="0" marL="0">
              <a:lnSpc>
                <a:spcPct val="125000"/>
              </a:lnSpc>
              <a:buNone/>
            </a:pPr>
            <a:r>
              <a:rPr lang="en-US" sz="1400" dirty="0">
                <a:solidFill>
                  <a:srgbClr val="4A5568"/>
                </a:solidFill>
                <a:latin typeface="Calibri Light" pitchFamily="34" charset="0"/>
                <a:ea typeface="Calibri Light" pitchFamily="34" charset="-122"/>
                <a:cs typeface="Calibri Light" pitchFamily="34" charset="-120"/>
              </a:rPr>
              <a:t>Every AI has a limited "context window" — like short-term memory. Everything you type plus everything it responds with takes up space. When the window fills, AI starts forgetting earlier details.</a:t>
            </a:r>
            <a:endParaRPr lang="en-US" sz="1400" dirty="0"/>
          </a:p>
        </p:txBody>
      </p:sp>
      <p:sp>
        <p:nvSpPr>
          <p:cNvPr id="5" name="Text 3"/>
          <p:cNvSpPr/>
          <p:nvPr/>
        </p:nvSpPr>
        <p:spPr>
          <a:xfrm>
            <a:off x="548640" y="2286000"/>
            <a:ext cx="4667098" cy="19659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Your instructions compete with code output for space</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Bloated prompts can push critical requirements out of memory</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Front-load the most important information first</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Every word should provide context, guide processing, or specify requirements</a:t>
            </a:r>
            <a:endParaRPr lang="en-US" sz="1400" dirty="0"/>
          </a:p>
        </p:txBody>
      </p:sp>
      <p:sp>
        <p:nvSpPr>
          <p:cNvPr id="6" name="Shape 4"/>
          <p:cNvSpPr/>
          <p:nvPr/>
        </p:nvSpPr>
        <p:spPr>
          <a:xfrm>
            <a:off x="5672938" y="1143000"/>
            <a:ext cx="2922422" cy="2926080"/>
          </a:xfrm>
          <a:prstGeom prst="roundedRectangle">
            <a:avLst>
              <a:gd name="adj" fmla="val 250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7" name="Image 0" descr="preencoded.png">    </p:cNvPr>
          <p:cNvPicPr>
            <a:picLocks noChangeAspect="1"/>
          </p:cNvPicPr>
          <p:nvPr/>
        </p:nvPicPr>
        <p:blipFill>
          <a:blip r:embed="rId1"/>
          <a:stretch>
            <a:fillRect/>
          </a:stretch>
        </p:blipFill>
        <p:spPr>
          <a:xfrm>
            <a:off x="6676949" y="2148840"/>
            <a:ext cx="914400" cy="914400"/>
          </a:xfrm>
          <a:prstGeom prst="rect">
            <a:avLst/>
          </a:prstGeom>
        </p:spPr>
      </p:pic>
      <p:sp>
        <p:nvSpPr>
          <p:cNvPr id="8" name="Shape 5"/>
          <p:cNvSpPr/>
          <p:nvPr/>
        </p:nvSpPr>
        <p:spPr>
          <a:xfrm>
            <a:off x="548640" y="4732020"/>
            <a:ext cx="8046720" cy="0"/>
          </a:xfrm>
          <a:prstGeom prst="line">
            <a:avLst/>
          </a:prstGeom>
          <a:noFill/>
          <a:ln w="6350">
            <a:solidFill>
              <a:srgbClr val="E2E8F0"/>
            </a:solidFill>
            <a:prstDash val="solid"/>
          </a:ln>
        </p:spPr>
        <p:txBody>
          <a:bodyPr/>
          <a:p/>
        </p:txBody>
      </p:sp>
      <p:sp>
        <p:nvSpPr>
          <p:cNvPr id="9" name="Text 6"/>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0" name="Text 7"/>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7</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AFB"/>
          </a:solidFill>
          <a:ln/>
        </p:spPr>
        <p:txBody>
          <a:bodyPr/>
          <a:p/>
        </p:txBody>
      </p:sp>
      <p:sp>
        <p:nvSpPr>
          <p:cNvPr id="3" name="Shape 1"/>
          <p:cNvSpPr/>
          <p:nvPr/>
        </p:nvSpPr>
        <p:spPr>
          <a:xfrm>
            <a:off x="1371600" y="731520"/>
            <a:ext cx="6400800" cy="3474720"/>
          </a:xfrm>
          <a:prstGeom prst="roundedRectangle">
            <a:avLst>
              <a:gd name="adj" fmla="val 3158"/>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4" name="Image 0" descr="preencoded.png">    </p:cNvPr>
          <p:cNvPicPr>
            <a:picLocks noChangeAspect="1"/>
          </p:cNvPicPr>
          <p:nvPr/>
        </p:nvPicPr>
        <p:blipFill>
          <a:blip r:embed="rId1"/>
          <a:stretch>
            <a:fillRect/>
          </a:stretch>
        </p:blipFill>
        <p:spPr>
          <a:xfrm>
            <a:off x="4251960" y="1005840"/>
            <a:ext cx="640080" cy="640080"/>
          </a:xfrm>
          <a:prstGeom prst="rect">
            <a:avLst/>
          </a:prstGeom>
        </p:spPr>
      </p:pic>
      <p:sp>
        <p:nvSpPr>
          <p:cNvPr id="5" name="Text 2"/>
          <p:cNvSpPr/>
          <p:nvPr/>
        </p:nvSpPr>
        <p:spPr>
          <a:xfrm>
            <a:off x="1371600" y="1463040"/>
            <a:ext cx="6400800" cy="822960"/>
          </a:xfrm>
          <a:prstGeom prst="rect">
            <a:avLst/>
          </a:prstGeom>
          <a:noFill/>
          <a:ln/>
        </p:spPr>
        <p:txBody>
          <a:bodyPr wrap="square" lIns="0" tIns="0" rIns="0" bIns="0" rtlCol="0" anchor="ctr"/>
          <a:lstStyle/>
          <a:p>
            <a:pPr algn="ctr" indent="0" marL="0">
              <a:buNone/>
            </a:pPr>
            <a:r>
              <a:rPr lang="en-US" sz="5600" b="1" dirty="0">
                <a:solidFill>
                  <a:srgbClr val="0891B2"/>
                </a:solidFill>
                <a:latin typeface="Calibri" pitchFamily="34" charset="0"/>
                <a:ea typeface="Calibri" pitchFamily="34" charset="-122"/>
                <a:cs typeface="Calibri" pitchFamily="34" charset="-120"/>
              </a:rPr>
              <a:t>$1.17B</a:t>
            </a:r>
            <a:endParaRPr lang="en-US" sz="5600" dirty="0"/>
          </a:p>
        </p:txBody>
      </p:sp>
      <p:sp>
        <p:nvSpPr>
          <p:cNvPr id="6" name="Text 3"/>
          <p:cNvSpPr/>
          <p:nvPr/>
        </p:nvSpPr>
        <p:spPr>
          <a:xfrm>
            <a:off x="1371600" y="2331720"/>
            <a:ext cx="6400800" cy="411480"/>
          </a:xfrm>
          <a:prstGeom prst="rect">
            <a:avLst/>
          </a:prstGeom>
          <a:noFill/>
          <a:ln/>
        </p:spPr>
        <p:txBody>
          <a:bodyPr wrap="square" lIns="0" tIns="0" rIns="0" bIns="0" rtlCol="0" anchor="ctr"/>
          <a:lstStyle/>
          <a:p>
            <a:pPr algn="ctr" indent="0" marL="0">
              <a:buNone/>
            </a:pPr>
            <a:r>
              <a:rPr lang="en-US" sz="2400" b="1" dirty="0">
                <a:solidFill>
                  <a:srgbClr val="1A1A2E"/>
                </a:solidFill>
                <a:latin typeface="Calibri" pitchFamily="34" charset="0"/>
                <a:ea typeface="Calibri" pitchFamily="34" charset="-122"/>
                <a:cs typeface="Calibri" pitchFamily="34" charset="-120"/>
              </a:rPr>
              <a:t>11 People. One Company. $1.17B Revenue.</a:t>
            </a:r>
            <a:endParaRPr lang="en-US" sz="2400" dirty="0"/>
          </a:p>
        </p:txBody>
      </p:sp>
      <p:sp>
        <p:nvSpPr>
          <p:cNvPr id="7" name="Text 4"/>
          <p:cNvSpPr/>
          <p:nvPr/>
        </p:nvSpPr>
        <p:spPr>
          <a:xfrm>
            <a:off x="1828800" y="2880360"/>
            <a:ext cx="5486400" cy="640080"/>
          </a:xfrm>
          <a:prstGeom prst="rect">
            <a:avLst/>
          </a:prstGeom>
          <a:noFill/>
          <a:ln/>
        </p:spPr>
        <p:txBody>
          <a:bodyPr wrap="square" lIns="0" tIns="0" rIns="0" bIns="0" rtlCol="0" anchor="ctr"/>
          <a:lstStyle/>
          <a:p>
            <a:pPr algn="ctr" indent="0" marL="0">
              <a:lnSpc>
                <a:spcPct val="120000"/>
              </a:lnSpc>
              <a:buNone/>
            </a:pPr>
            <a:r>
              <a:rPr lang="en-US" sz="1400" dirty="0">
                <a:solidFill>
                  <a:srgbClr val="4A5568"/>
                </a:solidFill>
                <a:latin typeface="Calibri Light" pitchFamily="34" charset="0"/>
                <a:ea typeface="Calibri Light" pitchFamily="34" charset="-122"/>
                <a:cs typeface="Calibri Light" pitchFamily="34" charset="-120"/>
              </a:rPr>
              <a:t>Hyperliquid — $106M revenue per employee vs Apple's $3M. a16z predicts prompt-free proactive apps, vertical AI going multiplayer, and multi-agent orchestration as the biggest opportunities of 2026.</a:t>
            </a:r>
            <a:endParaRPr lang="en-US" sz="1400" dirty="0"/>
          </a:p>
        </p:txBody>
      </p:sp>
      <p:sp>
        <p:nvSpPr>
          <p:cNvPr id="8" name="Shape 5"/>
          <p:cNvSpPr/>
          <p:nvPr/>
        </p:nvSpPr>
        <p:spPr>
          <a:xfrm>
            <a:off x="548640" y="4732020"/>
            <a:ext cx="8046720" cy="0"/>
          </a:xfrm>
          <a:prstGeom prst="line">
            <a:avLst/>
          </a:prstGeom>
          <a:noFill/>
          <a:ln w="6350">
            <a:solidFill>
              <a:srgbClr val="E2E8F0"/>
            </a:solidFill>
            <a:prstDash val="solid"/>
          </a:ln>
        </p:spPr>
        <p:txBody>
          <a:bodyPr/>
          <a:p/>
        </p:txBody>
      </p:sp>
      <p:sp>
        <p:nvSpPr>
          <p:cNvPr id="9" name="Text 6"/>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0" name="Text 7"/>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8</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77240" y="1188720"/>
            <a:ext cx="5486400" cy="320040"/>
          </a:xfrm>
          <a:prstGeom prst="rect">
            <a:avLst/>
          </a:prstGeom>
          <a:noFill/>
          <a:ln/>
        </p:spPr>
        <p:txBody>
          <a:bodyPr wrap="square" lIns="0" tIns="0" rIns="0" bIns="0" rtlCol="0" anchor="ctr"/>
          <a:lstStyle/>
          <a:p>
            <a:pPr indent="0" marL="0">
              <a:buNone/>
            </a:pPr>
            <a:r>
              <a:rPr lang="en-US" sz="1100" b="1" spc="400" kern="0" dirty="0">
                <a:solidFill>
                  <a:srgbClr val="0891B2"/>
                </a:solidFill>
                <a:latin typeface="Calibri" pitchFamily="34" charset="0"/>
                <a:ea typeface="Calibri" pitchFamily="34" charset="-122"/>
                <a:cs typeface="Calibri" pitchFamily="34" charset="-120"/>
              </a:rPr>
              <a:t>SECTION 02</a:t>
            </a:r>
            <a:endParaRPr lang="en-US" sz="1100" dirty="0"/>
          </a:p>
        </p:txBody>
      </p:sp>
      <p:sp>
        <p:nvSpPr>
          <p:cNvPr id="3" name="Shape 1"/>
          <p:cNvSpPr/>
          <p:nvPr/>
        </p:nvSpPr>
        <p:spPr>
          <a:xfrm>
            <a:off x="777240" y="1600200"/>
            <a:ext cx="731520" cy="36576"/>
          </a:xfrm>
          <a:prstGeom prst="rect">
            <a:avLst/>
          </a:prstGeom>
          <a:solidFill>
            <a:srgbClr val="0891B2"/>
          </a:solidFill>
          <a:ln/>
        </p:spPr>
        <p:txBody>
          <a:bodyPr/>
          <a:p/>
        </p:txBody>
      </p:sp>
      <p:sp>
        <p:nvSpPr>
          <p:cNvPr id="4" name="Text 2"/>
          <p:cNvSpPr/>
          <p:nvPr/>
        </p:nvSpPr>
        <p:spPr>
          <a:xfrm>
            <a:off x="777240" y="1783080"/>
            <a:ext cx="7315200" cy="9144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AI USE CASES</a:t>
            </a:r>
            <a:endParaRPr lang="en-US" sz="3000" dirty="0"/>
          </a:p>
        </p:txBody>
      </p:sp>
      <p:sp>
        <p:nvSpPr>
          <p:cNvPr id="5" name="Text 3"/>
          <p:cNvSpPr/>
          <p:nvPr/>
        </p:nvSpPr>
        <p:spPr>
          <a:xfrm>
            <a:off x="777240" y="2697480"/>
            <a:ext cx="6400800" cy="457200"/>
          </a:xfrm>
          <a:prstGeom prst="rect">
            <a:avLst/>
          </a:prstGeom>
          <a:noFill/>
          <a:ln/>
        </p:spPr>
        <p:txBody>
          <a:bodyPr wrap="square" lIns="0" tIns="0" rIns="0" bIns="0" rtlCol="0" anchor="ctr"/>
          <a:lstStyle/>
          <a:p>
            <a:pPr indent="0" marL="0">
              <a:buNone/>
            </a:pPr>
            <a:r>
              <a:rPr lang="en-US" sz="1800" dirty="0">
                <a:solidFill>
                  <a:srgbClr val="94A3B8"/>
                </a:solidFill>
                <a:latin typeface="Calibri Light" pitchFamily="34" charset="0"/>
                <a:ea typeface="Calibri Light" pitchFamily="34" charset="-122"/>
                <a:cs typeface="Calibri Light" pitchFamily="34" charset="-120"/>
              </a:rPr>
              <a:t>The big picture — then how it applies to your business</a:t>
            </a:r>
            <a:endParaRPr lang="en-US" sz="1800" dirty="0"/>
          </a:p>
        </p:txBody>
      </p:sp>
      <p:sp>
        <p:nvSpPr>
          <p:cNvPr id="6" name="Text 4"/>
          <p:cNvSpPr/>
          <p:nvPr/>
        </p:nvSpPr>
        <p:spPr>
          <a:xfrm>
            <a:off x="777240" y="4320540"/>
            <a:ext cx="3657600" cy="320040"/>
          </a:xfrm>
          <a:prstGeom prst="rect">
            <a:avLst/>
          </a:prstGeom>
          <a:noFill/>
          <a:ln/>
        </p:spPr>
        <p:txBody>
          <a:bodyPr wrap="square" lIns="0" tIns="0" rIns="0" bIns="0" rtlCol="0" anchor="ctr"/>
          <a:lstStyle/>
          <a:p>
            <a:pPr indent="0" marL="0">
              <a:buNone/>
            </a:pPr>
            <a:r>
              <a:rPr lang="en-US" sz="1400" dirty="0">
                <a:solidFill>
                  <a:srgbClr val="94A3B8"/>
                </a:solidFill>
                <a:latin typeface="Calibri Light" pitchFamily="34" charset="0"/>
                <a:ea typeface="Calibri Light" pitchFamily="34" charset="-122"/>
                <a:cs typeface="Calibri Light" pitchFamily="34" charset="-120"/>
              </a:rPr>
              <a:t>~25 minutes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AI Is Transforming Every Business Function</a:t>
            </a:r>
            <a:endParaRPr lang="en-US" sz="3200" dirty="0"/>
          </a:p>
        </p:txBody>
      </p:sp>
      <p:sp>
        <p:nvSpPr>
          <p:cNvPr id="3" name="Shape 1"/>
          <p:cNvSpPr/>
          <p:nvPr/>
        </p:nvSpPr>
        <p:spPr>
          <a:xfrm>
            <a:off x="548640" y="10515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4" name="Shape 2"/>
          <p:cNvSpPr/>
          <p:nvPr/>
        </p:nvSpPr>
        <p:spPr>
          <a:xfrm>
            <a:off x="548640" y="1051560"/>
            <a:ext cx="45720" cy="1600200"/>
          </a:xfrm>
          <a:prstGeom prst="rect">
            <a:avLst/>
          </a:prstGeom>
          <a:solidFill>
            <a:srgbClr val="0891B2"/>
          </a:solidFill>
          <a:ln/>
        </p:spPr>
        <p:txBody>
          <a:bodyPr/>
          <a:p/>
        </p:txBody>
      </p:sp>
      <p:pic>
        <p:nvPicPr>
          <p:cNvPr id="5" name="Image 0" descr="preencoded.png">    </p:cNvPr>
          <p:cNvPicPr>
            <a:picLocks noChangeAspect="1"/>
          </p:cNvPicPr>
          <p:nvPr/>
        </p:nvPicPr>
        <p:blipFill>
          <a:blip r:embed="rId1"/>
          <a:stretch>
            <a:fillRect/>
          </a:stretch>
        </p:blipFill>
        <p:spPr>
          <a:xfrm>
            <a:off x="777240" y="1234440"/>
            <a:ext cx="365760" cy="365760"/>
          </a:xfrm>
          <a:prstGeom prst="rect">
            <a:avLst/>
          </a:prstGeom>
        </p:spPr>
      </p:pic>
      <p:sp>
        <p:nvSpPr>
          <p:cNvPr id="6" name="Text 3"/>
          <p:cNvSpPr/>
          <p:nvPr/>
        </p:nvSpPr>
        <p:spPr>
          <a:xfrm>
            <a:off x="1280160" y="11887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Marketing &amp; Content</a:t>
            </a:r>
            <a:endParaRPr lang="en-US" sz="1400" dirty="0"/>
          </a:p>
        </p:txBody>
      </p:sp>
      <p:sp>
        <p:nvSpPr>
          <p:cNvPr id="7" name="Text 4"/>
          <p:cNvSpPr/>
          <p:nvPr/>
        </p:nvSpPr>
        <p:spPr>
          <a:xfrm>
            <a:off x="777240" y="16916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AI generates ad copy, social posts, email sequences, and campaign briefs. Content teams report 3-5x output with AI assistance — one marketer does the work of a small team.</a:t>
            </a:r>
            <a:endParaRPr lang="en-US" sz="1200" dirty="0"/>
          </a:p>
        </p:txBody>
      </p:sp>
      <p:sp>
        <p:nvSpPr>
          <p:cNvPr id="8" name="Shape 5"/>
          <p:cNvSpPr/>
          <p:nvPr/>
        </p:nvSpPr>
        <p:spPr>
          <a:xfrm>
            <a:off x="4686300" y="10515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9" name="Shape 6"/>
          <p:cNvSpPr/>
          <p:nvPr/>
        </p:nvSpPr>
        <p:spPr>
          <a:xfrm>
            <a:off x="4686300" y="1051560"/>
            <a:ext cx="45720" cy="1600200"/>
          </a:xfrm>
          <a:prstGeom prst="rect">
            <a:avLst/>
          </a:prstGeom>
          <a:solidFill>
            <a:srgbClr val="0891B2"/>
          </a:solidFill>
          <a:ln/>
        </p:spPr>
        <p:txBody>
          <a:bodyPr/>
          <a:p/>
        </p:txBody>
      </p:sp>
      <p:pic>
        <p:nvPicPr>
          <p:cNvPr id="10" name="Image 1" descr="preencoded.png">    </p:cNvPr>
          <p:cNvPicPr>
            <a:picLocks noChangeAspect="1"/>
          </p:cNvPicPr>
          <p:nvPr/>
        </p:nvPicPr>
        <p:blipFill>
          <a:blip r:embed="rId2"/>
          <a:stretch>
            <a:fillRect/>
          </a:stretch>
        </p:blipFill>
        <p:spPr>
          <a:xfrm>
            <a:off x="4914900" y="1234440"/>
            <a:ext cx="365760" cy="365760"/>
          </a:xfrm>
          <a:prstGeom prst="rect">
            <a:avLst/>
          </a:prstGeom>
        </p:spPr>
      </p:pic>
      <p:sp>
        <p:nvSpPr>
          <p:cNvPr id="11" name="Text 7"/>
          <p:cNvSpPr/>
          <p:nvPr/>
        </p:nvSpPr>
        <p:spPr>
          <a:xfrm>
            <a:off x="5417820" y="11887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Sales &amp; CRM</a:t>
            </a:r>
            <a:endParaRPr lang="en-US" sz="1400" dirty="0"/>
          </a:p>
        </p:txBody>
      </p:sp>
      <p:sp>
        <p:nvSpPr>
          <p:cNvPr id="12" name="Text 8"/>
          <p:cNvSpPr/>
          <p:nvPr/>
        </p:nvSpPr>
        <p:spPr>
          <a:xfrm>
            <a:off x="4914900" y="16916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Lead scoring, automated follow-ups, deal forecasting, proposal generation. Companies report 200% improvement in quote-to-close ratios with AI-powered follow-ups.</a:t>
            </a:r>
            <a:endParaRPr lang="en-US" sz="1200" dirty="0"/>
          </a:p>
        </p:txBody>
      </p:sp>
      <p:sp>
        <p:nvSpPr>
          <p:cNvPr id="13" name="Shape 9"/>
          <p:cNvSpPr/>
          <p:nvPr/>
        </p:nvSpPr>
        <p:spPr>
          <a:xfrm>
            <a:off x="548640" y="28803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4" name="Shape 10"/>
          <p:cNvSpPr/>
          <p:nvPr/>
        </p:nvSpPr>
        <p:spPr>
          <a:xfrm>
            <a:off x="548640" y="2880360"/>
            <a:ext cx="45720" cy="1600200"/>
          </a:xfrm>
          <a:prstGeom prst="rect">
            <a:avLst/>
          </a:prstGeom>
          <a:solidFill>
            <a:srgbClr val="0891B2"/>
          </a:solidFill>
          <a:ln/>
        </p:spPr>
        <p:txBody>
          <a:bodyPr/>
          <a:p/>
        </p:txBody>
      </p:sp>
      <p:pic>
        <p:nvPicPr>
          <p:cNvPr id="15" name="Image 2" descr="preencoded.png">    </p:cNvPr>
          <p:cNvPicPr>
            <a:picLocks noChangeAspect="1"/>
          </p:cNvPicPr>
          <p:nvPr/>
        </p:nvPicPr>
        <p:blipFill>
          <a:blip r:embed="rId3"/>
          <a:stretch>
            <a:fillRect/>
          </a:stretch>
        </p:blipFill>
        <p:spPr>
          <a:xfrm>
            <a:off x="777240" y="3063240"/>
            <a:ext cx="365760" cy="365760"/>
          </a:xfrm>
          <a:prstGeom prst="rect">
            <a:avLst/>
          </a:prstGeom>
        </p:spPr>
      </p:pic>
      <p:sp>
        <p:nvSpPr>
          <p:cNvPr id="16" name="Text 11"/>
          <p:cNvSpPr/>
          <p:nvPr/>
        </p:nvSpPr>
        <p:spPr>
          <a:xfrm>
            <a:off x="1280160" y="30175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Operations &amp; Logistics</a:t>
            </a:r>
            <a:endParaRPr lang="en-US" sz="1400" dirty="0"/>
          </a:p>
        </p:txBody>
      </p:sp>
      <p:sp>
        <p:nvSpPr>
          <p:cNvPr id="17" name="Text 12"/>
          <p:cNvSpPr/>
          <p:nvPr/>
        </p:nvSpPr>
        <p:spPr>
          <a:xfrm>
            <a:off x="777240" y="35204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Demand forecasting, route optimization, automated purchasing, inventory alerts. $100K+ annual savings typical from AI-powered support and logistics routing.</a:t>
            </a:r>
            <a:endParaRPr lang="en-US" sz="1200" dirty="0"/>
          </a:p>
        </p:txBody>
      </p:sp>
      <p:sp>
        <p:nvSpPr>
          <p:cNvPr id="18" name="Shape 13"/>
          <p:cNvSpPr/>
          <p:nvPr/>
        </p:nvSpPr>
        <p:spPr>
          <a:xfrm>
            <a:off x="4686300" y="28803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9" name="Shape 14"/>
          <p:cNvSpPr/>
          <p:nvPr/>
        </p:nvSpPr>
        <p:spPr>
          <a:xfrm>
            <a:off x="4686300" y="2880360"/>
            <a:ext cx="45720" cy="1600200"/>
          </a:xfrm>
          <a:prstGeom prst="rect">
            <a:avLst/>
          </a:prstGeom>
          <a:solidFill>
            <a:srgbClr val="0891B2"/>
          </a:solidFill>
          <a:ln/>
        </p:spPr>
        <p:txBody>
          <a:bodyPr/>
          <a:p/>
        </p:txBody>
      </p:sp>
      <p:pic>
        <p:nvPicPr>
          <p:cNvPr id="20" name="Image 3" descr="preencoded.png">    </p:cNvPr>
          <p:cNvPicPr>
            <a:picLocks noChangeAspect="1"/>
          </p:cNvPicPr>
          <p:nvPr/>
        </p:nvPicPr>
        <p:blipFill>
          <a:blip r:embed="rId4"/>
          <a:stretch>
            <a:fillRect/>
          </a:stretch>
        </p:blipFill>
        <p:spPr>
          <a:xfrm>
            <a:off x="4914900" y="3063240"/>
            <a:ext cx="365760" cy="365760"/>
          </a:xfrm>
          <a:prstGeom prst="rect">
            <a:avLst/>
          </a:prstGeom>
        </p:spPr>
      </p:pic>
      <p:sp>
        <p:nvSpPr>
          <p:cNvPr id="21" name="Text 15"/>
          <p:cNvSpPr/>
          <p:nvPr/>
        </p:nvSpPr>
        <p:spPr>
          <a:xfrm>
            <a:off x="5417820" y="30175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Customer Experience</a:t>
            </a:r>
            <a:endParaRPr lang="en-US" sz="1400" dirty="0"/>
          </a:p>
        </p:txBody>
      </p:sp>
      <p:sp>
        <p:nvSpPr>
          <p:cNvPr id="22" name="Text 16"/>
          <p:cNvSpPr/>
          <p:nvPr/>
        </p:nvSpPr>
        <p:spPr>
          <a:xfrm>
            <a:off x="4914900" y="35204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24/7 chatbots, sentiment analysis, personalized recommendations, automated ticket routing. 70% support workload reduction with AI ticket classification.</a:t>
            </a:r>
            <a:endParaRPr lang="en-US" sz="1200" dirty="0"/>
          </a:p>
        </p:txBody>
      </p:sp>
      <p:sp>
        <p:nvSpPr>
          <p:cNvPr id="23" name="Shape 17"/>
          <p:cNvSpPr/>
          <p:nvPr/>
        </p:nvSpPr>
        <p:spPr>
          <a:xfrm>
            <a:off x="548640" y="4732020"/>
            <a:ext cx="8046720" cy="0"/>
          </a:xfrm>
          <a:prstGeom prst="line">
            <a:avLst/>
          </a:prstGeom>
          <a:noFill/>
          <a:ln w="6350">
            <a:solidFill>
              <a:srgbClr val="E2E8F0"/>
            </a:solidFill>
            <a:prstDash val="solid"/>
          </a:ln>
        </p:spPr>
        <p:txBody>
          <a:bodyPr/>
          <a:p/>
        </p:txBody>
      </p:sp>
      <p:sp>
        <p:nvSpPr>
          <p:cNvPr id="24" name="Text 18"/>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25" name="Text 19"/>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9</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AI-Powered Marketing &amp; Creative</a:t>
            </a:r>
            <a:endParaRPr lang="en-US" sz="3200" dirty="0"/>
          </a:p>
        </p:txBody>
      </p:sp>
      <p:sp>
        <p:nvSpPr>
          <p:cNvPr id="3" name="Shape 1"/>
          <p:cNvSpPr/>
          <p:nvPr/>
        </p:nvSpPr>
        <p:spPr>
          <a:xfrm>
            <a:off x="54864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4" name="Image 0" descr="preencoded.png">    </p:cNvPr>
          <p:cNvPicPr>
            <a:picLocks noChangeAspect="1"/>
          </p:cNvPicPr>
          <p:nvPr/>
        </p:nvPicPr>
        <p:blipFill>
          <a:blip r:embed="rId1"/>
          <a:stretch>
            <a:fillRect/>
          </a:stretch>
        </p:blipFill>
        <p:spPr>
          <a:xfrm>
            <a:off x="1554480" y="1463040"/>
            <a:ext cx="457200" cy="457200"/>
          </a:xfrm>
          <a:prstGeom prst="rect">
            <a:avLst/>
          </a:prstGeom>
        </p:spPr>
      </p:pic>
      <p:sp>
        <p:nvSpPr>
          <p:cNvPr id="5" name="Text 2"/>
          <p:cNvSpPr/>
          <p:nvPr/>
        </p:nvSpPr>
        <p:spPr>
          <a:xfrm>
            <a:off x="82296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Photo Models</a:t>
            </a:r>
            <a:endParaRPr lang="en-US" sz="1600" dirty="0"/>
          </a:p>
        </p:txBody>
      </p:sp>
      <p:sp>
        <p:nvSpPr>
          <p:cNvPr id="6" name="Text 3"/>
          <p:cNvSpPr/>
          <p:nvPr/>
        </p:nvSpPr>
        <p:spPr>
          <a:xfrm>
            <a:off x="82296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Midjourney, DALL-E, Flux — generate product shots, lifestyle imagery, and brand visuals without a studio. Feed a reference image and get 50 variations in minutes.</a:t>
            </a:r>
            <a:endParaRPr lang="en-US" sz="1200" dirty="0"/>
          </a:p>
        </p:txBody>
      </p:sp>
      <p:sp>
        <p:nvSpPr>
          <p:cNvPr id="7" name="Shape 4"/>
          <p:cNvSpPr/>
          <p:nvPr/>
        </p:nvSpPr>
        <p:spPr>
          <a:xfrm>
            <a:off x="333756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8" name="Image 1" descr="preencoded.png">    </p:cNvPr>
          <p:cNvPicPr>
            <a:picLocks noChangeAspect="1"/>
          </p:cNvPicPr>
          <p:nvPr/>
        </p:nvPicPr>
        <p:blipFill>
          <a:blip r:embed="rId2"/>
          <a:stretch>
            <a:fillRect/>
          </a:stretch>
        </p:blipFill>
        <p:spPr>
          <a:xfrm>
            <a:off x="4343400" y="1463040"/>
            <a:ext cx="457200" cy="457200"/>
          </a:xfrm>
          <a:prstGeom prst="rect">
            <a:avLst/>
          </a:prstGeom>
        </p:spPr>
      </p:pic>
      <p:sp>
        <p:nvSpPr>
          <p:cNvPr id="9" name="Text 5"/>
          <p:cNvSpPr/>
          <p:nvPr/>
        </p:nvSpPr>
        <p:spPr>
          <a:xfrm>
            <a:off x="361188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Video Models</a:t>
            </a:r>
            <a:endParaRPr lang="en-US" sz="1600" dirty="0"/>
          </a:p>
        </p:txBody>
      </p:sp>
      <p:sp>
        <p:nvSpPr>
          <p:cNvPr id="10" name="Text 6"/>
          <p:cNvSpPr/>
          <p:nvPr/>
        </p:nvSpPr>
        <p:spPr>
          <a:xfrm>
            <a:off x="361188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Sora, Runway, Kling, Veo — create product demos, explainer clips, and social video from a text prompt or still image. No film crew required.</a:t>
            </a:r>
            <a:endParaRPr lang="en-US" sz="1200" dirty="0"/>
          </a:p>
        </p:txBody>
      </p:sp>
      <p:sp>
        <p:nvSpPr>
          <p:cNvPr id="11" name="Shape 7"/>
          <p:cNvSpPr/>
          <p:nvPr/>
        </p:nvSpPr>
        <p:spPr>
          <a:xfrm>
            <a:off x="612648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12" name="Image 2" descr="preencoded.png">    </p:cNvPr>
          <p:cNvPicPr>
            <a:picLocks noChangeAspect="1"/>
          </p:cNvPicPr>
          <p:nvPr/>
        </p:nvPicPr>
        <p:blipFill>
          <a:blip r:embed="rId3"/>
          <a:stretch>
            <a:fillRect/>
          </a:stretch>
        </p:blipFill>
        <p:spPr>
          <a:xfrm>
            <a:off x="7132320" y="1463040"/>
            <a:ext cx="457200" cy="457200"/>
          </a:xfrm>
          <a:prstGeom prst="rect">
            <a:avLst/>
          </a:prstGeom>
        </p:spPr>
      </p:pic>
      <p:sp>
        <p:nvSpPr>
          <p:cNvPr id="13" name="Text 8"/>
          <p:cNvSpPr/>
          <p:nvPr/>
        </p:nvSpPr>
        <p:spPr>
          <a:xfrm>
            <a:off x="640080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Ad Generation</a:t>
            </a:r>
            <a:endParaRPr lang="en-US" sz="1600" dirty="0"/>
          </a:p>
        </p:txBody>
      </p:sp>
      <p:sp>
        <p:nvSpPr>
          <p:cNvPr id="14" name="Text 9"/>
          <p:cNvSpPr/>
          <p:nvPr/>
        </p:nvSpPr>
        <p:spPr>
          <a:xfrm>
            <a:off x="640080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Higgsfield turns a single product photo into scroll-stopping video ads with motion, text overlays, and music. Generate dozens of ad variants for A/B testing in an afternoon.</a:t>
            </a:r>
            <a:endParaRPr lang="en-US" sz="1200" dirty="0"/>
          </a:p>
        </p:txBody>
      </p:sp>
      <p:sp>
        <p:nvSpPr>
          <p:cNvPr id="15" name="Shape 10"/>
          <p:cNvSpPr/>
          <p:nvPr/>
        </p:nvSpPr>
        <p:spPr>
          <a:xfrm>
            <a:off x="548640" y="4732020"/>
            <a:ext cx="8046720" cy="0"/>
          </a:xfrm>
          <a:prstGeom prst="line">
            <a:avLst/>
          </a:prstGeom>
          <a:noFill/>
          <a:ln w="6350">
            <a:solidFill>
              <a:srgbClr val="E2E8F0"/>
            </a:solidFill>
            <a:prstDash val="solid"/>
          </a:ln>
        </p:spPr>
        <p:txBody>
          <a:bodyPr/>
          <a:p/>
        </p:txBody>
      </p:sp>
      <p:sp>
        <p:nvSpPr>
          <p:cNvPr id="16" name="Text 11"/>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7" name="Text 12"/>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10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The AI Content Creation Workflow</a:t>
            </a:r>
            <a:endParaRPr lang="en-US" sz="3200" dirty="0"/>
          </a:p>
        </p:txBody>
      </p:sp>
      <p:sp>
        <p:nvSpPr>
          <p:cNvPr id="3" name="Shape 1"/>
          <p:cNvSpPr/>
          <p:nvPr/>
        </p:nvSpPr>
        <p:spPr>
          <a:xfrm>
            <a:off x="548640" y="114300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4" name="Shape 2"/>
          <p:cNvSpPr/>
          <p:nvPr/>
        </p:nvSpPr>
        <p:spPr>
          <a:xfrm>
            <a:off x="548640" y="1143000"/>
            <a:ext cx="54864" cy="621792"/>
          </a:xfrm>
          <a:prstGeom prst="rect">
            <a:avLst/>
          </a:prstGeom>
          <a:solidFill>
            <a:srgbClr val="0891B2"/>
          </a:solidFill>
          <a:ln/>
        </p:spPr>
        <p:txBody>
          <a:bodyPr/>
          <a:p/>
        </p:txBody>
      </p:sp>
      <p:sp>
        <p:nvSpPr>
          <p:cNvPr id="5" name="Text 3"/>
          <p:cNvSpPr/>
          <p:nvPr/>
        </p:nvSpPr>
        <p:spPr>
          <a:xfrm>
            <a:off x="777240" y="114300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1463040" y="114300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Ideation</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ChatGPT or Claude brainstorms angles, hooks, and messaging. Feed it your brand voice doc and past top performers.</a:t>
            </a:r>
            <a:endParaRPr lang="en-US" sz="1400" dirty="0"/>
          </a:p>
        </p:txBody>
      </p:sp>
      <p:sp>
        <p:nvSpPr>
          <p:cNvPr id="7" name="Shape 5"/>
          <p:cNvSpPr/>
          <p:nvPr/>
        </p:nvSpPr>
        <p:spPr>
          <a:xfrm>
            <a:off x="548640" y="187452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8" name="Shape 6"/>
          <p:cNvSpPr/>
          <p:nvPr/>
        </p:nvSpPr>
        <p:spPr>
          <a:xfrm>
            <a:off x="548640" y="1874520"/>
            <a:ext cx="54864" cy="621792"/>
          </a:xfrm>
          <a:prstGeom prst="rect">
            <a:avLst/>
          </a:prstGeom>
          <a:solidFill>
            <a:srgbClr val="0891B2"/>
          </a:solidFill>
          <a:ln/>
        </p:spPr>
        <p:txBody>
          <a:bodyPr/>
          <a:p/>
        </p:txBody>
      </p:sp>
      <p:sp>
        <p:nvSpPr>
          <p:cNvPr id="9" name="Text 7"/>
          <p:cNvSpPr/>
          <p:nvPr/>
        </p:nvSpPr>
        <p:spPr>
          <a:xfrm>
            <a:off x="777240" y="187452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02</a:t>
            </a:r>
            <a:endParaRPr lang="en-US" sz="2200" dirty="0"/>
          </a:p>
        </p:txBody>
      </p:sp>
      <p:sp>
        <p:nvSpPr>
          <p:cNvPr id="10" name="Text 8"/>
          <p:cNvSpPr/>
          <p:nvPr/>
        </p:nvSpPr>
        <p:spPr>
          <a:xfrm>
            <a:off x="1463040" y="187452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Image Generation</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Midjourney or DALL-E creates hero images, product mockups, lifestyle shots. Refine with inpainting and style references.</a:t>
            </a:r>
            <a:endParaRPr lang="en-US" sz="1400" dirty="0"/>
          </a:p>
        </p:txBody>
      </p:sp>
      <p:sp>
        <p:nvSpPr>
          <p:cNvPr id="11" name="Shape 9"/>
          <p:cNvSpPr/>
          <p:nvPr/>
        </p:nvSpPr>
        <p:spPr>
          <a:xfrm>
            <a:off x="548640" y="260604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2" name="Shape 10"/>
          <p:cNvSpPr/>
          <p:nvPr/>
        </p:nvSpPr>
        <p:spPr>
          <a:xfrm>
            <a:off x="548640" y="2606040"/>
            <a:ext cx="54864" cy="621792"/>
          </a:xfrm>
          <a:prstGeom prst="rect">
            <a:avLst/>
          </a:prstGeom>
          <a:solidFill>
            <a:srgbClr val="0891B2"/>
          </a:solidFill>
          <a:ln/>
        </p:spPr>
        <p:txBody>
          <a:bodyPr/>
          <a:p/>
        </p:txBody>
      </p:sp>
      <p:sp>
        <p:nvSpPr>
          <p:cNvPr id="13" name="Text 11"/>
          <p:cNvSpPr/>
          <p:nvPr/>
        </p:nvSpPr>
        <p:spPr>
          <a:xfrm>
            <a:off x="777240" y="260604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03</a:t>
            </a:r>
            <a:endParaRPr lang="en-US" sz="2200" dirty="0"/>
          </a:p>
        </p:txBody>
      </p:sp>
      <p:sp>
        <p:nvSpPr>
          <p:cNvPr id="14" name="Text 12"/>
          <p:cNvSpPr/>
          <p:nvPr/>
        </p:nvSpPr>
        <p:spPr>
          <a:xfrm>
            <a:off x="1463040" y="260604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Video Production</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Runway or Higgsfield animates stills into video ads. Add motion, transitions, and text overlays — no editing software needed.</a:t>
            </a:r>
            <a:endParaRPr lang="en-US" sz="1400" dirty="0"/>
          </a:p>
        </p:txBody>
      </p:sp>
      <p:sp>
        <p:nvSpPr>
          <p:cNvPr id="15" name="Shape 13"/>
          <p:cNvSpPr/>
          <p:nvPr/>
        </p:nvSpPr>
        <p:spPr>
          <a:xfrm>
            <a:off x="548640" y="333756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6" name="Shape 14"/>
          <p:cNvSpPr/>
          <p:nvPr/>
        </p:nvSpPr>
        <p:spPr>
          <a:xfrm>
            <a:off x="548640" y="3337560"/>
            <a:ext cx="54864" cy="621792"/>
          </a:xfrm>
          <a:prstGeom prst="rect">
            <a:avLst/>
          </a:prstGeom>
          <a:solidFill>
            <a:srgbClr val="0891B2"/>
          </a:solidFill>
          <a:ln/>
        </p:spPr>
        <p:txBody>
          <a:bodyPr/>
          <a:p/>
        </p:txBody>
      </p:sp>
      <p:sp>
        <p:nvSpPr>
          <p:cNvPr id="17" name="Text 15"/>
          <p:cNvSpPr/>
          <p:nvPr/>
        </p:nvSpPr>
        <p:spPr>
          <a:xfrm>
            <a:off x="777240" y="333756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04</a:t>
            </a:r>
            <a:endParaRPr lang="en-US" sz="2200" dirty="0"/>
          </a:p>
        </p:txBody>
      </p:sp>
      <p:sp>
        <p:nvSpPr>
          <p:cNvPr id="18" name="Text 16"/>
          <p:cNvSpPr/>
          <p:nvPr/>
        </p:nvSpPr>
        <p:spPr>
          <a:xfrm>
            <a:off x="1463040" y="333756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Distribution</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AI resizes and reformats for every platform — Instagram reels, LinkedIn posts, email banners — all from one master asset.</a:t>
            </a:r>
            <a:endParaRPr lang="en-US" sz="1400" dirty="0"/>
          </a:p>
        </p:txBody>
      </p:sp>
      <p:sp>
        <p:nvSpPr>
          <p:cNvPr id="19" name="Shape 17"/>
          <p:cNvSpPr/>
          <p:nvPr/>
        </p:nvSpPr>
        <p:spPr>
          <a:xfrm>
            <a:off x="548640" y="4732020"/>
            <a:ext cx="8046720" cy="0"/>
          </a:xfrm>
          <a:prstGeom prst="line">
            <a:avLst/>
          </a:prstGeom>
          <a:noFill/>
          <a:ln w="6350">
            <a:solidFill>
              <a:srgbClr val="E2E8F0"/>
            </a:solidFill>
            <a:prstDash val="solid"/>
          </a:ln>
        </p:spPr>
        <p:txBody>
          <a:bodyPr/>
          <a:p/>
        </p:txBody>
      </p:sp>
      <p:sp>
        <p:nvSpPr>
          <p:cNvPr id="20" name="Text 18"/>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21" name="Text 19"/>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11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Five Forms of AI You Can Deploy Today</a:t>
            </a:r>
            <a:endParaRPr lang="en-US" sz="3200" dirty="0"/>
          </a:p>
        </p:txBody>
      </p:sp>
      <p:sp>
        <p:nvSpPr>
          <p:cNvPr id="3" name="Shape 1"/>
          <p:cNvSpPr/>
          <p:nvPr/>
        </p:nvSpPr>
        <p:spPr>
          <a:xfrm>
            <a:off x="548640" y="114300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4" name="Shape 2"/>
          <p:cNvSpPr/>
          <p:nvPr/>
        </p:nvSpPr>
        <p:spPr>
          <a:xfrm>
            <a:off x="548640" y="1143000"/>
            <a:ext cx="54864" cy="621792"/>
          </a:xfrm>
          <a:prstGeom prst="rect">
            <a:avLst/>
          </a:prstGeom>
          <a:solidFill>
            <a:srgbClr val="0891B2"/>
          </a:solidFill>
          <a:ln/>
        </p:spPr>
        <p:txBody>
          <a:bodyPr/>
          <a:p/>
        </p:txBody>
      </p:sp>
      <p:sp>
        <p:nvSpPr>
          <p:cNvPr id="5" name="Text 3"/>
          <p:cNvSpPr/>
          <p:nvPr/>
        </p:nvSpPr>
        <p:spPr>
          <a:xfrm>
            <a:off x="777240" y="114300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1463040" y="114300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Copilots</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AI assists inside your existing tools — autocomplete in email, smart suggestions in spreadsheets, code completion in your IDE</a:t>
            </a:r>
            <a:endParaRPr lang="en-US" sz="1400" dirty="0"/>
          </a:p>
        </p:txBody>
      </p:sp>
      <p:sp>
        <p:nvSpPr>
          <p:cNvPr id="7" name="Shape 5"/>
          <p:cNvSpPr/>
          <p:nvPr/>
        </p:nvSpPr>
        <p:spPr>
          <a:xfrm>
            <a:off x="548640" y="187452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8" name="Shape 6"/>
          <p:cNvSpPr/>
          <p:nvPr/>
        </p:nvSpPr>
        <p:spPr>
          <a:xfrm>
            <a:off x="548640" y="1874520"/>
            <a:ext cx="54864" cy="621792"/>
          </a:xfrm>
          <a:prstGeom prst="rect">
            <a:avLst/>
          </a:prstGeom>
          <a:solidFill>
            <a:srgbClr val="0891B2"/>
          </a:solidFill>
          <a:ln/>
        </p:spPr>
        <p:txBody>
          <a:bodyPr/>
          <a:p/>
        </p:txBody>
      </p:sp>
      <p:sp>
        <p:nvSpPr>
          <p:cNvPr id="9" name="Text 7"/>
          <p:cNvSpPr/>
          <p:nvPr/>
        </p:nvSpPr>
        <p:spPr>
          <a:xfrm>
            <a:off x="777240" y="187452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02</a:t>
            </a:r>
            <a:endParaRPr lang="en-US" sz="2200" dirty="0"/>
          </a:p>
        </p:txBody>
      </p:sp>
      <p:sp>
        <p:nvSpPr>
          <p:cNvPr id="10" name="Text 8"/>
          <p:cNvSpPr/>
          <p:nvPr/>
        </p:nvSpPr>
        <p:spPr>
          <a:xfrm>
            <a:off x="1463040" y="187452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Chatbots</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Conversational interfaces that answer questions — customer FAQ bots, internal knowledge assistants, product lookup tools</a:t>
            </a:r>
            <a:endParaRPr lang="en-US" sz="1400" dirty="0"/>
          </a:p>
        </p:txBody>
      </p:sp>
      <p:sp>
        <p:nvSpPr>
          <p:cNvPr id="11" name="Shape 9"/>
          <p:cNvSpPr/>
          <p:nvPr/>
        </p:nvSpPr>
        <p:spPr>
          <a:xfrm>
            <a:off x="548640" y="260604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2" name="Shape 10"/>
          <p:cNvSpPr/>
          <p:nvPr/>
        </p:nvSpPr>
        <p:spPr>
          <a:xfrm>
            <a:off x="548640" y="2606040"/>
            <a:ext cx="54864" cy="621792"/>
          </a:xfrm>
          <a:prstGeom prst="rect">
            <a:avLst/>
          </a:prstGeom>
          <a:solidFill>
            <a:srgbClr val="0891B2"/>
          </a:solidFill>
          <a:ln/>
        </p:spPr>
        <p:txBody>
          <a:bodyPr/>
          <a:p/>
        </p:txBody>
      </p:sp>
      <p:sp>
        <p:nvSpPr>
          <p:cNvPr id="13" name="Text 11"/>
          <p:cNvSpPr/>
          <p:nvPr/>
        </p:nvSpPr>
        <p:spPr>
          <a:xfrm>
            <a:off x="777240" y="260604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03</a:t>
            </a:r>
            <a:endParaRPr lang="en-US" sz="2200" dirty="0"/>
          </a:p>
        </p:txBody>
      </p:sp>
      <p:sp>
        <p:nvSpPr>
          <p:cNvPr id="14" name="Text 12"/>
          <p:cNvSpPr/>
          <p:nvPr/>
        </p:nvSpPr>
        <p:spPr>
          <a:xfrm>
            <a:off x="1463040" y="260604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Automations</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Trigger-based workflows — new order comes in, AI generates invoice, updates inventory, notifies warehouse, emails confirmation</a:t>
            </a:r>
            <a:endParaRPr lang="en-US" sz="1400" dirty="0"/>
          </a:p>
        </p:txBody>
      </p:sp>
      <p:sp>
        <p:nvSpPr>
          <p:cNvPr id="15" name="Shape 13"/>
          <p:cNvSpPr/>
          <p:nvPr/>
        </p:nvSpPr>
        <p:spPr>
          <a:xfrm>
            <a:off x="548640" y="333756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6" name="Shape 14"/>
          <p:cNvSpPr/>
          <p:nvPr/>
        </p:nvSpPr>
        <p:spPr>
          <a:xfrm>
            <a:off x="548640" y="3337560"/>
            <a:ext cx="54864" cy="621792"/>
          </a:xfrm>
          <a:prstGeom prst="rect">
            <a:avLst/>
          </a:prstGeom>
          <a:solidFill>
            <a:srgbClr val="0891B2"/>
          </a:solidFill>
          <a:ln/>
        </p:spPr>
        <p:txBody>
          <a:bodyPr/>
          <a:p/>
        </p:txBody>
      </p:sp>
      <p:sp>
        <p:nvSpPr>
          <p:cNvPr id="17" name="Text 15"/>
          <p:cNvSpPr/>
          <p:nvPr/>
        </p:nvSpPr>
        <p:spPr>
          <a:xfrm>
            <a:off x="777240" y="333756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04</a:t>
            </a:r>
            <a:endParaRPr lang="en-US" sz="2200" dirty="0"/>
          </a:p>
        </p:txBody>
      </p:sp>
      <p:sp>
        <p:nvSpPr>
          <p:cNvPr id="18" name="Text 16"/>
          <p:cNvSpPr/>
          <p:nvPr/>
        </p:nvSpPr>
        <p:spPr>
          <a:xfrm>
            <a:off x="1463040" y="333756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Agents</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Autonomous AI that executes multi-step tasks — researches competitors, builds reports, writes and deploys code, manages pipelines</a:t>
            </a:r>
            <a:endParaRPr lang="en-US" sz="1400" dirty="0"/>
          </a:p>
        </p:txBody>
      </p:sp>
      <p:sp>
        <p:nvSpPr>
          <p:cNvPr id="19" name="Shape 17"/>
          <p:cNvSpPr/>
          <p:nvPr/>
        </p:nvSpPr>
        <p:spPr>
          <a:xfrm>
            <a:off x="548640" y="406908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20" name="Shape 18"/>
          <p:cNvSpPr/>
          <p:nvPr/>
        </p:nvSpPr>
        <p:spPr>
          <a:xfrm>
            <a:off x="548640" y="4069080"/>
            <a:ext cx="54864" cy="621792"/>
          </a:xfrm>
          <a:prstGeom prst="rect">
            <a:avLst/>
          </a:prstGeom>
          <a:solidFill>
            <a:srgbClr val="0891B2"/>
          </a:solidFill>
          <a:ln/>
        </p:spPr>
        <p:txBody>
          <a:bodyPr/>
          <a:p/>
        </p:txBody>
      </p:sp>
      <p:sp>
        <p:nvSpPr>
          <p:cNvPr id="21" name="Text 19"/>
          <p:cNvSpPr/>
          <p:nvPr/>
        </p:nvSpPr>
        <p:spPr>
          <a:xfrm>
            <a:off x="777240" y="406908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05</a:t>
            </a:r>
            <a:endParaRPr lang="en-US" sz="2200" dirty="0"/>
          </a:p>
        </p:txBody>
      </p:sp>
      <p:sp>
        <p:nvSpPr>
          <p:cNvPr id="22" name="Text 20"/>
          <p:cNvSpPr/>
          <p:nvPr/>
        </p:nvSpPr>
        <p:spPr>
          <a:xfrm>
            <a:off x="1463040" y="406908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Custom Apps</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Full software products built with AI — the wholesale portal we're building today is exactly this category</a:t>
            </a:r>
            <a:endParaRPr lang="en-US" sz="1400" dirty="0"/>
          </a:p>
        </p:txBody>
      </p:sp>
      <p:sp>
        <p:nvSpPr>
          <p:cNvPr id="23" name="Shape 21"/>
          <p:cNvSpPr/>
          <p:nvPr/>
        </p:nvSpPr>
        <p:spPr>
          <a:xfrm>
            <a:off x="548640" y="4732020"/>
            <a:ext cx="8046720" cy="0"/>
          </a:xfrm>
          <a:prstGeom prst="line">
            <a:avLst/>
          </a:prstGeom>
          <a:noFill/>
          <a:ln w="6350">
            <a:solidFill>
              <a:srgbClr val="E2E8F0"/>
            </a:solidFill>
            <a:prstDash val="solid"/>
          </a:ln>
        </p:spPr>
        <p:txBody>
          <a:bodyPr/>
          <a:p/>
        </p:txBody>
      </p:sp>
      <p:sp>
        <p:nvSpPr>
          <p:cNvPr id="24" name="Text 22"/>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25" name="Text 23"/>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12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AI Across the Wholesale Value Chain</a:t>
            </a:r>
            <a:endParaRPr lang="en-US" sz="3200" dirty="0"/>
          </a:p>
        </p:txBody>
      </p:sp>
      <p:sp>
        <p:nvSpPr>
          <p:cNvPr id="3" name="Shape 1"/>
          <p:cNvSpPr/>
          <p:nvPr/>
        </p:nvSpPr>
        <p:spPr>
          <a:xfrm>
            <a:off x="548640" y="10515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4" name="Shape 2"/>
          <p:cNvSpPr/>
          <p:nvPr/>
        </p:nvSpPr>
        <p:spPr>
          <a:xfrm>
            <a:off x="548640" y="1051560"/>
            <a:ext cx="45720" cy="1600200"/>
          </a:xfrm>
          <a:prstGeom prst="rect">
            <a:avLst/>
          </a:prstGeom>
          <a:solidFill>
            <a:srgbClr val="0891B2"/>
          </a:solidFill>
          <a:ln/>
        </p:spPr>
        <p:txBody>
          <a:bodyPr/>
          <a:p/>
        </p:txBody>
      </p:sp>
      <p:pic>
        <p:nvPicPr>
          <p:cNvPr id="5" name="Image 0" descr="preencoded.png">    </p:cNvPr>
          <p:cNvPicPr>
            <a:picLocks noChangeAspect="1"/>
          </p:cNvPicPr>
          <p:nvPr/>
        </p:nvPicPr>
        <p:blipFill>
          <a:blip r:embed="rId1"/>
          <a:stretch>
            <a:fillRect/>
          </a:stretch>
        </p:blipFill>
        <p:spPr>
          <a:xfrm>
            <a:off x="777240" y="1234440"/>
            <a:ext cx="365760" cy="365760"/>
          </a:xfrm>
          <a:prstGeom prst="rect">
            <a:avLst/>
          </a:prstGeom>
        </p:spPr>
      </p:pic>
      <p:sp>
        <p:nvSpPr>
          <p:cNvPr id="6" name="Text 3"/>
          <p:cNvSpPr/>
          <p:nvPr/>
        </p:nvSpPr>
        <p:spPr>
          <a:xfrm>
            <a:off x="1280160" y="11887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Inventory &amp; Demand</a:t>
            </a:r>
            <a:endParaRPr lang="en-US" sz="1400" dirty="0"/>
          </a:p>
        </p:txBody>
      </p:sp>
      <p:sp>
        <p:nvSpPr>
          <p:cNvPr id="7" name="Text 4"/>
          <p:cNvSpPr/>
          <p:nvPr/>
        </p:nvSpPr>
        <p:spPr>
          <a:xfrm>
            <a:off x="777240" y="16916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AI forecasts demand from historical sales patterns, auto-generates purchase orders, and flags slow-moving SKUs before they eat warehouse space.</a:t>
            </a:r>
            <a:endParaRPr lang="en-US" sz="1200" dirty="0"/>
          </a:p>
        </p:txBody>
      </p:sp>
      <p:sp>
        <p:nvSpPr>
          <p:cNvPr id="8" name="Shape 5"/>
          <p:cNvSpPr/>
          <p:nvPr/>
        </p:nvSpPr>
        <p:spPr>
          <a:xfrm>
            <a:off x="4686300" y="10515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9" name="Shape 6"/>
          <p:cNvSpPr/>
          <p:nvPr/>
        </p:nvSpPr>
        <p:spPr>
          <a:xfrm>
            <a:off x="4686300" y="1051560"/>
            <a:ext cx="45720" cy="1600200"/>
          </a:xfrm>
          <a:prstGeom prst="rect">
            <a:avLst/>
          </a:prstGeom>
          <a:solidFill>
            <a:srgbClr val="0891B2"/>
          </a:solidFill>
          <a:ln/>
        </p:spPr>
        <p:txBody>
          <a:bodyPr/>
          <a:p/>
        </p:txBody>
      </p:sp>
      <p:pic>
        <p:nvPicPr>
          <p:cNvPr id="10" name="Image 1" descr="preencoded.png">    </p:cNvPr>
          <p:cNvPicPr>
            <a:picLocks noChangeAspect="1"/>
          </p:cNvPicPr>
          <p:nvPr/>
        </p:nvPicPr>
        <p:blipFill>
          <a:blip r:embed="rId2"/>
          <a:stretch>
            <a:fillRect/>
          </a:stretch>
        </p:blipFill>
        <p:spPr>
          <a:xfrm>
            <a:off x="4914900" y="1234440"/>
            <a:ext cx="365760" cy="365760"/>
          </a:xfrm>
          <a:prstGeom prst="rect">
            <a:avLst/>
          </a:prstGeom>
        </p:spPr>
      </p:pic>
      <p:sp>
        <p:nvSpPr>
          <p:cNvPr id="11" name="Text 7"/>
          <p:cNvSpPr/>
          <p:nvPr/>
        </p:nvSpPr>
        <p:spPr>
          <a:xfrm>
            <a:off x="5417820" y="11887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Pricing &amp; Quoting</a:t>
            </a:r>
            <a:endParaRPr lang="en-US" sz="1400" dirty="0"/>
          </a:p>
        </p:txBody>
      </p:sp>
      <p:sp>
        <p:nvSpPr>
          <p:cNvPr id="12" name="Text 8"/>
          <p:cNvSpPr/>
          <p:nvPr/>
        </p:nvSpPr>
        <p:spPr>
          <a:xfrm>
            <a:off x="4914900" y="16916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Dynamic pricing engines adjust dealer tiers based on volume. AI drafts custom quotes in seconds using margin rules you define once.</a:t>
            </a:r>
            <a:endParaRPr lang="en-US" sz="1200" dirty="0"/>
          </a:p>
        </p:txBody>
      </p:sp>
      <p:sp>
        <p:nvSpPr>
          <p:cNvPr id="13" name="Shape 9"/>
          <p:cNvSpPr/>
          <p:nvPr/>
        </p:nvSpPr>
        <p:spPr>
          <a:xfrm>
            <a:off x="548640" y="28803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4" name="Shape 10"/>
          <p:cNvSpPr/>
          <p:nvPr/>
        </p:nvSpPr>
        <p:spPr>
          <a:xfrm>
            <a:off x="548640" y="2880360"/>
            <a:ext cx="45720" cy="1600200"/>
          </a:xfrm>
          <a:prstGeom prst="rect">
            <a:avLst/>
          </a:prstGeom>
          <a:solidFill>
            <a:srgbClr val="0891B2"/>
          </a:solidFill>
          <a:ln/>
        </p:spPr>
        <p:txBody>
          <a:bodyPr/>
          <a:p/>
        </p:txBody>
      </p:sp>
      <p:pic>
        <p:nvPicPr>
          <p:cNvPr id="15" name="Image 2" descr="preencoded.png">    </p:cNvPr>
          <p:cNvPicPr>
            <a:picLocks noChangeAspect="1"/>
          </p:cNvPicPr>
          <p:nvPr/>
        </p:nvPicPr>
        <p:blipFill>
          <a:blip r:embed="rId3"/>
          <a:stretch>
            <a:fillRect/>
          </a:stretch>
        </p:blipFill>
        <p:spPr>
          <a:xfrm>
            <a:off x="777240" y="3063240"/>
            <a:ext cx="365760" cy="365760"/>
          </a:xfrm>
          <a:prstGeom prst="rect">
            <a:avLst/>
          </a:prstGeom>
        </p:spPr>
      </p:pic>
      <p:sp>
        <p:nvSpPr>
          <p:cNvPr id="16" name="Text 11"/>
          <p:cNvSpPr/>
          <p:nvPr/>
        </p:nvSpPr>
        <p:spPr>
          <a:xfrm>
            <a:off x="1280160" y="30175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Logistics &amp; Fulfillment</a:t>
            </a:r>
            <a:endParaRPr lang="en-US" sz="1400" dirty="0"/>
          </a:p>
        </p:txBody>
      </p:sp>
      <p:sp>
        <p:nvSpPr>
          <p:cNvPr id="17" name="Text 12"/>
          <p:cNvSpPr/>
          <p:nvPr/>
        </p:nvSpPr>
        <p:spPr>
          <a:xfrm>
            <a:off x="777240" y="35204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Route optimization, shipment tracking summaries, and automated carrier selection. AI reads tracking updates and pushes status to your dealers.</a:t>
            </a:r>
            <a:endParaRPr lang="en-US" sz="1200" dirty="0"/>
          </a:p>
        </p:txBody>
      </p:sp>
      <p:sp>
        <p:nvSpPr>
          <p:cNvPr id="18" name="Shape 13"/>
          <p:cNvSpPr/>
          <p:nvPr/>
        </p:nvSpPr>
        <p:spPr>
          <a:xfrm>
            <a:off x="4686300" y="28803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9" name="Shape 14"/>
          <p:cNvSpPr/>
          <p:nvPr/>
        </p:nvSpPr>
        <p:spPr>
          <a:xfrm>
            <a:off x="4686300" y="2880360"/>
            <a:ext cx="45720" cy="1600200"/>
          </a:xfrm>
          <a:prstGeom prst="rect">
            <a:avLst/>
          </a:prstGeom>
          <a:solidFill>
            <a:srgbClr val="0891B2"/>
          </a:solidFill>
          <a:ln/>
        </p:spPr>
        <p:txBody>
          <a:bodyPr/>
          <a:p/>
        </p:txBody>
      </p:sp>
      <p:pic>
        <p:nvPicPr>
          <p:cNvPr id="20" name="Image 3" descr="preencoded.png">    </p:cNvPr>
          <p:cNvPicPr>
            <a:picLocks noChangeAspect="1"/>
          </p:cNvPicPr>
          <p:nvPr/>
        </p:nvPicPr>
        <p:blipFill>
          <a:blip r:embed="rId4"/>
          <a:stretch>
            <a:fillRect/>
          </a:stretch>
        </p:blipFill>
        <p:spPr>
          <a:xfrm>
            <a:off x="4914900" y="3063240"/>
            <a:ext cx="365760" cy="365760"/>
          </a:xfrm>
          <a:prstGeom prst="rect">
            <a:avLst/>
          </a:prstGeom>
        </p:spPr>
      </p:pic>
      <p:sp>
        <p:nvSpPr>
          <p:cNvPr id="21" name="Text 15"/>
          <p:cNvSpPr/>
          <p:nvPr/>
        </p:nvSpPr>
        <p:spPr>
          <a:xfrm>
            <a:off x="5417820" y="30175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Dealer Support</a:t>
            </a:r>
            <a:endParaRPr lang="en-US" sz="1400" dirty="0"/>
          </a:p>
        </p:txBody>
      </p:sp>
      <p:sp>
        <p:nvSpPr>
          <p:cNvPr id="22" name="Text 16"/>
          <p:cNvSpPr/>
          <p:nvPr/>
        </p:nvSpPr>
        <p:spPr>
          <a:xfrm>
            <a:off x="4914900" y="35204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AI-powered knowledge bases answer dealer questions 24/7 — order status, return policies, product specs — without your team lifting a finger.</a:t>
            </a:r>
            <a:endParaRPr lang="en-US" sz="1200" dirty="0"/>
          </a:p>
        </p:txBody>
      </p:sp>
      <p:sp>
        <p:nvSpPr>
          <p:cNvPr id="23" name="Shape 17"/>
          <p:cNvSpPr/>
          <p:nvPr/>
        </p:nvSpPr>
        <p:spPr>
          <a:xfrm>
            <a:off x="548640" y="4732020"/>
            <a:ext cx="8046720" cy="0"/>
          </a:xfrm>
          <a:prstGeom prst="line">
            <a:avLst/>
          </a:prstGeom>
          <a:noFill/>
          <a:ln w="6350">
            <a:solidFill>
              <a:srgbClr val="E2E8F0"/>
            </a:solidFill>
            <a:prstDash val="solid"/>
          </a:ln>
        </p:spPr>
        <p:txBody>
          <a:bodyPr/>
          <a:p/>
        </p:txBody>
      </p:sp>
      <p:sp>
        <p:nvSpPr>
          <p:cNvPr id="24" name="Text 18"/>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25" name="Text 19"/>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13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Your Industry With and Without AI</a:t>
            </a:r>
            <a:endParaRPr lang="en-US" sz="3200" dirty="0"/>
          </a:p>
        </p:txBody>
      </p:sp>
      <p:sp>
        <p:nvSpPr>
          <p:cNvPr id="3" name="Shape 1"/>
          <p:cNvSpPr/>
          <p:nvPr/>
        </p:nvSpPr>
        <p:spPr>
          <a:xfrm>
            <a:off x="548640" y="1143000"/>
            <a:ext cx="3863340" cy="3108960"/>
          </a:xfrm>
          <a:prstGeom prst="roundedRectangle">
            <a:avLst>
              <a:gd name="adj" fmla="val 2353"/>
            </a:avLst>
          </a:prstGeom>
          <a:solidFill>
            <a:srgbClr val="FEF2F2"/>
          </a:solidFill>
          <a:ln/>
        </p:spPr>
        <p:txBody>
          <a:bodyPr/>
          <a:p/>
        </p:txBody>
      </p:sp>
      <p:sp>
        <p:nvSpPr>
          <p:cNvPr id="4" name="Text 2"/>
          <p:cNvSpPr/>
          <p:nvPr/>
        </p:nvSpPr>
        <p:spPr>
          <a:xfrm>
            <a:off x="822960" y="1252728"/>
            <a:ext cx="3314700" cy="274320"/>
          </a:xfrm>
          <a:prstGeom prst="rect">
            <a:avLst/>
          </a:prstGeom>
          <a:noFill/>
          <a:ln/>
        </p:spPr>
        <p:txBody>
          <a:bodyPr wrap="square" lIns="0" tIns="0" rIns="0" bIns="0" rtlCol="0" anchor="ctr"/>
          <a:lstStyle/>
          <a:p>
            <a:pPr indent="0" marL="0">
              <a:buNone/>
            </a:pPr>
            <a:r>
              <a:rPr lang="en-US" sz="1200" b="1" spc="200" kern="0" dirty="0">
                <a:solidFill>
                  <a:srgbClr val="EF4444"/>
                </a:solidFill>
                <a:latin typeface="Calibri" pitchFamily="34" charset="0"/>
                <a:ea typeface="Calibri" pitchFamily="34" charset="-122"/>
                <a:cs typeface="Calibri" pitchFamily="34" charset="-120"/>
              </a:rPr>
              <a:t>MANUAL (TODAY)</a:t>
            </a:r>
            <a:endParaRPr lang="en-US" sz="1200" dirty="0"/>
          </a:p>
        </p:txBody>
      </p:sp>
      <p:sp>
        <p:nvSpPr>
          <p:cNvPr id="5" name="Text 3"/>
          <p:cNvSpPr/>
          <p:nvPr/>
        </p:nvSpPr>
        <p:spPr>
          <a:xfrm>
            <a:off x="822960" y="1600200"/>
            <a:ext cx="3314700" cy="25146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Sales rep manually checks stock levels across 3 spreadsheets before quoting a dealer</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Returns processed by hand — someone reads the email, checks the policy, fills out the form</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Monthly reports take 2 days to compile from multiple sources into a slide deck</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New product listings require manual data entry across website, ERP, and catalog PDFs</a:t>
            </a:r>
            <a:endParaRPr lang="en-US" sz="1200" dirty="0"/>
          </a:p>
        </p:txBody>
      </p:sp>
      <p:sp>
        <p:nvSpPr>
          <p:cNvPr id="6" name="Shape 4"/>
          <p:cNvSpPr/>
          <p:nvPr/>
        </p:nvSpPr>
        <p:spPr>
          <a:xfrm>
            <a:off x="4732020" y="1143000"/>
            <a:ext cx="3863340" cy="3108960"/>
          </a:xfrm>
          <a:prstGeom prst="roundedRectangle">
            <a:avLst>
              <a:gd name="adj" fmla="val 2353"/>
            </a:avLst>
          </a:prstGeom>
          <a:solidFill>
            <a:srgbClr val="ECFDF5"/>
          </a:solidFill>
          <a:ln/>
        </p:spPr>
        <p:txBody>
          <a:bodyPr/>
          <a:p/>
        </p:txBody>
      </p:sp>
      <p:sp>
        <p:nvSpPr>
          <p:cNvPr id="7" name="Text 5"/>
          <p:cNvSpPr/>
          <p:nvPr/>
        </p:nvSpPr>
        <p:spPr>
          <a:xfrm>
            <a:off x="5006340" y="1252728"/>
            <a:ext cx="3314700" cy="274320"/>
          </a:xfrm>
          <a:prstGeom prst="rect">
            <a:avLst/>
          </a:prstGeom>
          <a:noFill/>
          <a:ln/>
        </p:spPr>
        <p:txBody>
          <a:bodyPr wrap="square" lIns="0" tIns="0" rIns="0" bIns="0" rtlCol="0" anchor="ctr"/>
          <a:lstStyle/>
          <a:p>
            <a:pPr indent="0" marL="0">
              <a:buNone/>
            </a:pPr>
            <a:r>
              <a:rPr lang="en-US" sz="1200" b="1" spc="200" kern="0" dirty="0">
                <a:solidFill>
                  <a:srgbClr val="10B981"/>
                </a:solidFill>
                <a:latin typeface="Calibri" pitchFamily="34" charset="0"/>
                <a:ea typeface="Calibri" pitchFamily="34" charset="-122"/>
                <a:cs typeface="Calibri" pitchFamily="34" charset="-120"/>
              </a:rPr>
              <a:t>AI-AUGMENTED (TOMORROW)</a:t>
            </a:r>
            <a:endParaRPr lang="en-US" sz="1200" dirty="0"/>
          </a:p>
        </p:txBody>
      </p:sp>
      <p:sp>
        <p:nvSpPr>
          <p:cNvPr id="8" name="Text 6"/>
          <p:cNvSpPr/>
          <p:nvPr/>
        </p:nvSpPr>
        <p:spPr>
          <a:xfrm>
            <a:off x="5006340" y="1600200"/>
            <a:ext cx="3314700" cy="25146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Dealer self-serves: portal checks real-time inventory, applies tier pricing, generates quote instantly</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AI reads the return request, checks policy rules, auto-approves or escalates with a reason</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AI pulls data from all sources, generates the report, and emails it every Monday morning</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Upload a spec sheet — AI extracts product data, creates listings, and syncs across all systems</a:t>
            </a:r>
            <a:endParaRPr lang="en-US" sz="1200" dirty="0"/>
          </a:p>
        </p:txBody>
      </p:sp>
      <p:sp>
        <p:nvSpPr>
          <p:cNvPr id="9" name="Shape 7"/>
          <p:cNvSpPr/>
          <p:nvPr/>
        </p:nvSpPr>
        <p:spPr>
          <a:xfrm>
            <a:off x="548640" y="4732020"/>
            <a:ext cx="8046720" cy="0"/>
          </a:xfrm>
          <a:prstGeom prst="line">
            <a:avLst/>
          </a:prstGeom>
          <a:noFill/>
          <a:ln w="6350">
            <a:solidFill>
              <a:srgbClr val="E2E8F0"/>
            </a:solidFill>
            <a:prstDash val="solid"/>
          </a:ln>
        </p:spPr>
        <p:txBody>
          <a:bodyPr/>
          <a:p/>
        </p:txBody>
      </p:sp>
      <p:sp>
        <p:nvSpPr>
          <p:cNvPr id="10" name="Text 8"/>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1" name="Text 9"/>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14</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Connecting AI to Your Business Tools</a:t>
            </a:r>
            <a:endParaRPr lang="en-US" sz="3200" dirty="0"/>
          </a:p>
        </p:txBody>
      </p:sp>
      <p:sp>
        <p:nvSpPr>
          <p:cNvPr id="3" name="Shape 1"/>
          <p:cNvSpPr/>
          <p:nvPr/>
        </p:nvSpPr>
        <p:spPr>
          <a:xfrm>
            <a:off x="548640" y="914400"/>
            <a:ext cx="548640" cy="36576"/>
          </a:xfrm>
          <a:prstGeom prst="rect">
            <a:avLst/>
          </a:prstGeom>
          <a:solidFill>
            <a:srgbClr val="0891B2"/>
          </a:solidFill>
          <a:ln/>
        </p:spPr>
        <p:txBody>
          <a:bodyPr/>
          <a:p/>
        </p:txBody>
      </p:sp>
      <p:sp>
        <p:nvSpPr>
          <p:cNvPr id="4" name="Text 2"/>
          <p:cNvSpPr/>
          <p:nvPr/>
        </p:nvSpPr>
        <p:spPr>
          <a:xfrm>
            <a:off x="548640" y="1143000"/>
            <a:ext cx="4667098" cy="777240"/>
          </a:xfrm>
          <a:prstGeom prst="rect">
            <a:avLst/>
          </a:prstGeom>
          <a:noFill/>
          <a:ln/>
        </p:spPr>
        <p:txBody>
          <a:bodyPr wrap="square" lIns="0" tIns="0" rIns="0" bIns="0" rtlCol="0" anchor="ctr">
            <a:normAutofit/>
          </a:bodyPr>
          <a:lstStyle/>
          <a:p>
            <a:pPr indent="0" marL="0">
              <a:lnSpc>
                <a:spcPct val="125000"/>
              </a:lnSpc>
              <a:buNone/>
            </a:pPr>
            <a:r>
              <a:rPr lang="en-US" sz="1400" dirty="0">
                <a:solidFill>
                  <a:srgbClr val="4A5568"/>
                </a:solidFill>
                <a:latin typeface="Calibri Light" pitchFamily="34" charset="0"/>
                <a:ea typeface="Calibri Light" pitchFamily="34" charset="-122"/>
                <a:cs typeface="Calibri Light" pitchFamily="34" charset="-120"/>
              </a:rPr>
              <a:t>MCP (Model Context Protocol) lets AI plug directly into the tools you already use. No copy-pasting — AI reads, writes, and acts inside your real systems.</a:t>
            </a:r>
            <a:endParaRPr lang="en-US" sz="1400" dirty="0"/>
          </a:p>
        </p:txBody>
      </p:sp>
      <p:sp>
        <p:nvSpPr>
          <p:cNvPr id="5" name="Text 3"/>
          <p:cNvSpPr/>
          <p:nvPr/>
        </p:nvSpPr>
        <p:spPr>
          <a:xfrm>
            <a:off x="548640" y="2286000"/>
            <a:ext cx="4667098" cy="19659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Google Drive: AI searches your docs, reads spreadsheets, creates files directly in shared folders</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Gmail + Calendar: AI drafts replies, schedules meetings, summarizes threads — all from a single prompt</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Slack: AI monitors channels, answers questions from your knowledge base, posts updates automatically</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CRM + ERP: AI pulls customer records, updates deal stages, generates reports from live data</a:t>
            </a:r>
            <a:endParaRPr lang="en-US" sz="1400" dirty="0"/>
          </a:p>
        </p:txBody>
      </p:sp>
      <p:sp>
        <p:nvSpPr>
          <p:cNvPr id="6" name="Shape 4"/>
          <p:cNvSpPr/>
          <p:nvPr/>
        </p:nvSpPr>
        <p:spPr>
          <a:xfrm>
            <a:off x="5672938" y="1143000"/>
            <a:ext cx="2922422" cy="2926080"/>
          </a:xfrm>
          <a:prstGeom prst="roundedRectangle">
            <a:avLst>
              <a:gd name="adj" fmla="val 250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7" name="Image 0" descr="preencoded.png">    </p:cNvPr>
          <p:cNvPicPr>
            <a:picLocks noChangeAspect="1"/>
          </p:cNvPicPr>
          <p:nvPr/>
        </p:nvPicPr>
        <p:blipFill>
          <a:blip r:embed="rId1"/>
          <a:stretch>
            <a:fillRect/>
          </a:stretch>
        </p:blipFill>
        <p:spPr>
          <a:xfrm>
            <a:off x="6676949" y="2148840"/>
            <a:ext cx="914400" cy="914400"/>
          </a:xfrm>
          <a:prstGeom prst="rect">
            <a:avLst/>
          </a:prstGeom>
        </p:spPr>
      </p:pic>
      <p:sp>
        <p:nvSpPr>
          <p:cNvPr id="8" name="Shape 5"/>
          <p:cNvSpPr/>
          <p:nvPr/>
        </p:nvSpPr>
        <p:spPr>
          <a:xfrm>
            <a:off x="548640" y="4732020"/>
            <a:ext cx="8046720" cy="0"/>
          </a:xfrm>
          <a:prstGeom prst="line">
            <a:avLst/>
          </a:prstGeom>
          <a:noFill/>
          <a:ln w="6350">
            <a:solidFill>
              <a:srgbClr val="E2E8F0"/>
            </a:solidFill>
            <a:prstDash val="solid"/>
          </a:ln>
        </p:spPr>
        <p:txBody>
          <a:bodyPr/>
          <a:p/>
        </p:txBody>
      </p:sp>
      <p:sp>
        <p:nvSpPr>
          <p:cNvPr id="9" name="Text 6"/>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0" name="Text 7"/>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15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MCP in Action — A Real Business Workflow</a:t>
            </a:r>
            <a:endParaRPr lang="en-US" sz="3200" dirty="0"/>
          </a:p>
        </p:txBody>
      </p:sp>
      <p:sp>
        <p:nvSpPr>
          <p:cNvPr id="3" name="Shape 1"/>
          <p:cNvSpPr/>
          <p:nvPr/>
        </p:nvSpPr>
        <p:spPr>
          <a:xfrm>
            <a:off x="548640" y="114300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4" name="Shape 2"/>
          <p:cNvSpPr/>
          <p:nvPr/>
        </p:nvSpPr>
        <p:spPr>
          <a:xfrm>
            <a:off x="548640" y="1143000"/>
            <a:ext cx="54864" cy="621792"/>
          </a:xfrm>
          <a:prstGeom prst="rect">
            <a:avLst/>
          </a:prstGeom>
          <a:solidFill>
            <a:srgbClr val="0891B2"/>
          </a:solidFill>
          <a:ln/>
        </p:spPr>
        <p:txBody>
          <a:bodyPr/>
          <a:p/>
        </p:txBody>
      </p:sp>
      <p:sp>
        <p:nvSpPr>
          <p:cNvPr id="5" name="Text 3"/>
          <p:cNvSpPr/>
          <p:nvPr/>
        </p:nvSpPr>
        <p:spPr>
          <a:xfrm>
            <a:off x="777240" y="114300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1463040" y="114300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You ask Claude:</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"Summarize this week's dealer orders from Google Sheets and draft a restock email to our top 3 suppliers."</a:t>
            </a:r>
            <a:endParaRPr lang="en-US" sz="1400" dirty="0"/>
          </a:p>
        </p:txBody>
      </p:sp>
      <p:sp>
        <p:nvSpPr>
          <p:cNvPr id="7" name="Shape 5"/>
          <p:cNvSpPr/>
          <p:nvPr/>
        </p:nvSpPr>
        <p:spPr>
          <a:xfrm>
            <a:off x="548640" y="187452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8" name="Shape 6"/>
          <p:cNvSpPr/>
          <p:nvPr/>
        </p:nvSpPr>
        <p:spPr>
          <a:xfrm>
            <a:off x="548640" y="1874520"/>
            <a:ext cx="54864" cy="621792"/>
          </a:xfrm>
          <a:prstGeom prst="rect">
            <a:avLst/>
          </a:prstGeom>
          <a:solidFill>
            <a:srgbClr val="0891B2"/>
          </a:solidFill>
          <a:ln/>
        </p:spPr>
        <p:txBody>
          <a:bodyPr/>
          <a:p/>
        </p:txBody>
      </p:sp>
      <p:sp>
        <p:nvSpPr>
          <p:cNvPr id="9" name="Text 7"/>
          <p:cNvSpPr/>
          <p:nvPr/>
        </p:nvSpPr>
        <p:spPr>
          <a:xfrm>
            <a:off x="777240" y="187452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02</a:t>
            </a:r>
            <a:endParaRPr lang="en-US" sz="2200" dirty="0"/>
          </a:p>
        </p:txBody>
      </p:sp>
      <p:sp>
        <p:nvSpPr>
          <p:cNvPr id="10" name="Text 8"/>
          <p:cNvSpPr/>
          <p:nvPr/>
        </p:nvSpPr>
        <p:spPr>
          <a:xfrm>
            <a:off x="1463040" y="187452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Google Drive MCP fires</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AI opens your Orders sheet, filters this week's rows, calculates totals by supplier and flags low-stock SKUs</a:t>
            </a:r>
            <a:endParaRPr lang="en-US" sz="1400" dirty="0"/>
          </a:p>
        </p:txBody>
      </p:sp>
      <p:sp>
        <p:nvSpPr>
          <p:cNvPr id="11" name="Shape 9"/>
          <p:cNvSpPr/>
          <p:nvPr/>
        </p:nvSpPr>
        <p:spPr>
          <a:xfrm>
            <a:off x="548640" y="260604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2" name="Shape 10"/>
          <p:cNvSpPr/>
          <p:nvPr/>
        </p:nvSpPr>
        <p:spPr>
          <a:xfrm>
            <a:off x="548640" y="2606040"/>
            <a:ext cx="54864" cy="621792"/>
          </a:xfrm>
          <a:prstGeom prst="rect">
            <a:avLst/>
          </a:prstGeom>
          <a:solidFill>
            <a:srgbClr val="0891B2"/>
          </a:solidFill>
          <a:ln/>
        </p:spPr>
        <p:txBody>
          <a:bodyPr/>
          <a:p/>
        </p:txBody>
      </p:sp>
      <p:sp>
        <p:nvSpPr>
          <p:cNvPr id="13" name="Text 11"/>
          <p:cNvSpPr/>
          <p:nvPr/>
        </p:nvSpPr>
        <p:spPr>
          <a:xfrm>
            <a:off x="777240" y="260604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03</a:t>
            </a:r>
            <a:endParaRPr lang="en-US" sz="2200" dirty="0"/>
          </a:p>
        </p:txBody>
      </p:sp>
      <p:sp>
        <p:nvSpPr>
          <p:cNvPr id="14" name="Text 12"/>
          <p:cNvSpPr/>
          <p:nvPr/>
        </p:nvSpPr>
        <p:spPr>
          <a:xfrm>
            <a:off x="1463040" y="260604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AI drafts 3 emails</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Pulls supplier contacts from your CRM, writes personalized restock requests with quantities and urgency levels</a:t>
            </a:r>
            <a:endParaRPr lang="en-US" sz="1400" dirty="0"/>
          </a:p>
        </p:txBody>
      </p:sp>
      <p:sp>
        <p:nvSpPr>
          <p:cNvPr id="15" name="Shape 13"/>
          <p:cNvSpPr/>
          <p:nvPr/>
        </p:nvSpPr>
        <p:spPr>
          <a:xfrm>
            <a:off x="548640" y="333756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6" name="Shape 14"/>
          <p:cNvSpPr/>
          <p:nvPr/>
        </p:nvSpPr>
        <p:spPr>
          <a:xfrm>
            <a:off x="548640" y="3337560"/>
            <a:ext cx="54864" cy="621792"/>
          </a:xfrm>
          <a:prstGeom prst="rect">
            <a:avLst/>
          </a:prstGeom>
          <a:solidFill>
            <a:srgbClr val="0891B2"/>
          </a:solidFill>
          <a:ln/>
        </p:spPr>
        <p:txBody>
          <a:bodyPr/>
          <a:p/>
        </p:txBody>
      </p:sp>
      <p:sp>
        <p:nvSpPr>
          <p:cNvPr id="17" name="Text 15"/>
          <p:cNvSpPr/>
          <p:nvPr/>
        </p:nvSpPr>
        <p:spPr>
          <a:xfrm>
            <a:off x="777240" y="333756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04</a:t>
            </a:r>
            <a:endParaRPr lang="en-US" sz="2200" dirty="0"/>
          </a:p>
        </p:txBody>
      </p:sp>
      <p:sp>
        <p:nvSpPr>
          <p:cNvPr id="18" name="Text 16"/>
          <p:cNvSpPr/>
          <p:nvPr/>
        </p:nvSpPr>
        <p:spPr>
          <a:xfrm>
            <a:off x="1463040" y="333756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You review and send</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AI drops the drafts into Gmail. One click to send. Updates your tracking sheet with "PO Sent" status automatically.</a:t>
            </a:r>
            <a:endParaRPr lang="en-US" sz="1400" dirty="0"/>
          </a:p>
        </p:txBody>
      </p:sp>
      <p:sp>
        <p:nvSpPr>
          <p:cNvPr id="19" name="Shape 17"/>
          <p:cNvSpPr/>
          <p:nvPr/>
        </p:nvSpPr>
        <p:spPr>
          <a:xfrm>
            <a:off x="548640" y="4732020"/>
            <a:ext cx="8046720" cy="0"/>
          </a:xfrm>
          <a:prstGeom prst="line">
            <a:avLst/>
          </a:prstGeom>
          <a:noFill/>
          <a:ln w="6350">
            <a:solidFill>
              <a:srgbClr val="E2E8F0"/>
            </a:solidFill>
            <a:prstDash val="solid"/>
          </a:ln>
        </p:spPr>
        <p:txBody>
          <a:bodyPr/>
          <a:p/>
        </p:txBody>
      </p:sp>
      <p:sp>
        <p:nvSpPr>
          <p:cNvPr id="20" name="Text 18"/>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21" name="Text 19"/>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16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Quick Wins You Can Start This Week</a:t>
            </a:r>
            <a:endParaRPr lang="en-US" sz="3200" dirty="0"/>
          </a:p>
        </p:txBody>
      </p:sp>
      <p:sp>
        <p:nvSpPr>
          <p:cNvPr id="3" name="Shape 1"/>
          <p:cNvSpPr/>
          <p:nvPr/>
        </p:nvSpPr>
        <p:spPr>
          <a:xfrm>
            <a:off x="54864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4" name="Image 0" descr="preencoded.png">    </p:cNvPr>
          <p:cNvPicPr>
            <a:picLocks noChangeAspect="1"/>
          </p:cNvPicPr>
          <p:nvPr/>
        </p:nvPicPr>
        <p:blipFill>
          <a:blip r:embed="rId1"/>
          <a:stretch>
            <a:fillRect/>
          </a:stretch>
        </p:blipFill>
        <p:spPr>
          <a:xfrm>
            <a:off x="1554480" y="1463040"/>
            <a:ext cx="457200" cy="457200"/>
          </a:xfrm>
          <a:prstGeom prst="rect">
            <a:avLst/>
          </a:prstGeom>
        </p:spPr>
      </p:pic>
      <p:sp>
        <p:nvSpPr>
          <p:cNvPr id="5" name="Text 2"/>
          <p:cNvSpPr/>
          <p:nvPr/>
        </p:nvSpPr>
        <p:spPr>
          <a:xfrm>
            <a:off x="82296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Email Drafting</a:t>
            </a:r>
            <a:endParaRPr lang="en-US" sz="1600" dirty="0"/>
          </a:p>
        </p:txBody>
      </p:sp>
      <p:sp>
        <p:nvSpPr>
          <p:cNvPr id="6" name="Text 3"/>
          <p:cNvSpPr/>
          <p:nvPr/>
        </p:nvSpPr>
        <p:spPr>
          <a:xfrm>
            <a:off x="82296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Paste a dealer inquiry into ChatGPT. Ask it to draft a reply using your pricing rules and return policy. Review, send. 5 min saved per email, dozens per day.</a:t>
            </a:r>
            <a:endParaRPr lang="en-US" sz="1200" dirty="0"/>
          </a:p>
        </p:txBody>
      </p:sp>
      <p:sp>
        <p:nvSpPr>
          <p:cNvPr id="7" name="Shape 4"/>
          <p:cNvSpPr/>
          <p:nvPr/>
        </p:nvSpPr>
        <p:spPr>
          <a:xfrm>
            <a:off x="333756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8" name="Image 1" descr="preencoded.png">    </p:cNvPr>
          <p:cNvPicPr>
            <a:picLocks noChangeAspect="1"/>
          </p:cNvPicPr>
          <p:nvPr/>
        </p:nvPicPr>
        <p:blipFill>
          <a:blip r:embed="rId2"/>
          <a:stretch>
            <a:fillRect/>
          </a:stretch>
        </p:blipFill>
        <p:spPr>
          <a:xfrm>
            <a:off x="4343400" y="1463040"/>
            <a:ext cx="457200" cy="457200"/>
          </a:xfrm>
          <a:prstGeom prst="rect">
            <a:avLst/>
          </a:prstGeom>
        </p:spPr>
      </p:pic>
      <p:sp>
        <p:nvSpPr>
          <p:cNvPr id="9" name="Text 5"/>
          <p:cNvSpPr/>
          <p:nvPr/>
        </p:nvSpPr>
        <p:spPr>
          <a:xfrm>
            <a:off x="361188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Report Generation</a:t>
            </a:r>
            <a:endParaRPr lang="en-US" sz="1600" dirty="0"/>
          </a:p>
        </p:txBody>
      </p:sp>
      <p:sp>
        <p:nvSpPr>
          <p:cNvPr id="10" name="Text 6"/>
          <p:cNvSpPr/>
          <p:nvPr/>
        </p:nvSpPr>
        <p:spPr>
          <a:xfrm>
            <a:off x="361188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Upload last month's sales CSV. Ask AI to identify top 10 SKUs by margin, flag underperformers, and suggest which products to push next quarter.</a:t>
            </a:r>
            <a:endParaRPr lang="en-US" sz="1200" dirty="0"/>
          </a:p>
        </p:txBody>
      </p:sp>
      <p:sp>
        <p:nvSpPr>
          <p:cNvPr id="11" name="Shape 7"/>
          <p:cNvSpPr/>
          <p:nvPr/>
        </p:nvSpPr>
        <p:spPr>
          <a:xfrm>
            <a:off x="612648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12" name="Image 2" descr="preencoded.png">    </p:cNvPr>
          <p:cNvPicPr>
            <a:picLocks noChangeAspect="1"/>
          </p:cNvPicPr>
          <p:nvPr/>
        </p:nvPicPr>
        <p:blipFill>
          <a:blip r:embed="rId3"/>
          <a:stretch>
            <a:fillRect/>
          </a:stretch>
        </p:blipFill>
        <p:spPr>
          <a:xfrm>
            <a:off x="7132320" y="1463040"/>
            <a:ext cx="457200" cy="457200"/>
          </a:xfrm>
          <a:prstGeom prst="rect">
            <a:avLst/>
          </a:prstGeom>
        </p:spPr>
      </p:pic>
      <p:sp>
        <p:nvSpPr>
          <p:cNvPr id="13" name="Text 8"/>
          <p:cNvSpPr/>
          <p:nvPr/>
        </p:nvSpPr>
        <p:spPr>
          <a:xfrm>
            <a:off x="640080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SOP Docs</a:t>
            </a:r>
            <a:endParaRPr lang="en-US" sz="1600" dirty="0"/>
          </a:p>
        </p:txBody>
      </p:sp>
      <p:sp>
        <p:nvSpPr>
          <p:cNvPr id="14" name="Text 9"/>
          <p:cNvSpPr/>
          <p:nvPr/>
        </p:nvSpPr>
        <p:spPr>
          <a:xfrm>
            <a:off x="640080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Describe your warehouse process out loud using Whisper Flow. AI turns your voice into a step-by-step SOP with checklists. Done in 10 minutes.</a:t>
            </a:r>
            <a:endParaRPr lang="en-US" sz="1200" dirty="0"/>
          </a:p>
        </p:txBody>
      </p:sp>
      <p:sp>
        <p:nvSpPr>
          <p:cNvPr id="15" name="Shape 10"/>
          <p:cNvSpPr/>
          <p:nvPr/>
        </p:nvSpPr>
        <p:spPr>
          <a:xfrm>
            <a:off x="548640" y="4732020"/>
            <a:ext cx="8046720" cy="0"/>
          </a:xfrm>
          <a:prstGeom prst="line">
            <a:avLst/>
          </a:prstGeom>
          <a:noFill/>
          <a:ln w="6350">
            <a:solidFill>
              <a:srgbClr val="E2E8F0"/>
            </a:solidFill>
            <a:prstDash val="solid"/>
          </a:ln>
        </p:spPr>
        <p:txBody>
          <a:bodyPr/>
          <a:p/>
        </p:txBody>
      </p:sp>
      <p:sp>
        <p:nvSpPr>
          <p:cNvPr id="16" name="Text 11"/>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7" name="Text 12"/>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17</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77240" y="1188720"/>
            <a:ext cx="5486400" cy="320040"/>
          </a:xfrm>
          <a:prstGeom prst="rect">
            <a:avLst/>
          </a:prstGeom>
          <a:noFill/>
          <a:ln/>
        </p:spPr>
        <p:txBody>
          <a:bodyPr wrap="square" lIns="0" tIns="0" rIns="0" bIns="0" rtlCol="0" anchor="ctr"/>
          <a:lstStyle/>
          <a:p>
            <a:pPr indent="0" marL="0">
              <a:buNone/>
            </a:pPr>
            <a:r>
              <a:rPr lang="en-US" sz="1100" b="1" spc="400" kern="0" dirty="0">
                <a:solidFill>
                  <a:srgbClr val="0891B2"/>
                </a:solidFill>
                <a:latin typeface="Calibri" pitchFamily="34" charset="0"/>
                <a:ea typeface="Calibri" pitchFamily="34" charset="-122"/>
                <a:cs typeface="Calibri" pitchFamily="34" charset="-120"/>
              </a:rPr>
              <a:t>SECTION 03</a:t>
            </a:r>
            <a:endParaRPr lang="en-US" sz="1100" dirty="0"/>
          </a:p>
        </p:txBody>
      </p:sp>
      <p:sp>
        <p:nvSpPr>
          <p:cNvPr id="3" name="Shape 1"/>
          <p:cNvSpPr/>
          <p:nvPr/>
        </p:nvSpPr>
        <p:spPr>
          <a:xfrm>
            <a:off x="777240" y="1600200"/>
            <a:ext cx="731520" cy="36576"/>
          </a:xfrm>
          <a:prstGeom prst="rect">
            <a:avLst/>
          </a:prstGeom>
          <a:solidFill>
            <a:srgbClr val="0891B2"/>
          </a:solidFill>
          <a:ln/>
        </p:spPr>
        <p:txBody>
          <a:bodyPr/>
          <a:p/>
        </p:txBody>
      </p:sp>
      <p:sp>
        <p:nvSpPr>
          <p:cNvPr id="4" name="Text 2"/>
          <p:cNvSpPr/>
          <p:nvPr/>
        </p:nvSpPr>
        <p:spPr>
          <a:xfrm>
            <a:off x="777240" y="1783080"/>
            <a:ext cx="7315200" cy="9144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PROMPT ENGINEERING</a:t>
            </a:r>
            <a:endParaRPr lang="en-US" sz="3000" dirty="0"/>
          </a:p>
        </p:txBody>
      </p:sp>
      <p:sp>
        <p:nvSpPr>
          <p:cNvPr id="5" name="Text 3"/>
          <p:cNvSpPr/>
          <p:nvPr/>
        </p:nvSpPr>
        <p:spPr>
          <a:xfrm>
            <a:off x="777240" y="2697480"/>
            <a:ext cx="6400800" cy="457200"/>
          </a:xfrm>
          <a:prstGeom prst="rect">
            <a:avLst/>
          </a:prstGeom>
          <a:noFill/>
          <a:ln/>
        </p:spPr>
        <p:txBody>
          <a:bodyPr wrap="square" lIns="0" tIns="0" rIns="0" bIns="0" rtlCol="0" anchor="ctr"/>
          <a:lstStyle/>
          <a:p>
            <a:pPr indent="0" marL="0">
              <a:buNone/>
            </a:pPr>
            <a:r>
              <a:rPr lang="en-US" sz="1800" dirty="0">
                <a:solidFill>
                  <a:srgbClr val="94A3B8"/>
                </a:solidFill>
                <a:latin typeface="Calibri Light" pitchFamily="34" charset="0"/>
                <a:ea typeface="Calibri Light" pitchFamily="34" charset="-122"/>
                <a:cs typeface="Calibri Light" pitchFamily="34" charset="-120"/>
              </a:rPr>
              <a:t>The #1 skill that determines your output quality</a:t>
            </a:r>
            <a:endParaRPr lang="en-US" sz="1800" dirty="0"/>
          </a:p>
        </p:txBody>
      </p:sp>
      <p:sp>
        <p:nvSpPr>
          <p:cNvPr id="6" name="Text 4"/>
          <p:cNvSpPr/>
          <p:nvPr/>
        </p:nvSpPr>
        <p:spPr>
          <a:xfrm>
            <a:off x="777240" y="4320540"/>
            <a:ext cx="3657600" cy="320040"/>
          </a:xfrm>
          <a:prstGeom prst="rect">
            <a:avLst/>
          </a:prstGeom>
          <a:noFill/>
          <a:ln/>
        </p:spPr>
        <p:txBody>
          <a:bodyPr wrap="square" lIns="0" tIns="0" rIns="0" bIns="0" rtlCol="0" anchor="ctr"/>
          <a:lstStyle/>
          <a:p>
            <a:pPr indent="0" marL="0">
              <a:buNone/>
            </a:pPr>
            <a:r>
              <a:rPr lang="en-US" sz="1400" dirty="0">
                <a:solidFill>
                  <a:srgbClr val="94A3B8"/>
                </a:solidFill>
                <a:latin typeface="Calibri Light" pitchFamily="34" charset="0"/>
                <a:ea typeface="Calibri Light" pitchFamily="34" charset="-122"/>
                <a:cs typeface="Calibri Light" pitchFamily="34" charset="-120"/>
              </a:rPr>
              <a:t>~30 minutes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The Prompt Formula</a:t>
            </a:r>
            <a:endParaRPr lang="en-US" sz="3200" dirty="0"/>
          </a:p>
        </p:txBody>
      </p:sp>
      <p:sp>
        <p:nvSpPr>
          <p:cNvPr id="3" name="Shape 1"/>
          <p:cNvSpPr/>
          <p:nvPr/>
        </p:nvSpPr>
        <p:spPr>
          <a:xfrm>
            <a:off x="548640" y="10515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4" name="Shape 2"/>
          <p:cNvSpPr/>
          <p:nvPr/>
        </p:nvSpPr>
        <p:spPr>
          <a:xfrm>
            <a:off x="548640" y="1051560"/>
            <a:ext cx="45720" cy="1600200"/>
          </a:xfrm>
          <a:prstGeom prst="rect">
            <a:avLst/>
          </a:prstGeom>
          <a:solidFill>
            <a:srgbClr val="0891B2"/>
          </a:solidFill>
          <a:ln/>
        </p:spPr>
        <p:txBody>
          <a:bodyPr/>
          <a:p/>
        </p:txBody>
      </p:sp>
      <p:pic>
        <p:nvPicPr>
          <p:cNvPr id="5" name="Image 0" descr="preencoded.png">    </p:cNvPr>
          <p:cNvPicPr>
            <a:picLocks noChangeAspect="1"/>
          </p:cNvPicPr>
          <p:nvPr/>
        </p:nvPicPr>
        <p:blipFill>
          <a:blip r:embed="rId1"/>
          <a:stretch>
            <a:fillRect/>
          </a:stretch>
        </p:blipFill>
        <p:spPr>
          <a:xfrm>
            <a:off x="777240" y="1234440"/>
            <a:ext cx="365760" cy="365760"/>
          </a:xfrm>
          <a:prstGeom prst="rect">
            <a:avLst/>
          </a:prstGeom>
        </p:spPr>
      </p:pic>
      <p:sp>
        <p:nvSpPr>
          <p:cNvPr id="6" name="Text 3"/>
          <p:cNvSpPr/>
          <p:nvPr/>
        </p:nvSpPr>
        <p:spPr>
          <a:xfrm>
            <a:off x="1280160" y="11887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Intent (WHY)</a:t>
            </a:r>
            <a:endParaRPr lang="en-US" sz="1400" dirty="0"/>
          </a:p>
        </p:txBody>
      </p:sp>
      <p:sp>
        <p:nvSpPr>
          <p:cNvPr id="7" name="Text 4"/>
          <p:cNvSpPr/>
          <p:nvPr/>
        </p:nvSpPr>
        <p:spPr>
          <a:xfrm>
            <a:off x="777240" y="16916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Why are you building this? Personal learning project or production product? Get super clear on your purpose before anything else.</a:t>
            </a:r>
            <a:endParaRPr lang="en-US" sz="1200" dirty="0"/>
          </a:p>
        </p:txBody>
      </p:sp>
      <p:sp>
        <p:nvSpPr>
          <p:cNvPr id="8" name="Shape 5"/>
          <p:cNvSpPr/>
          <p:nvPr/>
        </p:nvSpPr>
        <p:spPr>
          <a:xfrm>
            <a:off x="4686300" y="10515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9" name="Shape 6"/>
          <p:cNvSpPr/>
          <p:nvPr/>
        </p:nvSpPr>
        <p:spPr>
          <a:xfrm>
            <a:off x="4686300" y="1051560"/>
            <a:ext cx="45720" cy="1600200"/>
          </a:xfrm>
          <a:prstGeom prst="rect">
            <a:avLst/>
          </a:prstGeom>
          <a:solidFill>
            <a:srgbClr val="0891B2"/>
          </a:solidFill>
          <a:ln/>
        </p:spPr>
        <p:txBody>
          <a:bodyPr/>
          <a:p/>
        </p:txBody>
      </p:sp>
      <p:pic>
        <p:nvPicPr>
          <p:cNvPr id="10" name="Image 1" descr="preencoded.png">    </p:cNvPr>
          <p:cNvPicPr>
            <a:picLocks noChangeAspect="1"/>
          </p:cNvPicPr>
          <p:nvPr/>
        </p:nvPicPr>
        <p:blipFill>
          <a:blip r:embed="rId2"/>
          <a:stretch>
            <a:fillRect/>
          </a:stretch>
        </p:blipFill>
        <p:spPr>
          <a:xfrm>
            <a:off x="4914900" y="1234440"/>
            <a:ext cx="365760" cy="365760"/>
          </a:xfrm>
          <a:prstGeom prst="rect">
            <a:avLst/>
          </a:prstGeom>
        </p:spPr>
      </p:pic>
      <p:sp>
        <p:nvSpPr>
          <p:cNvPr id="11" name="Text 7"/>
          <p:cNvSpPr/>
          <p:nvPr/>
        </p:nvSpPr>
        <p:spPr>
          <a:xfrm>
            <a:off x="5417820" y="11887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Context (WHAT)</a:t>
            </a:r>
            <a:endParaRPr lang="en-US" sz="1400" dirty="0"/>
          </a:p>
        </p:txBody>
      </p:sp>
      <p:sp>
        <p:nvSpPr>
          <p:cNvPr id="12" name="Text 8"/>
          <p:cNvSpPr/>
          <p:nvPr/>
        </p:nvSpPr>
        <p:spPr>
          <a:xfrm>
            <a:off x="4914900" y="16916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What are you building? Describe the user experience, the business logic, the features. More detail here = better output.</a:t>
            </a:r>
            <a:endParaRPr lang="en-US" sz="1200" dirty="0"/>
          </a:p>
        </p:txBody>
      </p:sp>
      <p:sp>
        <p:nvSpPr>
          <p:cNvPr id="13" name="Shape 9"/>
          <p:cNvSpPr/>
          <p:nvPr/>
        </p:nvSpPr>
        <p:spPr>
          <a:xfrm>
            <a:off x="548640" y="28803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4" name="Shape 10"/>
          <p:cNvSpPr/>
          <p:nvPr/>
        </p:nvSpPr>
        <p:spPr>
          <a:xfrm>
            <a:off x="548640" y="2880360"/>
            <a:ext cx="45720" cy="1600200"/>
          </a:xfrm>
          <a:prstGeom prst="rect">
            <a:avLst/>
          </a:prstGeom>
          <a:solidFill>
            <a:srgbClr val="0891B2"/>
          </a:solidFill>
          <a:ln/>
        </p:spPr>
        <p:txBody>
          <a:bodyPr/>
          <a:p/>
        </p:txBody>
      </p:sp>
      <p:pic>
        <p:nvPicPr>
          <p:cNvPr id="15" name="Image 2" descr="preencoded.png">    </p:cNvPr>
          <p:cNvPicPr>
            <a:picLocks noChangeAspect="1"/>
          </p:cNvPicPr>
          <p:nvPr/>
        </p:nvPicPr>
        <p:blipFill>
          <a:blip r:embed="rId3"/>
          <a:stretch>
            <a:fillRect/>
          </a:stretch>
        </p:blipFill>
        <p:spPr>
          <a:xfrm>
            <a:off x="777240" y="3063240"/>
            <a:ext cx="365760" cy="365760"/>
          </a:xfrm>
          <a:prstGeom prst="rect">
            <a:avLst/>
          </a:prstGeom>
        </p:spPr>
      </p:pic>
      <p:sp>
        <p:nvSpPr>
          <p:cNvPr id="16" name="Text 11"/>
          <p:cNvSpPr/>
          <p:nvPr/>
        </p:nvSpPr>
        <p:spPr>
          <a:xfrm>
            <a:off x="1280160" y="30175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Process (HOW)</a:t>
            </a:r>
            <a:endParaRPr lang="en-US" sz="1400" dirty="0"/>
          </a:p>
        </p:txBody>
      </p:sp>
      <p:sp>
        <p:nvSpPr>
          <p:cNvPr id="17" name="Text 12"/>
          <p:cNvSpPr/>
          <p:nvPr/>
        </p:nvSpPr>
        <p:spPr>
          <a:xfrm>
            <a:off x="777240" y="35204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How should the AI interact with you? What steps should it follow? Define the workflow you want it to execute.</a:t>
            </a:r>
            <a:endParaRPr lang="en-US" sz="1200" dirty="0"/>
          </a:p>
        </p:txBody>
      </p:sp>
      <p:sp>
        <p:nvSpPr>
          <p:cNvPr id="18" name="Shape 13"/>
          <p:cNvSpPr/>
          <p:nvPr/>
        </p:nvSpPr>
        <p:spPr>
          <a:xfrm>
            <a:off x="4686300" y="28803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9" name="Shape 14"/>
          <p:cNvSpPr/>
          <p:nvPr/>
        </p:nvSpPr>
        <p:spPr>
          <a:xfrm>
            <a:off x="4686300" y="2880360"/>
            <a:ext cx="45720" cy="1600200"/>
          </a:xfrm>
          <a:prstGeom prst="rect">
            <a:avLst/>
          </a:prstGeom>
          <a:solidFill>
            <a:srgbClr val="0891B2"/>
          </a:solidFill>
          <a:ln/>
        </p:spPr>
        <p:txBody>
          <a:bodyPr/>
          <a:p/>
        </p:txBody>
      </p:sp>
      <p:pic>
        <p:nvPicPr>
          <p:cNvPr id="20" name="Image 3" descr="preencoded.png">    </p:cNvPr>
          <p:cNvPicPr>
            <a:picLocks noChangeAspect="1"/>
          </p:cNvPicPr>
          <p:nvPr/>
        </p:nvPicPr>
        <p:blipFill>
          <a:blip r:embed="rId4"/>
          <a:stretch>
            <a:fillRect/>
          </a:stretch>
        </p:blipFill>
        <p:spPr>
          <a:xfrm>
            <a:off x="4914900" y="3063240"/>
            <a:ext cx="365760" cy="365760"/>
          </a:xfrm>
          <a:prstGeom prst="rect">
            <a:avLst/>
          </a:prstGeom>
        </p:spPr>
      </p:pic>
      <p:sp>
        <p:nvSpPr>
          <p:cNvPr id="21" name="Text 15"/>
          <p:cNvSpPr/>
          <p:nvPr/>
        </p:nvSpPr>
        <p:spPr>
          <a:xfrm>
            <a:off x="5417820" y="30175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Outcome (DONE)</a:t>
            </a:r>
            <a:endParaRPr lang="en-US" sz="1400" dirty="0"/>
          </a:p>
        </p:txBody>
      </p:sp>
      <p:sp>
        <p:nvSpPr>
          <p:cNvPr id="22" name="Text 16"/>
          <p:cNvSpPr/>
          <p:nvPr/>
        </p:nvSpPr>
        <p:spPr>
          <a:xfrm>
            <a:off x="4914900" y="35204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What does "done" look like? Define testable success criteria so the AI can verify its own work.</a:t>
            </a:r>
            <a:endParaRPr lang="en-US" sz="1200" dirty="0"/>
          </a:p>
        </p:txBody>
      </p:sp>
      <p:sp>
        <p:nvSpPr>
          <p:cNvPr id="23" name="Shape 17"/>
          <p:cNvSpPr/>
          <p:nvPr/>
        </p:nvSpPr>
        <p:spPr>
          <a:xfrm>
            <a:off x="548640" y="4732020"/>
            <a:ext cx="8046720" cy="0"/>
          </a:xfrm>
          <a:prstGeom prst="line">
            <a:avLst/>
          </a:prstGeom>
          <a:noFill/>
          <a:ln w="6350">
            <a:solidFill>
              <a:srgbClr val="E2E8F0"/>
            </a:solidFill>
            <a:prstDash val="solid"/>
          </a:ln>
        </p:spPr>
        <p:txBody>
          <a:bodyPr/>
          <a:p/>
        </p:txBody>
      </p:sp>
      <p:sp>
        <p:nvSpPr>
          <p:cNvPr id="24" name="Text 18"/>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25" name="Text 19"/>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18</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The Context Layering System</a:t>
            </a:r>
            <a:endParaRPr lang="en-US" sz="3200" dirty="0"/>
          </a:p>
        </p:txBody>
      </p:sp>
      <p:sp>
        <p:nvSpPr>
          <p:cNvPr id="3" name="Shape 1"/>
          <p:cNvSpPr/>
          <p:nvPr/>
        </p:nvSpPr>
        <p:spPr>
          <a:xfrm>
            <a:off x="548640" y="114300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4" name="Shape 2"/>
          <p:cNvSpPr/>
          <p:nvPr/>
        </p:nvSpPr>
        <p:spPr>
          <a:xfrm>
            <a:off x="548640" y="1143000"/>
            <a:ext cx="54864" cy="621792"/>
          </a:xfrm>
          <a:prstGeom prst="rect">
            <a:avLst/>
          </a:prstGeom>
          <a:solidFill>
            <a:srgbClr val="0891B2"/>
          </a:solidFill>
          <a:ln/>
        </p:spPr>
        <p:txBody>
          <a:bodyPr/>
          <a:p/>
        </p:txBody>
      </p:sp>
      <p:sp>
        <p:nvSpPr>
          <p:cNvPr id="5" name="Text 3"/>
          <p:cNvSpPr/>
          <p:nvPr/>
        </p:nvSpPr>
        <p:spPr>
          <a:xfrm>
            <a:off x="777240" y="114300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1463040" y="114300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Layer 1: Role Context (WHO)</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Establish the AI's expertise before giving the task</a:t>
            </a:r>
            <a:endParaRPr lang="en-US" sz="1400" dirty="0"/>
          </a:p>
        </p:txBody>
      </p:sp>
      <p:sp>
        <p:nvSpPr>
          <p:cNvPr id="7" name="Shape 5"/>
          <p:cNvSpPr/>
          <p:nvPr/>
        </p:nvSpPr>
        <p:spPr>
          <a:xfrm>
            <a:off x="548640" y="187452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8" name="Shape 6"/>
          <p:cNvSpPr/>
          <p:nvPr/>
        </p:nvSpPr>
        <p:spPr>
          <a:xfrm>
            <a:off x="548640" y="1874520"/>
            <a:ext cx="54864" cy="621792"/>
          </a:xfrm>
          <a:prstGeom prst="rect">
            <a:avLst/>
          </a:prstGeom>
          <a:solidFill>
            <a:srgbClr val="0891B2"/>
          </a:solidFill>
          <a:ln/>
        </p:spPr>
        <p:txBody>
          <a:bodyPr/>
          <a:p/>
        </p:txBody>
      </p:sp>
      <p:sp>
        <p:nvSpPr>
          <p:cNvPr id="9" name="Text 7"/>
          <p:cNvSpPr/>
          <p:nvPr/>
        </p:nvSpPr>
        <p:spPr>
          <a:xfrm>
            <a:off x="777240" y="187452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02</a:t>
            </a:r>
            <a:endParaRPr lang="en-US" sz="2200" dirty="0"/>
          </a:p>
        </p:txBody>
      </p:sp>
      <p:sp>
        <p:nvSpPr>
          <p:cNvPr id="10" name="Text 8"/>
          <p:cNvSpPr/>
          <p:nvPr/>
        </p:nvSpPr>
        <p:spPr>
          <a:xfrm>
            <a:off x="1463040" y="187452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Layer 2: Situation Context (WHAT)</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The specific scenario this expert needs to understand</a:t>
            </a:r>
            <a:endParaRPr lang="en-US" sz="1400" dirty="0"/>
          </a:p>
        </p:txBody>
      </p:sp>
      <p:sp>
        <p:nvSpPr>
          <p:cNvPr id="11" name="Shape 9"/>
          <p:cNvSpPr/>
          <p:nvPr/>
        </p:nvSpPr>
        <p:spPr>
          <a:xfrm>
            <a:off x="548640" y="260604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2" name="Shape 10"/>
          <p:cNvSpPr/>
          <p:nvPr/>
        </p:nvSpPr>
        <p:spPr>
          <a:xfrm>
            <a:off x="548640" y="2606040"/>
            <a:ext cx="54864" cy="621792"/>
          </a:xfrm>
          <a:prstGeom prst="rect">
            <a:avLst/>
          </a:prstGeom>
          <a:solidFill>
            <a:srgbClr val="0891B2"/>
          </a:solidFill>
          <a:ln/>
        </p:spPr>
        <p:txBody>
          <a:bodyPr/>
          <a:p/>
        </p:txBody>
      </p:sp>
      <p:sp>
        <p:nvSpPr>
          <p:cNvPr id="13" name="Text 11"/>
          <p:cNvSpPr/>
          <p:nvPr/>
        </p:nvSpPr>
        <p:spPr>
          <a:xfrm>
            <a:off x="777240" y="260604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03</a:t>
            </a:r>
            <a:endParaRPr lang="en-US" sz="2200" dirty="0"/>
          </a:p>
        </p:txBody>
      </p:sp>
      <p:sp>
        <p:nvSpPr>
          <p:cNvPr id="14" name="Text 12"/>
          <p:cNvSpPr/>
          <p:nvPr/>
        </p:nvSpPr>
        <p:spPr>
          <a:xfrm>
            <a:off x="1463040" y="260604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Layer 3: Task Definition (DO)</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What exactly should the AI create or build?</a:t>
            </a:r>
            <a:endParaRPr lang="en-US" sz="1400" dirty="0"/>
          </a:p>
        </p:txBody>
      </p:sp>
      <p:sp>
        <p:nvSpPr>
          <p:cNvPr id="15" name="Shape 13"/>
          <p:cNvSpPr/>
          <p:nvPr/>
        </p:nvSpPr>
        <p:spPr>
          <a:xfrm>
            <a:off x="548640" y="333756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6" name="Shape 14"/>
          <p:cNvSpPr/>
          <p:nvPr/>
        </p:nvSpPr>
        <p:spPr>
          <a:xfrm>
            <a:off x="548640" y="3337560"/>
            <a:ext cx="54864" cy="621792"/>
          </a:xfrm>
          <a:prstGeom prst="rect">
            <a:avLst/>
          </a:prstGeom>
          <a:solidFill>
            <a:srgbClr val="0891B2"/>
          </a:solidFill>
          <a:ln/>
        </p:spPr>
        <p:txBody>
          <a:bodyPr/>
          <a:p/>
        </p:txBody>
      </p:sp>
      <p:sp>
        <p:nvSpPr>
          <p:cNvPr id="17" name="Text 15"/>
          <p:cNvSpPr/>
          <p:nvPr/>
        </p:nvSpPr>
        <p:spPr>
          <a:xfrm>
            <a:off x="777240" y="333756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04</a:t>
            </a:r>
            <a:endParaRPr lang="en-US" sz="2200" dirty="0"/>
          </a:p>
        </p:txBody>
      </p:sp>
      <p:sp>
        <p:nvSpPr>
          <p:cNvPr id="18" name="Text 16"/>
          <p:cNvSpPr/>
          <p:nvPr/>
        </p:nvSpPr>
        <p:spPr>
          <a:xfrm>
            <a:off x="1463040" y="333756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Layer 4: Execution Parameters (HOW)</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Constraints, tech stack, and approach guidelines</a:t>
            </a:r>
            <a:endParaRPr lang="en-US" sz="1400" dirty="0"/>
          </a:p>
        </p:txBody>
      </p:sp>
      <p:sp>
        <p:nvSpPr>
          <p:cNvPr id="19" name="Shape 17"/>
          <p:cNvSpPr/>
          <p:nvPr/>
        </p:nvSpPr>
        <p:spPr>
          <a:xfrm>
            <a:off x="548640" y="406908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20" name="Shape 18"/>
          <p:cNvSpPr/>
          <p:nvPr/>
        </p:nvSpPr>
        <p:spPr>
          <a:xfrm>
            <a:off x="548640" y="4069080"/>
            <a:ext cx="54864" cy="621792"/>
          </a:xfrm>
          <a:prstGeom prst="rect">
            <a:avLst/>
          </a:prstGeom>
          <a:solidFill>
            <a:srgbClr val="0891B2"/>
          </a:solidFill>
          <a:ln/>
        </p:spPr>
        <p:txBody>
          <a:bodyPr/>
          <a:p/>
        </p:txBody>
      </p:sp>
      <p:sp>
        <p:nvSpPr>
          <p:cNvPr id="21" name="Text 19"/>
          <p:cNvSpPr/>
          <p:nvPr/>
        </p:nvSpPr>
        <p:spPr>
          <a:xfrm>
            <a:off x="777240" y="406908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05</a:t>
            </a:r>
            <a:endParaRPr lang="en-US" sz="2200" dirty="0"/>
          </a:p>
        </p:txBody>
      </p:sp>
      <p:sp>
        <p:nvSpPr>
          <p:cNvPr id="22" name="Text 20"/>
          <p:cNvSpPr/>
          <p:nvPr/>
        </p:nvSpPr>
        <p:spPr>
          <a:xfrm>
            <a:off x="1463040" y="406908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Layer 5: Success Criteria (DONE)</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Verifiable completion standards — what 'finished' looks like</a:t>
            </a:r>
            <a:endParaRPr lang="en-US" sz="1400" dirty="0"/>
          </a:p>
        </p:txBody>
      </p:sp>
      <p:sp>
        <p:nvSpPr>
          <p:cNvPr id="23" name="Shape 21"/>
          <p:cNvSpPr/>
          <p:nvPr/>
        </p:nvSpPr>
        <p:spPr>
          <a:xfrm>
            <a:off x="548640" y="4732020"/>
            <a:ext cx="8046720" cy="0"/>
          </a:xfrm>
          <a:prstGeom prst="line">
            <a:avLst/>
          </a:prstGeom>
          <a:noFill/>
          <a:ln w="6350">
            <a:solidFill>
              <a:srgbClr val="E2E8F0"/>
            </a:solidFill>
            <a:prstDash val="solid"/>
          </a:ln>
        </p:spPr>
        <p:txBody>
          <a:bodyPr/>
          <a:p/>
        </p:txBody>
      </p:sp>
      <p:sp>
        <p:nvSpPr>
          <p:cNvPr id="24" name="Text 22"/>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25" name="Text 23"/>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19</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The Three-Layer Context Architecture</a:t>
            </a:r>
            <a:endParaRPr lang="en-US" sz="3200" dirty="0"/>
          </a:p>
        </p:txBody>
      </p:sp>
      <p:sp>
        <p:nvSpPr>
          <p:cNvPr id="3" name="Shape 1"/>
          <p:cNvSpPr/>
          <p:nvPr/>
        </p:nvSpPr>
        <p:spPr>
          <a:xfrm>
            <a:off x="548640" y="114300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4" name="Shape 2"/>
          <p:cNvSpPr/>
          <p:nvPr/>
        </p:nvSpPr>
        <p:spPr>
          <a:xfrm>
            <a:off x="548640" y="1143000"/>
            <a:ext cx="54864" cy="621792"/>
          </a:xfrm>
          <a:prstGeom prst="rect">
            <a:avLst/>
          </a:prstGeom>
          <a:solidFill>
            <a:srgbClr val="0891B2"/>
          </a:solidFill>
          <a:ln/>
        </p:spPr>
        <p:txBody>
          <a:bodyPr/>
          <a:p/>
        </p:txBody>
      </p:sp>
      <p:sp>
        <p:nvSpPr>
          <p:cNvPr id="5" name="Text 3"/>
          <p:cNvSpPr/>
          <p:nvPr/>
        </p:nvSpPr>
        <p:spPr>
          <a:xfrm>
            <a:off x="777240" y="114300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1463040" y="114300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Foundation Layer (Persistent)</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Role, expertise, communication style — stays the same across sessions. This becomes your AGENTS.MD.</a:t>
            </a:r>
            <a:endParaRPr lang="en-US" sz="1400" dirty="0"/>
          </a:p>
        </p:txBody>
      </p:sp>
      <p:sp>
        <p:nvSpPr>
          <p:cNvPr id="7" name="Shape 5"/>
          <p:cNvSpPr/>
          <p:nvPr/>
        </p:nvSpPr>
        <p:spPr>
          <a:xfrm>
            <a:off x="548640" y="187452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8" name="Shape 6"/>
          <p:cNvSpPr/>
          <p:nvPr/>
        </p:nvSpPr>
        <p:spPr>
          <a:xfrm>
            <a:off x="548640" y="1874520"/>
            <a:ext cx="54864" cy="621792"/>
          </a:xfrm>
          <a:prstGeom prst="rect">
            <a:avLst/>
          </a:prstGeom>
          <a:solidFill>
            <a:srgbClr val="0891B2"/>
          </a:solidFill>
          <a:ln/>
        </p:spPr>
        <p:txBody>
          <a:bodyPr/>
          <a:p/>
        </p:txBody>
      </p:sp>
      <p:sp>
        <p:nvSpPr>
          <p:cNvPr id="9" name="Text 7"/>
          <p:cNvSpPr/>
          <p:nvPr/>
        </p:nvSpPr>
        <p:spPr>
          <a:xfrm>
            <a:off x="777240" y="187452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02</a:t>
            </a:r>
            <a:endParaRPr lang="en-US" sz="2200" dirty="0"/>
          </a:p>
        </p:txBody>
      </p:sp>
      <p:sp>
        <p:nvSpPr>
          <p:cNvPr id="10" name="Text 8"/>
          <p:cNvSpPr/>
          <p:nvPr/>
        </p:nvSpPr>
        <p:spPr>
          <a:xfrm>
            <a:off x="1463040" y="187452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Situation Layer (Task-Specific)</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Current scenario, goals, relevant background — changes per project. "Our SaaS just launched auto-reminders."</a:t>
            </a:r>
            <a:endParaRPr lang="en-US" sz="1400" dirty="0"/>
          </a:p>
        </p:txBody>
      </p:sp>
      <p:sp>
        <p:nvSpPr>
          <p:cNvPr id="11" name="Shape 9"/>
          <p:cNvSpPr/>
          <p:nvPr/>
        </p:nvSpPr>
        <p:spPr>
          <a:xfrm>
            <a:off x="548640" y="260604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2" name="Shape 10"/>
          <p:cNvSpPr/>
          <p:nvPr/>
        </p:nvSpPr>
        <p:spPr>
          <a:xfrm>
            <a:off x="548640" y="2606040"/>
            <a:ext cx="54864" cy="621792"/>
          </a:xfrm>
          <a:prstGeom prst="rect">
            <a:avLst/>
          </a:prstGeom>
          <a:solidFill>
            <a:srgbClr val="0891B2"/>
          </a:solidFill>
          <a:ln/>
        </p:spPr>
        <p:txBody>
          <a:bodyPr/>
          <a:p/>
        </p:txBody>
      </p:sp>
      <p:sp>
        <p:nvSpPr>
          <p:cNvPr id="13" name="Text 11"/>
          <p:cNvSpPr/>
          <p:nvPr/>
        </p:nvSpPr>
        <p:spPr>
          <a:xfrm>
            <a:off x="777240" y="260604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03</a:t>
            </a:r>
            <a:endParaRPr lang="en-US" sz="2200" dirty="0"/>
          </a:p>
        </p:txBody>
      </p:sp>
      <p:sp>
        <p:nvSpPr>
          <p:cNvPr id="14" name="Text 12"/>
          <p:cNvSpPr/>
          <p:nvPr/>
        </p:nvSpPr>
        <p:spPr>
          <a:xfrm>
            <a:off x="1463040" y="260604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Instruction Layer (Per-Request)</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What to do right now, format requirements, constraints — changes each time. "Write an adoption email."</a:t>
            </a:r>
            <a:endParaRPr lang="en-US" sz="1400" dirty="0"/>
          </a:p>
        </p:txBody>
      </p:sp>
      <p:sp>
        <p:nvSpPr>
          <p:cNvPr id="15" name="Shape 13"/>
          <p:cNvSpPr/>
          <p:nvPr/>
        </p:nvSpPr>
        <p:spPr>
          <a:xfrm>
            <a:off x="548640" y="4732020"/>
            <a:ext cx="8046720" cy="0"/>
          </a:xfrm>
          <a:prstGeom prst="line">
            <a:avLst/>
          </a:prstGeom>
          <a:noFill/>
          <a:ln w="6350">
            <a:solidFill>
              <a:srgbClr val="E2E8F0"/>
            </a:solidFill>
            <a:prstDash val="solid"/>
          </a:ln>
        </p:spPr>
        <p:txBody>
          <a:bodyPr/>
          <a:p/>
        </p:txBody>
      </p:sp>
      <p:sp>
        <p:nvSpPr>
          <p:cNvPr id="16" name="Text 14"/>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7" name="Text 15"/>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20</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Token Efficiency — Say More With Less</a:t>
            </a:r>
            <a:endParaRPr lang="en-US" sz="3200" dirty="0"/>
          </a:p>
        </p:txBody>
      </p:sp>
      <p:sp>
        <p:nvSpPr>
          <p:cNvPr id="3" name="Shape 1"/>
          <p:cNvSpPr/>
          <p:nvPr/>
        </p:nvSpPr>
        <p:spPr>
          <a:xfrm>
            <a:off x="548640" y="1143000"/>
            <a:ext cx="3863340" cy="3108960"/>
          </a:xfrm>
          <a:prstGeom prst="roundedRectangle">
            <a:avLst>
              <a:gd name="adj" fmla="val 2353"/>
            </a:avLst>
          </a:prstGeom>
          <a:solidFill>
            <a:srgbClr val="FEF2F2"/>
          </a:solidFill>
          <a:ln/>
        </p:spPr>
        <p:txBody>
          <a:bodyPr/>
          <a:p/>
        </p:txBody>
      </p:sp>
      <p:sp>
        <p:nvSpPr>
          <p:cNvPr id="4" name="Text 2"/>
          <p:cNvSpPr/>
          <p:nvPr/>
        </p:nvSpPr>
        <p:spPr>
          <a:xfrm>
            <a:off x="822960" y="1252728"/>
            <a:ext cx="3314700" cy="274320"/>
          </a:xfrm>
          <a:prstGeom prst="rect">
            <a:avLst/>
          </a:prstGeom>
          <a:noFill/>
          <a:ln/>
        </p:spPr>
        <p:txBody>
          <a:bodyPr wrap="square" lIns="0" tIns="0" rIns="0" bIns="0" rtlCol="0" anchor="ctr"/>
          <a:lstStyle/>
          <a:p>
            <a:pPr indent="0" marL="0">
              <a:buNone/>
            </a:pPr>
            <a:r>
              <a:rPr lang="en-US" sz="1200" b="1" spc="200" kern="0" dirty="0">
                <a:solidFill>
                  <a:srgbClr val="EF4444"/>
                </a:solidFill>
                <a:latin typeface="Calibri" pitchFamily="34" charset="0"/>
                <a:ea typeface="Calibri" pitchFamily="34" charset="-122"/>
                <a:cs typeface="Calibri" pitchFamily="34" charset="-120"/>
              </a:rPr>
              <a:t>BLOATED (67 TOKENS)</a:t>
            </a:r>
            <a:endParaRPr lang="en-US" sz="1200" dirty="0"/>
          </a:p>
        </p:txBody>
      </p:sp>
      <p:sp>
        <p:nvSpPr>
          <p:cNvPr id="5" name="Text 3"/>
          <p:cNvSpPr/>
          <p:nvPr/>
        </p:nvSpPr>
        <p:spPr>
          <a:xfrm>
            <a:off x="822960" y="1600200"/>
            <a:ext cx="3314700" cy="25146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"I would really appreciate it if you could please help me by writing a comprehensive and detailed professional business email..."</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Redundant: "professional and business-appropriate"</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Vague: "some marketing work or projects"</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Critical requirements buried at the end where AI forgets them</a:t>
            </a:r>
            <a:endParaRPr lang="en-US" sz="1200" dirty="0"/>
          </a:p>
        </p:txBody>
      </p:sp>
      <p:sp>
        <p:nvSpPr>
          <p:cNvPr id="6" name="Shape 4"/>
          <p:cNvSpPr/>
          <p:nvPr/>
        </p:nvSpPr>
        <p:spPr>
          <a:xfrm>
            <a:off x="4732020" y="1143000"/>
            <a:ext cx="3863340" cy="3108960"/>
          </a:xfrm>
          <a:prstGeom prst="roundedRectangle">
            <a:avLst>
              <a:gd name="adj" fmla="val 2353"/>
            </a:avLst>
          </a:prstGeom>
          <a:solidFill>
            <a:srgbClr val="ECFDF5"/>
          </a:solidFill>
          <a:ln/>
        </p:spPr>
        <p:txBody>
          <a:bodyPr/>
          <a:p/>
        </p:txBody>
      </p:sp>
      <p:sp>
        <p:nvSpPr>
          <p:cNvPr id="7" name="Text 5"/>
          <p:cNvSpPr/>
          <p:nvPr/>
        </p:nvSpPr>
        <p:spPr>
          <a:xfrm>
            <a:off x="5006340" y="1252728"/>
            <a:ext cx="3314700" cy="274320"/>
          </a:xfrm>
          <a:prstGeom prst="rect">
            <a:avLst/>
          </a:prstGeom>
          <a:noFill/>
          <a:ln/>
        </p:spPr>
        <p:txBody>
          <a:bodyPr wrap="square" lIns="0" tIns="0" rIns="0" bIns="0" rtlCol="0" anchor="ctr"/>
          <a:lstStyle/>
          <a:p>
            <a:pPr indent="0" marL="0">
              <a:buNone/>
            </a:pPr>
            <a:r>
              <a:rPr lang="en-US" sz="1200" b="1" spc="200" kern="0" dirty="0">
                <a:solidFill>
                  <a:srgbClr val="10B981"/>
                </a:solidFill>
                <a:latin typeface="Calibri" pitchFamily="34" charset="0"/>
                <a:ea typeface="Calibri" pitchFamily="34" charset="-122"/>
                <a:cs typeface="Calibri" pitchFamily="34" charset="-120"/>
              </a:rPr>
              <a:t>THE 4-STEP TOKEN AUDIT</a:t>
            </a:r>
            <a:endParaRPr lang="en-US" sz="1200" dirty="0"/>
          </a:p>
        </p:txBody>
      </p:sp>
      <p:sp>
        <p:nvSpPr>
          <p:cNvPr id="8" name="Text 6"/>
          <p:cNvSpPr/>
          <p:nvPr/>
        </p:nvSpPr>
        <p:spPr>
          <a:xfrm>
            <a:off x="5006340" y="1600200"/>
            <a:ext cx="3314700" cy="25146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Step 1: Eliminate fluff — remove please, I would like, comprehensive, detailed</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Step 2: Combine redundant info — "professional and business-appropriate" → "professional"</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Step 3: Use precise language — "marketing projects" not "some marketing"</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Step 4: Front-load critical info — non-negotiables in the first 25% of your prompt</a:t>
            </a:r>
            <a:endParaRPr lang="en-US" sz="1200" dirty="0"/>
          </a:p>
        </p:txBody>
      </p:sp>
      <p:sp>
        <p:nvSpPr>
          <p:cNvPr id="9" name="Shape 7"/>
          <p:cNvSpPr/>
          <p:nvPr/>
        </p:nvSpPr>
        <p:spPr>
          <a:xfrm>
            <a:off x="548640" y="4732020"/>
            <a:ext cx="8046720" cy="0"/>
          </a:xfrm>
          <a:prstGeom prst="line">
            <a:avLst/>
          </a:prstGeom>
          <a:noFill/>
          <a:ln w="6350">
            <a:solidFill>
              <a:srgbClr val="E2E8F0"/>
            </a:solidFill>
            <a:prstDash val="solid"/>
          </a:ln>
        </p:spPr>
        <p:txBody>
          <a:bodyPr/>
          <a:p/>
        </p:txBody>
      </p:sp>
      <p:sp>
        <p:nvSpPr>
          <p:cNvPr id="10" name="Text 8"/>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1" name="Text 9"/>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21</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The Ambiguity Audit</a:t>
            </a:r>
            <a:endParaRPr lang="en-US" sz="3200" dirty="0"/>
          </a:p>
        </p:txBody>
      </p:sp>
      <p:sp>
        <p:nvSpPr>
          <p:cNvPr id="3" name="Shape 1"/>
          <p:cNvSpPr/>
          <p:nvPr/>
        </p:nvSpPr>
        <p:spPr>
          <a:xfrm>
            <a:off x="548640" y="914400"/>
            <a:ext cx="548640" cy="36576"/>
          </a:xfrm>
          <a:prstGeom prst="rect">
            <a:avLst/>
          </a:prstGeom>
          <a:solidFill>
            <a:srgbClr val="0891B2"/>
          </a:solidFill>
          <a:ln/>
        </p:spPr>
        <p:txBody>
          <a:bodyPr/>
          <a:p/>
        </p:txBody>
      </p:sp>
      <p:sp>
        <p:nvSpPr>
          <p:cNvPr id="4" name="Text 2"/>
          <p:cNvSpPr/>
          <p:nvPr/>
        </p:nvSpPr>
        <p:spPr>
          <a:xfrm>
            <a:off x="548640" y="1143000"/>
            <a:ext cx="4667098" cy="777240"/>
          </a:xfrm>
          <a:prstGeom prst="rect">
            <a:avLst/>
          </a:prstGeom>
          <a:noFill/>
          <a:ln/>
        </p:spPr>
        <p:txBody>
          <a:bodyPr wrap="square" lIns="0" tIns="0" rIns="0" bIns="0" rtlCol="0" anchor="ctr">
            <a:normAutofit/>
          </a:bodyPr>
          <a:lstStyle/>
          <a:p>
            <a:pPr indent="0" marL="0">
              <a:lnSpc>
                <a:spcPct val="125000"/>
              </a:lnSpc>
              <a:buNone/>
            </a:pPr>
            <a:r>
              <a:rPr lang="en-US" sz="1400" dirty="0">
                <a:solidFill>
                  <a:srgbClr val="4A5568"/>
                </a:solidFill>
                <a:latin typeface="Calibri Light" pitchFamily="34" charset="0"/>
                <a:ea typeface="Calibri Light" pitchFamily="34" charset="-122"/>
                <a:cs typeface="Calibri Light" pitchFamily="34" charset="-120"/>
              </a:rPr>
              <a:t>Most prompts fail before AI sees them. Run this audit: (1) Circle every descriptor, (2) Ask "could this mean 5 things?", (3) Replace with specific criteria, (4) Test: could a stranger follow exactly?</a:t>
            </a:r>
            <a:endParaRPr lang="en-US" sz="1400" dirty="0"/>
          </a:p>
        </p:txBody>
      </p:sp>
      <p:sp>
        <p:nvSpPr>
          <p:cNvPr id="5" name="Text 3"/>
          <p:cNvSpPr/>
          <p:nvPr/>
        </p:nvSpPr>
        <p:spPr>
          <a:xfrm>
            <a:off x="548640" y="2286000"/>
            <a:ext cx="4667098" cy="19659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"Professional" → "Formal tone, no contractions, addressed to C-suite"</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"Clean code" → "TypeScript strict, functions under 20 lines, JSDoc comments"</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"Engaging" → "Opens with a question, uses 2nd person, reading level grade 8"</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"Make it better" → "Increase clarity by using simpler words and shorter sentences"</a:t>
            </a:r>
            <a:endParaRPr lang="en-US" sz="1400" dirty="0"/>
          </a:p>
        </p:txBody>
      </p:sp>
      <p:sp>
        <p:nvSpPr>
          <p:cNvPr id="6" name="Shape 4"/>
          <p:cNvSpPr/>
          <p:nvPr/>
        </p:nvSpPr>
        <p:spPr>
          <a:xfrm>
            <a:off x="5672938" y="1143000"/>
            <a:ext cx="2922422" cy="2926080"/>
          </a:xfrm>
          <a:prstGeom prst="roundedRectangle">
            <a:avLst>
              <a:gd name="adj" fmla="val 250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7" name="Image 0" descr="preencoded.png">    </p:cNvPr>
          <p:cNvPicPr>
            <a:picLocks noChangeAspect="1"/>
          </p:cNvPicPr>
          <p:nvPr/>
        </p:nvPicPr>
        <p:blipFill>
          <a:blip r:embed="rId1"/>
          <a:stretch>
            <a:fillRect/>
          </a:stretch>
        </p:blipFill>
        <p:spPr>
          <a:xfrm>
            <a:off x="6676949" y="2148840"/>
            <a:ext cx="914400" cy="914400"/>
          </a:xfrm>
          <a:prstGeom prst="rect">
            <a:avLst/>
          </a:prstGeom>
        </p:spPr>
      </p:pic>
      <p:sp>
        <p:nvSpPr>
          <p:cNvPr id="8" name="Shape 5"/>
          <p:cNvSpPr/>
          <p:nvPr/>
        </p:nvSpPr>
        <p:spPr>
          <a:xfrm>
            <a:off x="548640" y="4732020"/>
            <a:ext cx="8046720" cy="0"/>
          </a:xfrm>
          <a:prstGeom prst="line">
            <a:avLst/>
          </a:prstGeom>
          <a:noFill/>
          <a:ln w="6350">
            <a:solidFill>
              <a:srgbClr val="E2E8F0"/>
            </a:solidFill>
            <a:prstDash val="solid"/>
          </a:ln>
        </p:spPr>
        <p:txBody>
          <a:bodyPr/>
          <a:p/>
        </p:txBody>
      </p:sp>
      <p:sp>
        <p:nvSpPr>
          <p:cNvPr id="9" name="Text 6"/>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0" name="Text 7"/>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22</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The Example Engine — Few-Shot Learning</a:t>
            </a:r>
            <a:endParaRPr lang="en-US" sz="3200" dirty="0"/>
          </a:p>
        </p:txBody>
      </p:sp>
      <p:sp>
        <p:nvSpPr>
          <p:cNvPr id="3" name="Shape 1"/>
          <p:cNvSpPr/>
          <p:nvPr/>
        </p:nvSpPr>
        <p:spPr>
          <a:xfrm>
            <a:off x="548640" y="914400"/>
            <a:ext cx="548640" cy="36576"/>
          </a:xfrm>
          <a:prstGeom prst="rect">
            <a:avLst/>
          </a:prstGeom>
          <a:solidFill>
            <a:srgbClr val="0891B2"/>
          </a:solidFill>
          <a:ln/>
        </p:spPr>
        <p:txBody>
          <a:bodyPr/>
          <a:p/>
        </p:txBody>
      </p:sp>
      <p:sp>
        <p:nvSpPr>
          <p:cNvPr id="4" name="Text 2"/>
          <p:cNvSpPr/>
          <p:nvPr/>
        </p:nvSpPr>
        <p:spPr>
          <a:xfrm>
            <a:off x="548640" y="1143000"/>
            <a:ext cx="4667098" cy="777240"/>
          </a:xfrm>
          <a:prstGeom prst="rect">
            <a:avLst/>
          </a:prstGeom>
          <a:noFill/>
          <a:ln/>
        </p:spPr>
        <p:txBody>
          <a:bodyPr wrap="square" lIns="0" tIns="0" rIns="0" bIns="0" rtlCol="0" anchor="ctr">
            <a:normAutofit/>
          </a:bodyPr>
          <a:lstStyle/>
          <a:p>
            <a:pPr indent="0" marL="0">
              <a:lnSpc>
                <a:spcPct val="125000"/>
              </a:lnSpc>
              <a:buNone/>
            </a:pPr>
            <a:r>
              <a:rPr lang="en-US" sz="1400" dirty="0">
                <a:solidFill>
                  <a:srgbClr val="4A5568"/>
                </a:solidFill>
                <a:latin typeface="Calibri Light" pitchFamily="34" charset="0"/>
                <a:ea typeface="Calibri Light" pitchFamily="34" charset="-122"/>
                <a:cs typeface="Calibri Light" pitchFamily="34" charset="-120"/>
              </a:rPr>
              <a:t>Instead of describing what you want, show it. Give AI 2-3 examples of perfect output and it learns the pattern. This is called few-shot learning — and it's the fastest way to get consistent, high-quality results without fine-tuning a model.</a:t>
            </a:r>
            <a:endParaRPr lang="en-US" sz="1400" dirty="0"/>
          </a:p>
        </p:txBody>
      </p:sp>
      <p:sp>
        <p:nvSpPr>
          <p:cNvPr id="5" name="Text 3"/>
          <p:cNvSpPr/>
          <p:nvPr/>
        </p:nvSpPr>
        <p:spPr>
          <a:xfrm>
            <a:off x="548640" y="2286000"/>
            <a:ext cx="4667098" cy="19659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Use examples when: complex formatting, specific tone, edge cases need handling</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Skip examples when: task is straightforward or you want creative variety</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The 3-step framework: show input → show desired output → explain what makes it good</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Key rule: 2-3 diverse examples beat 10 similar ones — show the range, not just the ideal</a:t>
            </a:r>
            <a:endParaRPr lang="en-US" sz="1400" dirty="0"/>
          </a:p>
        </p:txBody>
      </p:sp>
      <p:sp>
        <p:nvSpPr>
          <p:cNvPr id="6" name="Shape 4"/>
          <p:cNvSpPr/>
          <p:nvPr/>
        </p:nvSpPr>
        <p:spPr>
          <a:xfrm>
            <a:off x="5672938" y="1143000"/>
            <a:ext cx="2922422" cy="2926080"/>
          </a:xfrm>
          <a:prstGeom prst="roundedRectangle">
            <a:avLst>
              <a:gd name="adj" fmla="val 250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7" name="Image 0" descr="preencoded.png">    </p:cNvPr>
          <p:cNvPicPr>
            <a:picLocks noChangeAspect="1"/>
          </p:cNvPicPr>
          <p:nvPr/>
        </p:nvPicPr>
        <p:blipFill>
          <a:blip r:embed="rId1"/>
          <a:stretch>
            <a:fillRect/>
          </a:stretch>
        </p:blipFill>
        <p:spPr>
          <a:xfrm>
            <a:off x="6676949" y="2148840"/>
            <a:ext cx="914400" cy="914400"/>
          </a:xfrm>
          <a:prstGeom prst="rect">
            <a:avLst/>
          </a:prstGeom>
        </p:spPr>
      </p:pic>
      <p:sp>
        <p:nvSpPr>
          <p:cNvPr id="8" name="Shape 5"/>
          <p:cNvSpPr/>
          <p:nvPr/>
        </p:nvSpPr>
        <p:spPr>
          <a:xfrm>
            <a:off x="548640" y="4732020"/>
            <a:ext cx="8046720" cy="0"/>
          </a:xfrm>
          <a:prstGeom prst="line">
            <a:avLst/>
          </a:prstGeom>
          <a:noFill/>
          <a:ln w="6350">
            <a:solidFill>
              <a:srgbClr val="E2E8F0"/>
            </a:solidFill>
            <a:prstDash val="solid"/>
          </a:ln>
        </p:spPr>
        <p:txBody>
          <a:bodyPr/>
          <a:p/>
        </p:txBody>
      </p:sp>
      <p:sp>
        <p:nvSpPr>
          <p:cNvPr id="9" name="Text 6"/>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0" name="Text 7"/>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23</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Constraints Improve Results</a:t>
            </a:r>
            <a:endParaRPr lang="en-US" sz="3200" dirty="0"/>
          </a:p>
        </p:txBody>
      </p:sp>
      <p:sp>
        <p:nvSpPr>
          <p:cNvPr id="3" name="Shape 1"/>
          <p:cNvSpPr/>
          <p:nvPr/>
        </p:nvSpPr>
        <p:spPr>
          <a:xfrm>
            <a:off x="548640" y="1143000"/>
            <a:ext cx="3863340" cy="3108960"/>
          </a:xfrm>
          <a:prstGeom prst="roundedRectangle">
            <a:avLst>
              <a:gd name="adj" fmla="val 2353"/>
            </a:avLst>
          </a:prstGeom>
          <a:solidFill>
            <a:srgbClr val="FEF2F2"/>
          </a:solidFill>
          <a:ln/>
        </p:spPr>
        <p:txBody>
          <a:bodyPr/>
          <a:p/>
        </p:txBody>
      </p:sp>
      <p:sp>
        <p:nvSpPr>
          <p:cNvPr id="4" name="Text 2"/>
          <p:cNvSpPr/>
          <p:nvPr/>
        </p:nvSpPr>
        <p:spPr>
          <a:xfrm>
            <a:off x="822960" y="1252728"/>
            <a:ext cx="3314700" cy="274320"/>
          </a:xfrm>
          <a:prstGeom prst="rect">
            <a:avLst/>
          </a:prstGeom>
          <a:noFill/>
          <a:ln/>
        </p:spPr>
        <p:txBody>
          <a:bodyPr wrap="square" lIns="0" tIns="0" rIns="0" bIns="0" rtlCol="0" anchor="ctr"/>
          <a:lstStyle/>
          <a:p>
            <a:pPr indent="0" marL="0">
              <a:buNone/>
            </a:pPr>
            <a:r>
              <a:rPr lang="en-US" sz="1200" b="1" spc="200" kern="0" dirty="0">
                <a:solidFill>
                  <a:srgbClr val="EF4444"/>
                </a:solidFill>
                <a:latin typeface="Calibri" pitchFamily="34" charset="0"/>
                <a:ea typeface="Calibri" pitchFamily="34" charset="-122"/>
                <a:cs typeface="Calibri" pitchFamily="34" charset="-120"/>
              </a:rPr>
              <a:t>BOUNDARY CONSTRAINTS (DON'T)</a:t>
            </a:r>
            <a:endParaRPr lang="en-US" sz="1200" dirty="0"/>
          </a:p>
        </p:txBody>
      </p:sp>
      <p:sp>
        <p:nvSpPr>
          <p:cNvPr id="5" name="Text 3"/>
          <p:cNvSpPr/>
          <p:nvPr/>
        </p:nvSpPr>
        <p:spPr>
          <a:xfrm>
            <a:off x="822960" y="1600200"/>
            <a:ext cx="3314700" cy="25146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Define what NOT to do — narrows the field</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"Avoid technical jargon" — limits vocabulary</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"Don't exceed 300 words" — enforces conciseness</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"No direct sales language" — shapes tone</a:t>
            </a:r>
            <a:endParaRPr lang="en-US" sz="1200" dirty="0"/>
          </a:p>
        </p:txBody>
      </p:sp>
      <p:sp>
        <p:nvSpPr>
          <p:cNvPr id="6" name="Shape 4"/>
          <p:cNvSpPr/>
          <p:nvPr/>
        </p:nvSpPr>
        <p:spPr>
          <a:xfrm>
            <a:off x="4732020" y="1143000"/>
            <a:ext cx="3863340" cy="3108960"/>
          </a:xfrm>
          <a:prstGeom prst="roundedRectangle">
            <a:avLst>
              <a:gd name="adj" fmla="val 2353"/>
            </a:avLst>
          </a:prstGeom>
          <a:solidFill>
            <a:srgbClr val="ECFDF5"/>
          </a:solidFill>
          <a:ln/>
        </p:spPr>
        <p:txBody>
          <a:bodyPr/>
          <a:p/>
        </p:txBody>
      </p:sp>
      <p:sp>
        <p:nvSpPr>
          <p:cNvPr id="7" name="Text 5"/>
          <p:cNvSpPr/>
          <p:nvPr/>
        </p:nvSpPr>
        <p:spPr>
          <a:xfrm>
            <a:off x="5006340" y="1252728"/>
            <a:ext cx="3314700" cy="274320"/>
          </a:xfrm>
          <a:prstGeom prst="rect">
            <a:avLst/>
          </a:prstGeom>
          <a:noFill/>
          <a:ln/>
        </p:spPr>
        <p:txBody>
          <a:bodyPr wrap="square" lIns="0" tIns="0" rIns="0" bIns="0" rtlCol="0" anchor="ctr"/>
          <a:lstStyle/>
          <a:p>
            <a:pPr indent="0" marL="0">
              <a:buNone/>
            </a:pPr>
            <a:r>
              <a:rPr lang="en-US" sz="1200" b="1" spc="200" kern="0" dirty="0">
                <a:solidFill>
                  <a:srgbClr val="10B981"/>
                </a:solidFill>
                <a:latin typeface="Calibri" pitchFamily="34" charset="0"/>
                <a:ea typeface="Calibri" pitchFamily="34" charset="-122"/>
                <a:cs typeface="Calibri" pitchFamily="34" charset="-120"/>
              </a:rPr>
              <a:t>CREATIVE CONSTRAINTS (DO)</a:t>
            </a:r>
            <a:endParaRPr lang="en-US" sz="1200" dirty="0"/>
          </a:p>
        </p:txBody>
      </p:sp>
      <p:sp>
        <p:nvSpPr>
          <p:cNvPr id="8" name="Text 6"/>
          <p:cNvSpPr/>
          <p:nvPr/>
        </p:nvSpPr>
        <p:spPr>
          <a:xfrm>
            <a:off x="5006340" y="1600200"/>
            <a:ext cx="3314700" cy="25146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Force specific innovation within limits</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"Include exactly one personal story" — adds depth</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"Start each paragraph with a question" — drives engagement</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"Use only analogies from cooking" — creates uniqueness</a:t>
            </a:r>
            <a:endParaRPr lang="en-US" sz="1200" dirty="0"/>
          </a:p>
        </p:txBody>
      </p:sp>
      <p:sp>
        <p:nvSpPr>
          <p:cNvPr id="9" name="Shape 7"/>
          <p:cNvSpPr/>
          <p:nvPr/>
        </p:nvSpPr>
        <p:spPr>
          <a:xfrm>
            <a:off x="548640" y="4732020"/>
            <a:ext cx="8046720" cy="0"/>
          </a:xfrm>
          <a:prstGeom prst="line">
            <a:avLst/>
          </a:prstGeom>
          <a:noFill/>
          <a:ln w="6350">
            <a:solidFill>
              <a:srgbClr val="E2E8F0"/>
            </a:solidFill>
            <a:prstDash val="solid"/>
          </a:ln>
        </p:spPr>
        <p:txBody>
          <a:bodyPr/>
          <a:p/>
        </p:txBody>
      </p:sp>
      <p:sp>
        <p:nvSpPr>
          <p:cNvPr id="10" name="Text 8"/>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1" name="Text 9"/>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24</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Format Engineering — Structure Is Function</a:t>
            </a:r>
            <a:endParaRPr lang="en-US" sz="3200" dirty="0"/>
          </a:p>
        </p:txBody>
      </p:sp>
      <p:sp>
        <p:nvSpPr>
          <p:cNvPr id="3" name="Shape 1"/>
          <p:cNvSpPr/>
          <p:nvPr/>
        </p:nvSpPr>
        <p:spPr>
          <a:xfrm>
            <a:off x="548640" y="1143000"/>
            <a:ext cx="3863340" cy="3108960"/>
          </a:xfrm>
          <a:prstGeom prst="roundedRectangle">
            <a:avLst>
              <a:gd name="adj" fmla="val 2353"/>
            </a:avLst>
          </a:prstGeom>
          <a:solidFill>
            <a:srgbClr val="FEF2F2"/>
          </a:solidFill>
          <a:ln/>
        </p:spPr>
        <p:txBody>
          <a:bodyPr/>
          <a:p/>
        </p:txBody>
      </p:sp>
      <p:sp>
        <p:nvSpPr>
          <p:cNvPr id="4" name="Text 2"/>
          <p:cNvSpPr/>
          <p:nvPr/>
        </p:nvSpPr>
        <p:spPr>
          <a:xfrm>
            <a:off x="822960" y="1252728"/>
            <a:ext cx="3314700" cy="274320"/>
          </a:xfrm>
          <a:prstGeom prst="rect">
            <a:avLst/>
          </a:prstGeom>
          <a:noFill/>
          <a:ln/>
        </p:spPr>
        <p:txBody>
          <a:bodyPr wrap="square" lIns="0" tIns="0" rIns="0" bIns="0" rtlCol="0" anchor="ctr"/>
          <a:lstStyle/>
          <a:p>
            <a:pPr indent="0" marL="0">
              <a:buNone/>
            </a:pPr>
            <a:r>
              <a:rPr lang="en-US" sz="1200" b="1" spc="200" kern="0" dirty="0">
                <a:solidFill>
                  <a:srgbClr val="EF4444"/>
                </a:solidFill>
                <a:latin typeface="Calibri" pitchFamily="34" charset="0"/>
                <a:ea typeface="Calibri" pitchFamily="34" charset="-122"/>
                <a:cs typeface="Calibri" pitchFamily="34" charset="-120"/>
              </a:rPr>
              <a:t>WEAK SPECIFICATION</a:t>
            </a:r>
            <a:endParaRPr lang="en-US" sz="1200" dirty="0"/>
          </a:p>
        </p:txBody>
      </p:sp>
      <p:sp>
        <p:nvSpPr>
          <p:cNvPr id="5" name="Text 3"/>
          <p:cNvSpPr/>
          <p:nvPr/>
        </p:nvSpPr>
        <p:spPr>
          <a:xfrm>
            <a:off x="822960" y="1600200"/>
            <a:ext cx="3314700" cy="25146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"Make it professional and well-organized"</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"Write a brief report"</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"Give me a summary"</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AI defaults to generic structure — guesses your format</a:t>
            </a:r>
            <a:endParaRPr lang="en-US" sz="1200" dirty="0"/>
          </a:p>
        </p:txBody>
      </p:sp>
      <p:sp>
        <p:nvSpPr>
          <p:cNvPr id="6" name="Shape 4"/>
          <p:cNvSpPr/>
          <p:nvPr/>
        </p:nvSpPr>
        <p:spPr>
          <a:xfrm>
            <a:off x="4732020" y="1143000"/>
            <a:ext cx="3863340" cy="3108960"/>
          </a:xfrm>
          <a:prstGeom prst="roundedRectangle">
            <a:avLst>
              <a:gd name="adj" fmla="val 2353"/>
            </a:avLst>
          </a:prstGeom>
          <a:solidFill>
            <a:srgbClr val="ECFDF5"/>
          </a:solidFill>
          <a:ln/>
        </p:spPr>
        <p:txBody>
          <a:bodyPr/>
          <a:p/>
        </p:txBody>
      </p:sp>
      <p:sp>
        <p:nvSpPr>
          <p:cNvPr id="7" name="Text 5"/>
          <p:cNvSpPr/>
          <p:nvPr/>
        </p:nvSpPr>
        <p:spPr>
          <a:xfrm>
            <a:off x="5006340" y="1252728"/>
            <a:ext cx="3314700" cy="274320"/>
          </a:xfrm>
          <a:prstGeom prst="rect">
            <a:avLst/>
          </a:prstGeom>
          <a:noFill/>
          <a:ln/>
        </p:spPr>
        <p:txBody>
          <a:bodyPr wrap="square" lIns="0" tIns="0" rIns="0" bIns="0" rtlCol="0" anchor="ctr"/>
          <a:lstStyle/>
          <a:p>
            <a:pPr indent="0" marL="0">
              <a:buNone/>
            </a:pPr>
            <a:r>
              <a:rPr lang="en-US" sz="1200" b="1" spc="200" kern="0" dirty="0">
                <a:solidFill>
                  <a:srgbClr val="10B981"/>
                </a:solidFill>
                <a:latin typeface="Calibri" pitchFamily="34" charset="0"/>
                <a:ea typeface="Calibri" pitchFamily="34" charset="-122"/>
                <a:cs typeface="Calibri" pitchFamily="34" charset="-120"/>
              </a:rPr>
              <a:t>STRONG SPECIFICATION</a:t>
            </a:r>
            <a:endParaRPr lang="en-US" sz="1200" dirty="0"/>
          </a:p>
        </p:txBody>
      </p:sp>
      <p:sp>
        <p:nvSpPr>
          <p:cNvPr id="8" name="Text 6"/>
          <p:cNvSpPr/>
          <p:nvPr/>
        </p:nvSpPr>
        <p:spPr>
          <a:xfrm>
            <a:off x="5006340" y="1600200"/>
            <a:ext cx="3314700" cy="25146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"Exec Summary (3 bullets, 20 words each), Analysis (numbered), Recs (prioritized with timeline)"</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"Meeting Prep: Objective (1 line), Key Points (3-5 bullets), Data (table), Action Items (priority)"</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"IF audience=execs THEN 3 bullet summary; IF technical THEN methodology + data tables"</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Format IS function — structure determines usability more than substance</a:t>
            </a:r>
            <a:endParaRPr lang="en-US" sz="1200" dirty="0"/>
          </a:p>
        </p:txBody>
      </p:sp>
      <p:sp>
        <p:nvSpPr>
          <p:cNvPr id="9" name="Shape 7"/>
          <p:cNvSpPr/>
          <p:nvPr/>
        </p:nvSpPr>
        <p:spPr>
          <a:xfrm>
            <a:off x="548640" y="4732020"/>
            <a:ext cx="8046720" cy="0"/>
          </a:xfrm>
          <a:prstGeom prst="line">
            <a:avLst/>
          </a:prstGeom>
          <a:noFill/>
          <a:ln w="6350">
            <a:solidFill>
              <a:srgbClr val="E2E8F0"/>
            </a:solidFill>
            <a:prstDash val="solid"/>
          </a:ln>
        </p:spPr>
        <p:txBody>
          <a:bodyPr/>
          <a:p/>
        </p:txBody>
      </p:sp>
      <p:sp>
        <p:nvSpPr>
          <p:cNvPr id="10" name="Text 8"/>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1" name="Text 9"/>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25</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The 4-Dimension Role Model</a:t>
            </a:r>
            <a:endParaRPr lang="en-US" sz="3200" dirty="0"/>
          </a:p>
        </p:txBody>
      </p:sp>
      <p:sp>
        <p:nvSpPr>
          <p:cNvPr id="3" name="Shape 1"/>
          <p:cNvSpPr/>
          <p:nvPr/>
        </p:nvSpPr>
        <p:spPr>
          <a:xfrm>
            <a:off x="548640" y="10515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4" name="Shape 2"/>
          <p:cNvSpPr/>
          <p:nvPr/>
        </p:nvSpPr>
        <p:spPr>
          <a:xfrm>
            <a:off x="548640" y="1051560"/>
            <a:ext cx="45720" cy="1600200"/>
          </a:xfrm>
          <a:prstGeom prst="rect">
            <a:avLst/>
          </a:prstGeom>
          <a:solidFill>
            <a:srgbClr val="0891B2"/>
          </a:solidFill>
          <a:ln/>
        </p:spPr>
        <p:txBody>
          <a:bodyPr/>
          <a:p/>
        </p:txBody>
      </p:sp>
      <p:pic>
        <p:nvPicPr>
          <p:cNvPr id="5" name="Image 0" descr="preencoded.png">    </p:cNvPr>
          <p:cNvPicPr>
            <a:picLocks noChangeAspect="1"/>
          </p:cNvPicPr>
          <p:nvPr/>
        </p:nvPicPr>
        <p:blipFill>
          <a:blip r:embed="rId1"/>
          <a:stretch>
            <a:fillRect/>
          </a:stretch>
        </p:blipFill>
        <p:spPr>
          <a:xfrm>
            <a:off x="777240" y="1234440"/>
            <a:ext cx="365760" cy="365760"/>
          </a:xfrm>
          <a:prstGeom prst="rect">
            <a:avLst/>
          </a:prstGeom>
        </p:spPr>
      </p:pic>
      <p:sp>
        <p:nvSpPr>
          <p:cNvPr id="6" name="Text 3"/>
          <p:cNvSpPr/>
          <p:nvPr/>
        </p:nvSpPr>
        <p:spPr>
          <a:xfrm>
            <a:off x="1280160" y="11887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Domain Expertise</a:t>
            </a:r>
            <a:endParaRPr lang="en-US" sz="1400" dirty="0"/>
          </a:p>
        </p:txBody>
      </p:sp>
      <p:sp>
        <p:nvSpPr>
          <p:cNvPr id="7" name="Text 4"/>
          <p:cNvSpPr/>
          <p:nvPr/>
        </p:nvSpPr>
        <p:spPr>
          <a:xfrm>
            <a:off x="777240" y="16916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Industry knowledge: "10 years in consumer electronics distribution." Tells AI what world it lives in.</a:t>
            </a:r>
            <a:endParaRPr lang="en-US" sz="1200" dirty="0"/>
          </a:p>
        </p:txBody>
      </p:sp>
      <p:sp>
        <p:nvSpPr>
          <p:cNvPr id="8" name="Shape 5"/>
          <p:cNvSpPr/>
          <p:nvPr/>
        </p:nvSpPr>
        <p:spPr>
          <a:xfrm>
            <a:off x="4686300" y="10515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9" name="Shape 6"/>
          <p:cNvSpPr/>
          <p:nvPr/>
        </p:nvSpPr>
        <p:spPr>
          <a:xfrm>
            <a:off x="4686300" y="1051560"/>
            <a:ext cx="45720" cy="1600200"/>
          </a:xfrm>
          <a:prstGeom prst="rect">
            <a:avLst/>
          </a:prstGeom>
          <a:solidFill>
            <a:srgbClr val="0891B2"/>
          </a:solidFill>
          <a:ln/>
        </p:spPr>
        <p:txBody>
          <a:bodyPr/>
          <a:p/>
        </p:txBody>
      </p:sp>
      <p:pic>
        <p:nvPicPr>
          <p:cNvPr id="10" name="Image 1" descr="preencoded.png">    </p:cNvPr>
          <p:cNvPicPr>
            <a:picLocks noChangeAspect="1"/>
          </p:cNvPicPr>
          <p:nvPr/>
        </p:nvPicPr>
        <p:blipFill>
          <a:blip r:embed="rId2"/>
          <a:stretch>
            <a:fillRect/>
          </a:stretch>
        </p:blipFill>
        <p:spPr>
          <a:xfrm>
            <a:off x="4914900" y="1234440"/>
            <a:ext cx="365760" cy="365760"/>
          </a:xfrm>
          <a:prstGeom prst="rect">
            <a:avLst/>
          </a:prstGeom>
        </p:spPr>
      </p:pic>
      <p:sp>
        <p:nvSpPr>
          <p:cNvPr id="11" name="Text 7"/>
          <p:cNvSpPr/>
          <p:nvPr/>
        </p:nvSpPr>
        <p:spPr>
          <a:xfrm>
            <a:off x="5417820" y="11887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Functional Expertise</a:t>
            </a:r>
            <a:endParaRPr lang="en-US" sz="1400" dirty="0"/>
          </a:p>
        </p:txBody>
      </p:sp>
      <p:sp>
        <p:nvSpPr>
          <p:cNvPr id="12" name="Text 8"/>
          <p:cNvSpPr/>
          <p:nvPr/>
        </p:nvSpPr>
        <p:spPr>
          <a:xfrm>
            <a:off x="4914900" y="16916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Specific skills: "Specializes in inventory optimization and demand forecasting." Activates deep patterns.</a:t>
            </a:r>
            <a:endParaRPr lang="en-US" sz="1200" dirty="0"/>
          </a:p>
        </p:txBody>
      </p:sp>
      <p:sp>
        <p:nvSpPr>
          <p:cNvPr id="13" name="Shape 9"/>
          <p:cNvSpPr/>
          <p:nvPr/>
        </p:nvSpPr>
        <p:spPr>
          <a:xfrm>
            <a:off x="548640" y="28803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4" name="Shape 10"/>
          <p:cNvSpPr/>
          <p:nvPr/>
        </p:nvSpPr>
        <p:spPr>
          <a:xfrm>
            <a:off x="548640" y="2880360"/>
            <a:ext cx="45720" cy="1600200"/>
          </a:xfrm>
          <a:prstGeom prst="rect">
            <a:avLst/>
          </a:prstGeom>
          <a:solidFill>
            <a:srgbClr val="0891B2"/>
          </a:solidFill>
          <a:ln/>
        </p:spPr>
        <p:txBody>
          <a:bodyPr/>
          <a:p/>
        </p:txBody>
      </p:sp>
      <p:pic>
        <p:nvPicPr>
          <p:cNvPr id="15" name="Image 2" descr="preencoded.png">    </p:cNvPr>
          <p:cNvPicPr>
            <a:picLocks noChangeAspect="1"/>
          </p:cNvPicPr>
          <p:nvPr/>
        </p:nvPicPr>
        <p:blipFill>
          <a:blip r:embed="rId3"/>
          <a:stretch>
            <a:fillRect/>
          </a:stretch>
        </p:blipFill>
        <p:spPr>
          <a:xfrm>
            <a:off x="777240" y="3063240"/>
            <a:ext cx="365760" cy="365760"/>
          </a:xfrm>
          <a:prstGeom prst="rect">
            <a:avLst/>
          </a:prstGeom>
        </p:spPr>
      </p:pic>
      <p:sp>
        <p:nvSpPr>
          <p:cNvPr id="16" name="Text 11"/>
          <p:cNvSpPr/>
          <p:nvPr/>
        </p:nvSpPr>
        <p:spPr>
          <a:xfrm>
            <a:off x="1280160" y="30175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Audience Expertise</a:t>
            </a:r>
            <a:endParaRPr lang="en-US" sz="1400" dirty="0"/>
          </a:p>
        </p:txBody>
      </p:sp>
      <p:sp>
        <p:nvSpPr>
          <p:cNvPr id="17" name="Text 12"/>
          <p:cNvSpPr/>
          <p:nvPr/>
        </p:nvSpPr>
        <p:spPr>
          <a:xfrm>
            <a:off x="777240" y="35204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Who they serve: "Communicates with non-technical dealers and warehouse staff." Shapes language and depth.</a:t>
            </a:r>
            <a:endParaRPr lang="en-US" sz="1200" dirty="0"/>
          </a:p>
        </p:txBody>
      </p:sp>
      <p:sp>
        <p:nvSpPr>
          <p:cNvPr id="18" name="Shape 13"/>
          <p:cNvSpPr/>
          <p:nvPr/>
        </p:nvSpPr>
        <p:spPr>
          <a:xfrm>
            <a:off x="4686300" y="28803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9" name="Shape 14"/>
          <p:cNvSpPr/>
          <p:nvPr/>
        </p:nvSpPr>
        <p:spPr>
          <a:xfrm>
            <a:off x="4686300" y="2880360"/>
            <a:ext cx="45720" cy="1600200"/>
          </a:xfrm>
          <a:prstGeom prst="rect">
            <a:avLst/>
          </a:prstGeom>
          <a:solidFill>
            <a:srgbClr val="0891B2"/>
          </a:solidFill>
          <a:ln/>
        </p:spPr>
        <p:txBody>
          <a:bodyPr/>
          <a:p/>
        </p:txBody>
      </p:sp>
      <p:pic>
        <p:nvPicPr>
          <p:cNvPr id="20" name="Image 3" descr="preencoded.png">    </p:cNvPr>
          <p:cNvPicPr>
            <a:picLocks noChangeAspect="1"/>
          </p:cNvPicPr>
          <p:nvPr/>
        </p:nvPicPr>
        <p:blipFill>
          <a:blip r:embed="rId4"/>
          <a:stretch>
            <a:fillRect/>
          </a:stretch>
        </p:blipFill>
        <p:spPr>
          <a:xfrm>
            <a:off x="4914900" y="3063240"/>
            <a:ext cx="365760" cy="365760"/>
          </a:xfrm>
          <a:prstGeom prst="rect">
            <a:avLst/>
          </a:prstGeom>
        </p:spPr>
      </p:pic>
      <p:sp>
        <p:nvSpPr>
          <p:cNvPr id="21" name="Text 15"/>
          <p:cNvSpPr/>
          <p:nvPr/>
        </p:nvSpPr>
        <p:spPr>
          <a:xfrm>
            <a:off x="5417820" y="30175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Approach Expertise</a:t>
            </a:r>
            <a:endParaRPr lang="en-US" sz="1400" dirty="0"/>
          </a:p>
        </p:txBody>
      </p:sp>
      <p:sp>
        <p:nvSpPr>
          <p:cNvPr id="22" name="Text 16"/>
          <p:cNvSpPr/>
          <p:nvPr/>
        </p:nvSpPr>
        <p:spPr>
          <a:xfrm>
            <a:off x="4914900" y="35204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Philosophy: "Data-driven, conservative estimates, always provides confidence levels." Defines HOW it thinks.</a:t>
            </a:r>
            <a:endParaRPr lang="en-US" sz="1200" dirty="0"/>
          </a:p>
        </p:txBody>
      </p:sp>
      <p:sp>
        <p:nvSpPr>
          <p:cNvPr id="23" name="Shape 17"/>
          <p:cNvSpPr/>
          <p:nvPr/>
        </p:nvSpPr>
        <p:spPr>
          <a:xfrm>
            <a:off x="548640" y="4732020"/>
            <a:ext cx="8046720" cy="0"/>
          </a:xfrm>
          <a:prstGeom prst="line">
            <a:avLst/>
          </a:prstGeom>
          <a:noFill/>
          <a:ln w="6350">
            <a:solidFill>
              <a:srgbClr val="E2E8F0"/>
            </a:solidFill>
            <a:prstDash val="solid"/>
          </a:ln>
        </p:spPr>
        <p:txBody>
          <a:bodyPr/>
          <a:p/>
        </p:txBody>
      </p:sp>
      <p:sp>
        <p:nvSpPr>
          <p:cNvPr id="24" name="Text 18"/>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25" name="Text 19"/>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26</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Building Reusable Context Documents</a:t>
            </a:r>
            <a:endParaRPr lang="en-US" sz="3200" dirty="0"/>
          </a:p>
        </p:txBody>
      </p:sp>
      <p:sp>
        <p:nvSpPr>
          <p:cNvPr id="3" name="Shape 1"/>
          <p:cNvSpPr/>
          <p:nvPr/>
        </p:nvSpPr>
        <p:spPr>
          <a:xfrm>
            <a:off x="548640" y="114300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4" name="Shape 2"/>
          <p:cNvSpPr/>
          <p:nvPr/>
        </p:nvSpPr>
        <p:spPr>
          <a:xfrm>
            <a:off x="548640" y="1143000"/>
            <a:ext cx="54864" cy="621792"/>
          </a:xfrm>
          <a:prstGeom prst="rect">
            <a:avLst/>
          </a:prstGeom>
          <a:solidFill>
            <a:srgbClr val="0891B2"/>
          </a:solidFill>
          <a:ln/>
        </p:spPr>
        <p:txBody>
          <a:bodyPr/>
          <a:p/>
        </p:txBody>
      </p:sp>
      <p:sp>
        <p:nvSpPr>
          <p:cNvPr id="5" name="Text 3"/>
          <p:cNvSpPr/>
          <p:nvPr/>
        </p:nvSpPr>
        <p:spPr>
          <a:xfrm>
            <a:off x="777240" y="114300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1463040" y="114300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Brand Context Doc</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Company overview, unique positioning, voice guidelines, dos/don'ts — persistent across every AI interaction</a:t>
            </a:r>
            <a:endParaRPr lang="en-US" sz="1400" dirty="0"/>
          </a:p>
        </p:txBody>
      </p:sp>
      <p:sp>
        <p:nvSpPr>
          <p:cNvPr id="7" name="Shape 5"/>
          <p:cNvSpPr/>
          <p:nvPr/>
        </p:nvSpPr>
        <p:spPr>
          <a:xfrm>
            <a:off x="548640" y="187452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8" name="Shape 6"/>
          <p:cNvSpPr/>
          <p:nvPr/>
        </p:nvSpPr>
        <p:spPr>
          <a:xfrm>
            <a:off x="548640" y="1874520"/>
            <a:ext cx="54864" cy="621792"/>
          </a:xfrm>
          <a:prstGeom prst="rect">
            <a:avLst/>
          </a:prstGeom>
          <a:solidFill>
            <a:srgbClr val="0891B2"/>
          </a:solidFill>
          <a:ln/>
        </p:spPr>
        <p:txBody>
          <a:bodyPr/>
          <a:p/>
        </p:txBody>
      </p:sp>
      <p:sp>
        <p:nvSpPr>
          <p:cNvPr id="9" name="Text 7"/>
          <p:cNvSpPr/>
          <p:nvPr/>
        </p:nvSpPr>
        <p:spPr>
          <a:xfrm>
            <a:off x="777240" y="187452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02</a:t>
            </a:r>
            <a:endParaRPr lang="en-US" sz="2200" dirty="0"/>
          </a:p>
        </p:txBody>
      </p:sp>
      <p:sp>
        <p:nvSpPr>
          <p:cNvPr id="10" name="Text 8"/>
          <p:cNvSpPr/>
          <p:nvPr/>
        </p:nvSpPr>
        <p:spPr>
          <a:xfrm>
            <a:off x="1463040" y="187452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Customer Context Doc</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Personas, pain points, language they use, objections — so AI writes TO your audience, not at them</a:t>
            </a:r>
            <a:endParaRPr lang="en-US" sz="1400" dirty="0"/>
          </a:p>
        </p:txBody>
      </p:sp>
      <p:sp>
        <p:nvSpPr>
          <p:cNvPr id="11" name="Shape 9"/>
          <p:cNvSpPr/>
          <p:nvPr/>
        </p:nvSpPr>
        <p:spPr>
          <a:xfrm>
            <a:off x="548640" y="260604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2" name="Shape 10"/>
          <p:cNvSpPr/>
          <p:nvPr/>
        </p:nvSpPr>
        <p:spPr>
          <a:xfrm>
            <a:off x="548640" y="2606040"/>
            <a:ext cx="54864" cy="621792"/>
          </a:xfrm>
          <a:prstGeom prst="rect">
            <a:avLst/>
          </a:prstGeom>
          <a:solidFill>
            <a:srgbClr val="0891B2"/>
          </a:solidFill>
          <a:ln/>
        </p:spPr>
        <p:txBody>
          <a:bodyPr/>
          <a:p/>
        </p:txBody>
      </p:sp>
      <p:sp>
        <p:nvSpPr>
          <p:cNvPr id="13" name="Text 11"/>
          <p:cNvSpPr/>
          <p:nvPr/>
        </p:nvSpPr>
        <p:spPr>
          <a:xfrm>
            <a:off x="777240" y="260604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03</a:t>
            </a:r>
            <a:endParaRPr lang="en-US" sz="2200" dirty="0"/>
          </a:p>
        </p:txBody>
      </p:sp>
      <p:sp>
        <p:nvSpPr>
          <p:cNvPr id="14" name="Text 12"/>
          <p:cNvSpPr/>
          <p:nvPr/>
        </p:nvSpPr>
        <p:spPr>
          <a:xfrm>
            <a:off x="1463040" y="260604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Format Context Doc</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Templates, structures, examples of good output — defines what 'done right' looks like for your business</a:t>
            </a:r>
            <a:endParaRPr lang="en-US" sz="1400" dirty="0"/>
          </a:p>
        </p:txBody>
      </p:sp>
      <p:sp>
        <p:nvSpPr>
          <p:cNvPr id="15" name="Shape 13"/>
          <p:cNvSpPr/>
          <p:nvPr/>
        </p:nvSpPr>
        <p:spPr>
          <a:xfrm>
            <a:off x="548640" y="333756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6" name="Shape 14"/>
          <p:cNvSpPr/>
          <p:nvPr/>
        </p:nvSpPr>
        <p:spPr>
          <a:xfrm>
            <a:off x="548640" y="3337560"/>
            <a:ext cx="54864" cy="621792"/>
          </a:xfrm>
          <a:prstGeom prst="rect">
            <a:avLst/>
          </a:prstGeom>
          <a:solidFill>
            <a:srgbClr val="0891B2"/>
          </a:solidFill>
          <a:ln/>
        </p:spPr>
        <p:txBody>
          <a:bodyPr/>
          <a:p/>
        </p:txBody>
      </p:sp>
      <p:sp>
        <p:nvSpPr>
          <p:cNvPr id="17" name="Text 15"/>
          <p:cNvSpPr/>
          <p:nvPr/>
        </p:nvSpPr>
        <p:spPr>
          <a:xfrm>
            <a:off x="777240" y="333756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04</a:t>
            </a:r>
            <a:endParaRPr lang="en-US" sz="2200" dirty="0"/>
          </a:p>
        </p:txBody>
      </p:sp>
      <p:sp>
        <p:nvSpPr>
          <p:cNvPr id="18" name="Text 16"/>
          <p:cNvSpPr/>
          <p:nvPr/>
        </p:nvSpPr>
        <p:spPr>
          <a:xfrm>
            <a:off x="1463040" y="333756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Process Context Doc</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Workflows, approval chains, brand standards — maps directly to AGENTS.MD in the next section</a:t>
            </a:r>
            <a:endParaRPr lang="en-US" sz="1400" dirty="0"/>
          </a:p>
        </p:txBody>
      </p:sp>
      <p:sp>
        <p:nvSpPr>
          <p:cNvPr id="19" name="Shape 17"/>
          <p:cNvSpPr/>
          <p:nvPr/>
        </p:nvSpPr>
        <p:spPr>
          <a:xfrm>
            <a:off x="548640" y="4732020"/>
            <a:ext cx="8046720" cy="0"/>
          </a:xfrm>
          <a:prstGeom prst="line">
            <a:avLst/>
          </a:prstGeom>
          <a:noFill/>
          <a:ln w="6350">
            <a:solidFill>
              <a:srgbClr val="E2E8F0"/>
            </a:solidFill>
            <a:prstDash val="solid"/>
          </a:ln>
        </p:spPr>
        <p:txBody>
          <a:bodyPr/>
          <a:p/>
        </p:txBody>
      </p:sp>
      <p:sp>
        <p:nvSpPr>
          <p:cNvPr id="20" name="Text 18"/>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21" name="Text 19"/>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27</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77240" y="1188720"/>
            <a:ext cx="5486400" cy="320040"/>
          </a:xfrm>
          <a:prstGeom prst="rect">
            <a:avLst/>
          </a:prstGeom>
          <a:noFill/>
          <a:ln/>
        </p:spPr>
        <p:txBody>
          <a:bodyPr wrap="square" lIns="0" tIns="0" rIns="0" bIns="0" rtlCol="0" anchor="ctr"/>
          <a:lstStyle/>
          <a:p>
            <a:pPr indent="0" marL="0">
              <a:buNone/>
            </a:pPr>
            <a:r>
              <a:rPr lang="en-US" sz="1100" b="1" spc="400" kern="0" dirty="0">
                <a:solidFill>
                  <a:srgbClr val="0891B2"/>
                </a:solidFill>
                <a:latin typeface="Calibri" pitchFamily="34" charset="0"/>
                <a:ea typeface="Calibri" pitchFamily="34" charset="-122"/>
                <a:cs typeface="Calibri" pitchFamily="34" charset="-120"/>
              </a:rPr>
              <a:t>SECTION 04</a:t>
            </a:r>
            <a:endParaRPr lang="en-US" sz="1100" dirty="0"/>
          </a:p>
        </p:txBody>
      </p:sp>
      <p:sp>
        <p:nvSpPr>
          <p:cNvPr id="3" name="Shape 1"/>
          <p:cNvSpPr/>
          <p:nvPr/>
        </p:nvSpPr>
        <p:spPr>
          <a:xfrm>
            <a:off x="777240" y="1600200"/>
            <a:ext cx="731520" cy="36576"/>
          </a:xfrm>
          <a:prstGeom prst="rect">
            <a:avLst/>
          </a:prstGeom>
          <a:solidFill>
            <a:srgbClr val="0891B2"/>
          </a:solidFill>
          <a:ln/>
        </p:spPr>
        <p:txBody>
          <a:bodyPr/>
          <a:p/>
        </p:txBody>
      </p:sp>
      <p:sp>
        <p:nvSpPr>
          <p:cNvPr id="4" name="Text 2"/>
          <p:cNvSpPr/>
          <p:nvPr/>
        </p:nvSpPr>
        <p:spPr>
          <a:xfrm>
            <a:off x="777240" y="1783080"/>
            <a:ext cx="7315200" cy="9144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YOUR DEVELOPMENT TOOLKIT</a:t>
            </a:r>
            <a:endParaRPr lang="en-US" sz="3000" dirty="0"/>
          </a:p>
        </p:txBody>
      </p:sp>
      <p:sp>
        <p:nvSpPr>
          <p:cNvPr id="5" name="Text 3"/>
          <p:cNvSpPr/>
          <p:nvPr/>
        </p:nvSpPr>
        <p:spPr>
          <a:xfrm>
            <a:off x="777240" y="2697480"/>
            <a:ext cx="6400800" cy="457200"/>
          </a:xfrm>
          <a:prstGeom prst="rect">
            <a:avLst/>
          </a:prstGeom>
          <a:noFill/>
          <a:ln/>
        </p:spPr>
        <p:txBody>
          <a:bodyPr wrap="square" lIns="0" tIns="0" rIns="0" bIns="0" rtlCol="0" anchor="ctr"/>
          <a:lstStyle/>
          <a:p>
            <a:pPr indent="0" marL="0">
              <a:buNone/>
            </a:pPr>
            <a:r>
              <a:rPr lang="en-US" sz="1800" dirty="0">
                <a:solidFill>
                  <a:srgbClr val="94A3B8"/>
                </a:solidFill>
                <a:latin typeface="Calibri Light" pitchFamily="34" charset="0"/>
                <a:ea typeface="Calibri Light" pitchFamily="34" charset="-122"/>
                <a:cs typeface="Calibri Light" pitchFamily="34" charset="-120"/>
              </a:rPr>
              <a:t>Agents, Skills, MCPs, and the tech stack</a:t>
            </a:r>
            <a:endParaRPr lang="en-US" sz="1800" dirty="0"/>
          </a:p>
        </p:txBody>
      </p:sp>
      <p:sp>
        <p:nvSpPr>
          <p:cNvPr id="6" name="Text 4"/>
          <p:cNvSpPr/>
          <p:nvPr/>
        </p:nvSpPr>
        <p:spPr>
          <a:xfrm>
            <a:off x="777240" y="4320540"/>
            <a:ext cx="3657600" cy="320040"/>
          </a:xfrm>
          <a:prstGeom prst="rect">
            <a:avLst/>
          </a:prstGeom>
          <a:noFill/>
          <a:ln/>
        </p:spPr>
        <p:txBody>
          <a:bodyPr wrap="square" lIns="0" tIns="0" rIns="0" bIns="0" rtlCol="0" anchor="ctr"/>
          <a:lstStyle/>
          <a:p>
            <a:pPr indent="0" marL="0">
              <a:buNone/>
            </a:pPr>
            <a:r>
              <a:rPr lang="en-US" sz="1400" dirty="0">
                <a:solidFill>
                  <a:srgbClr val="94A3B8"/>
                </a:solidFill>
                <a:latin typeface="Calibri Light" pitchFamily="34" charset="0"/>
                <a:ea typeface="Calibri Light" pitchFamily="34" charset="-122"/>
                <a:cs typeface="Calibri Light" pitchFamily="34" charset="-120"/>
              </a:rPr>
              <a:t>~25 minutes</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The Tech Stack for Every Project</a:t>
            </a:r>
            <a:endParaRPr lang="en-US" sz="3200" dirty="0"/>
          </a:p>
        </p:txBody>
      </p:sp>
      <p:sp>
        <p:nvSpPr>
          <p:cNvPr id="3" name="Shape 1"/>
          <p:cNvSpPr/>
          <p:nvPr/>
        </p:nvSpPr>
        <p:spPr>
          <a:xfrm>
            <a:off x="54864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4" name="Image 0" descr="preencoded.png">    </p:cNvPr>
          <p:cNvPicPr>
            <a:picLocks noChangeAspect="1"/>
          </p:cNvPicPr>
          <p:nvPr/>
        </p:nvPicPr>
        <p:blipFill>
          <a:blip r:embed="rId1"/>
          <a:stretch>
            <a:fillRect/>
          </a:stretch>
        </p:blipFill>
        <p:spPr>
          <a:xfrm>
            <a:off x="1554480" y="1463040"/>
            <a:ext cx="457200" cy="457200"/>
          </a:xfrm>
          <a:prstGeom prst="rect">
            <a:avLst/>
          </a:prstGeom>
        </p:spPr>
      </p:pic>
      <p:sp>
        <p:nvSpPr>
          <p:cNvPr id="5" name="Text 2"/>
          <p:cNvSpPr/>
          <p:nvPr/>
        </p:nvSpPr>
        <p:spPr>
          <a:xfrm>
            <a:off x="82296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Vercel + Next.js</a:t>
            </a:r>
            <a:endParaRPr lang="en-US" sz="1600" dirty="0"/>
          </a:p>
        </p:txBody>
      </p:sp>
      <p:sp>
        <p:nvSpPr>
          <p:cNvPr id="6" name="Text 3"/>
          <p:cNvSpPr/>
          <p:nvPr/>
        </p:nvSpPr>
        <p:spPr>
          <a:xfrm>
            <a:off x="82296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Free hosting platform. Next.js gives you frontend and backend in one codebase. Deploy with a single push to GitHub.</a:t>
            </a:r>
            <a:endParaRPr lang="en-US" sz="1200" dirty="0"/>
          </a:p>
        </p:txBody>
      </p:sp>
      <p:sp>
        <p:nvSpPr>
          <p:cNvPr id="7" name="Shape 4"/>
          <p:cNvSpPr/>
          <p:nvPr/>
        </p:nvSpPr>
        <p:spPr>
          <a:xfrm>
            <a:off x="333756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8" name="Image 1" descr="preencoded.png">    </p:cNvPr>
          <p:cNvPicPr>
            <a:picLocks noChangeAspect="1"/>
          </p:cNvPicPr>
          <p:nvPr/>
        </p:nvPicPr>
        <p:blipFill>
          <a:blip r:embed="rId2"/>
          <a:stretch>
            <a:fillRect/>
          </a:stretch>
        </p:blipFill>
        <p:spPr>
          <a:xfrm>
            <a:off x="4343400" y="1463040"/>
            <a:ext cx="457200" cy="457200"/>
          </a:xfrm>
          <a:prstGeom prst="rect">
            <a:avLst/>
          </a:prstGeom>
        </p:spPr>
      </p:pic>
      <p:sp>
        <p:nvSpPr>
          <p:cNvPr id="9" name="Text 5"/>
          <p:cNvSpPr/>
          <p:nvPr/>
        </p:nvSpPr>
        <p:spPr>
          <a:xfrm>
            <a:off x="361188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Supabase + Prisma</a:t>
            </a:r>
            <a:endParaRPr lang="en-US" sz="1600" dirty="0"/>
          </a:p>
        </p:txBody>
      </p:sp>
      <p:sp>
        <p:nvSpPr>
          <p:cNvPr id="10" name="Text 6"/>
          <p:cNvSpPr/>
          <p:nvPr/>
        </p:nvSpPr>
        <p:spPr>
          <a:xfrm>
            <a:off x="361188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PostgreSQL database (Supabase) with a type-safe bridge (Prisma ORM). Free tier is generous. Your data layer.</a:t>
            </a:r>
            <a:endParaRPr lang="en-US" sz="1200" dirty="0"/>
          </a:p>
        </p:txBody>
      </p:sp>
      <p:sp>
        <p:nvSpPr>
          <p:cNvPr id="11" name="Shape 7"/>
          <p:cNvSpPr/>
          <p:nvPr/>
        </p:nvSpPr>
        <p:spPr>
          <a:xfrm>
            <a:off x="612648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12" name="Image 2" descr="preencoded.png">    </p:cNvPr>
          <p:cNvPicPr>
            <a:picLocks noChangeAspect="1"/>
          </p:cNvPicPr>
          <p:nvPr/>
        </p:nvPicPr>
        <p:blipFill>
          <a:blip r:embed="rId3"/>
          <a:stretch>
            <a:fillRect/>
          </a:stretch>
        </p:blipFill>
        <p:spPr>
          <a:xfrm>
            <a:off x="7132320" y="1463040"/>
            <a:ext cx="457200" cy="457200"/>
          </a:xfrm>
          <a:prstGeom prst="rect">
            <a:avLst/>
          </a:prstGeom>
        </p:spPr>
      </p:pic>
      <p:sp>
        <p:nvSpPr>
          <p:cNvPr id="13" name="Text 8"/>
          <p:cNvSpPr/>
          <p:nvPr/>
        </p:nvSpPr>
        <p:spPr>
          <a:xfrm>
            <a:off x="640080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GitHub</a:t>
            </a:r>
            <a:endParaRPr lang="en-US" sz="1600" dirty="0"/>
          </a:p>
        </p:txBody>
      </p:sp>
      <p:sp>
        <p:nvSpPr>
          <p:cNvPr id="14" name="Text 9"/>
          <p:cNvSpPr/>
          <p:nvPr/>
        </p:nvSpPr>
        <p:spPr>
          <a:xfrm>
            <a:off x="640080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Google Drive for your code. Version control, collaboration, and deployment pipeline. Commit after every chunk of work.</a:t>
            </a:r>
            <a:endParaRPr lang="en-US" sz="1200" dirty="0"/>
          </a:p>
        </p:txBody>
      </p:sp>
      <p:sp>
        <p:nvSpPr>
          <p:cNvPr id="15" name="Shape 10"/>
          <p:cNvSpPr/>
          <p:nvPr/>
        </p:nvSpPr>
        <p:spPr>
          <a:xfrm>
            <a:off x="548640" y="4732020"/>
            <a:ext cx="8046720" cy="0"/>
          </a:xfrm>
          <a:prstGeom prst="line">
            <a:avLst/>
          </a:prstGeom>
          <a:noFill/>
          <a:ln w="6350">
            <a:solidFill>
              <a:srgbClr val="E2E8F0"/>
            </a:solidFill>
            <a:prstDash val="solid"/>
          </a:ln>
        </p:spPr>
        <p:txBody>
          <a:bodyPr/>
          <a:p/>
        </p:txBody>
      </p:sp>
      <p:sp>
        <p:nvSpPr>
          <p:cNvPr id="16" name="Text 11"/>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7" name="Text 12"/>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28</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AGENTS.MD — Your Agent's Operating System</a:t>
            </a:r>
            <a:endParaRPr lang="en-US" sz="3200" dirty="0"/>
          </a:p>
        </p:txBody>
      </p:sp>
      <p:sp>
        <p:nvSpPr>
          <p:cNvPr id="3" name="Shape 1"/>
          <p:cNvSpPr/>
          <p:nvPr/>
        </p:nvSpPr>
        <p:spPr>
          <a:xfrm>
            <a:off x="548640" y="914400"/>
            <a:ext cx="548640" cy="36576"/>
          </a:xfrm>
          <a:prstGeom prst="rect">
            <a:avLst/>
          </a:prstGeom>
          <a:solidFill>
            <a:srgbClr val="0891B2"/>
          </a:solidFill>
          <a:ln/>
        </p:spPr>
        <p:txBody>
          <a:bodyPr/>
          <a:p/>
        </p:txBody>
      </p:sp>
      <p:sp>
        <p:nvSpPr>
          <p:cNvPr id="4" name="Text 2"/>
          <p:cNvSpPr/>
          <p:nvPr/>
        </p:nvSpPr>
        <p:spPr>
          <a:xfrm>
            <a:off x="548640" y="1143000"/>
            <a:ext cx="4667098" cy="777240"/>
          </a:xfrm>
          <a:prstGeom prst="rect">
            <a:avLst/>
          </a:prstGeom>
          <a:noFill/>
          <a:ln/>
        </p:spPr>
        <p:txBody>
          <a:bodyPr wrap="square" lIns="0" tIns="0" rIns="0" bIns="0" rtlCol="0" anchor="ctr">
            <a:normAutofit/>
          </a:bodyPr>
          <a:lstStyle/>
          <a:p>
            <a:pPr indent="0" marL="0">
              <a:lnSpc>
                <a:spcPct val="125000"/>
              </a:lnSpc>
              <a:buNone/>
            </a:pPr>
            <a:r>
              <a:rPr lang="en-US" sz="1400" dirty="0">
                <a:solidFill>
                  <a:srgbClr val="4A5568"/>
                </a:solidFill>
                <a:latin typeface="Calibri Light" pitchFamily="34" charset="0"/>
                <a:ea typeface="Calibri Light" pitchFamily="34" charset="-122"/>
                <a:cs typeface="Calibri Light" pitchFamily="34" charset="-120"/>
              </a:rPr>
              <a:t>This file is your agent's persistent memory. It reads this first and uses it to understand your project, your rules, and how to work. Think of it as the instruction manual you'd give a new team member on day one.</a:t>
            </a:r>
            <a:endParaRPr lang="en-US" sz="1400" dirty="0"/>
          </a:p>
        </p:txBody>
      </p:sp>
      <p:sp>
        <p:nvSpPr>
          <p:cNvPr id="5" name="Text 3"/>
          <p:cNvSpPr/>
          <p:nvPr/>
        </p:nvSpPr>
        <p:spPr>
          <a:xfrm>
            <a:off x="548640" y="2286000"/>
            <a:ext cx="4667098" cy="19659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Scope + Reading Order — what files to read first</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Non-Negotiables — explicit DOs and DON'Ts</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Commands by Intent — common tasks and how to handle them</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Security &amp; Secrets Policy — what never gets committed</a:t>
            </a:r>
            <a:endParaRPr lang="en-US" sz="1400" dirty="0"/>
          </a:p>
        </p:txBody>
      </p:sp>
      <p:sp>
        <p:nvSpPr>
          <p:cNvPr id="6" name="Shape 4"/>
          <p:cNvSpPr/>
          <p:nvPr/>
        </p:nvSpPr>
        <p:spPr>
          <a:xfrm>
            <a:off x="5672938" y="1143000"/>
            <a:ext cx="2922422" cy="2926080"/>
          </a:xfrm>
          <a:prstGeom prst="roundedRectangle">
            <a:avLst>
              <a:gd name="adj" fmla="val 250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7" name="Image 0" descr="preencoded.png">    </p:cNvPr>
          <p:cNvPicPr>
            <a:picLocks noChangeAspect="1"/>
          </p:cNvPicPr>
          <p:nvPr/>
        </p:nvPicPr>
        <p:blipFill>
          <a:blip r:embed="rId1"/>
          <a:stretch>
            <a:fillRect/>
          </a:stretch>
        </p:blipFill>
        <p:spPr>
          <a:xfrm>
            <a:off x="6676949" y="2148840"/>
            <a:ext cx="914400" cy="914400"/>
          </a:xfrm>
          <a:prstGeom prst="rect">
            <a:avLst/>
          </a:prstGeom>
        </p:spPr>
      </p:pic>
      <p:sp>
        <p:nvSpPr>
          <p:cNvPr id="8" name="Shape 5"/>
          <p:cNvSpPr/>
          <p:nvPr/>
        </p:nvSpPr>
        <p:spPr>
          <a:xfrm>
            <a:off x="548640" y="4732020"/>
            <a:ext cx="8046720" cy="0"/>
          </a:xfrm>
          <a:prstGeom prst="line">
            <a:avLst/>
          </a:prstGeom>
          <a:noFill/>
          <a:ln w="6350">
            <a:solidFill>
              <a:srgbClr val="E2E8F0"/>
            </a:solidFill>
            <a:prstDash val="solid"/>
          </a:ln>
        </p:spPr>
        <p:txBody>
          <a:bodyPr/>
          <a:p/>
        </p:txBody>
      </p:sp>
      <p:sp>
        <p:nvSpPr>
          <p:cNvPr id="9" name="Text 6"/>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0" name="Text 7"/>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29</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AGENTS.MD Components (1 of 2)</a:t>
            </a:r>
            <a:endParaRPr lang="en-US" sz="3200" dirty="0"/>
          </a:p>
        </p:txBody>
      </p:sp>
      <p:sp>
        <p:nvSpPr>
          <p:cNvPr id="3" name="Shape 1"/>
          <p:cNvSpPr/>
          <p:nvPr/>
        </p:nvSpPr>
        <p:spPr>
          <a:xfrm>
            <a:off x="548640" y="114300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4" name="Shape 2"/>
          <p:cNvSpPr/>
          <p:nvPr/>
        </p:nvSpPr>
        <p:spPr>
          <a:xfrm>
            <a:off x="548640" y="1143000"/>
            <a:ext cx="54864" cy="621792"/>
          </a:xfrm>
          <a:prstGeom prst="rect">
            <a:avLst/>
          </a:prstGeom>
          <a:solidFill>
            <a:srgbClr val="0891B2"/>
          </a:solidFill>
          <a:ln/>
        </p:spPr>
        <p:txBody>
          <a:bodyPr/>
          <a:p/>
        </p:txBody>
      </p:sp>
      <p:sp>
        <p:nvSpPr>
          <p:cNvPr id="5" name="Text 3"/>
          <p:cNvSpPr/>
          <p:nvPr/>
        </p:nvSpPr>
        <p:spPr>
          <a:xfrm>
            <a:off x="777240" y="114300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1463040" y="114300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1. Scope + Reading Order</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Project name, tech stack, and which files to read in what order</a:t>
            </a:r>
            <a:endParaRPr lang="en-US" sz="1400" dirty="0"/>
          </a:p>
        </p:txBody>
      </p:sp>
      <p:sp>
        <p:nvSpPr>
          <p:cNvPr id="7" name="Shape 5"/>
          <p:cNvSpPr/>
          <p:nvPr/>
        </p:nvSpPr>
        <p:spPr>
          <a:xfrm>
            <a:off x="548640" y="187452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8" name="Shape 6"/>
          <p:cNvSpPr/>
          <p:nvPr/>
        </p:nvSpPr>
        <p:spPr>
          <a:xfrm>
            <a:off x="548640" y="1874520"/>
            <a:ext cx="54864" cy="621792"/>
          </a:xfrm>
          <a:prstGeom prst="rect">
            <a:avLst/>
          </a:prstGeom>
          <a:solidFill>
            <a:srgbClr val="0891B2"/>
          </a:solidFill>
          <a:ln/>
        </p:spPr>
        <p:txBody>
          <a:bodyPr/>
          <a:p/>
        </p:txBody>
      </p:sp>
      <p:sp>
        <p:nvSpPr>
          <p:cNvPr id="9" name="Text 7"/>
          <p:cNvSpPr/>
          <p:nvPr/>
        </p:nvSpPr>
        <p:spPr>
          <a:xfrm>
            <a:off x="777240" y="187452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02</a:t>
            </a:r>
            <a:endParaRPr lang="en-US" sz="2200" dirty="0"/>
          </a:p>
        </p:txBody>
      </p:sp>
      <p:sp>
        <p:nvSpPr>
          <p:cNvPr id="10" name="Text 8"/>
          <p:cNvSpPr/>
          <p:nvPr/>
        </p:nvSpPr>
        <p:spPr>
          <a:xfrm>
            <a:off x="1463040" y="187452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2. Non-Negotiables</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Explicit DOs (TypeScript strict, error handling) and DON'Ts (no secrets in code)</a:t>
            </a:r>
            <a:endParaRPr lang="en-US" sz="1400" dirty="0"/>
          </a:p>
        </p:txBody>
      </p:sp>
      <p:sp>
        <p:nvSpPr>
          <p:cNvPr id="11" name="Shape 9"/>
          <p:cNvSpPr/>
          <p:nvPr/>
        </p:nvSpPr>
        <p:spPr>
          <a:xfrm>
            <a:off x="548640" y="260604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2" name="Shape 10"/>
          <p:cNvSpPr/>
          <p:nvPr/>
        </p:nvSpPr>
        <p:spPr>
          <a:xfrm>
            <a:off x="548640" y="2606040"/>
            <a:ext cx="54864" cy="621792"/>
          </a:xfrm>
          <a:prstGeom prst="rect">
            <a:avLst/>
          </a:prstGeom>
          <a:solidFill>
            <a:srgbClr val="0891B2"/>
          </a:solidFill>
          <a:ln/>
        </p:spPr>
        <p:txBody>
          <a:bodyPr/>
          <a:p/>
        </p:txBody>
      </p:sp>
      <p:sp>
        <p:nvSpPr>
          <p:cNvPr id="13" name="Text 11"/>
          <p:cNvSpPr/>
          <p:nvPr/>
        </p:nvSpPr>
        <p:spPr>
          <a:xfrm>
            <a:off x="777240" y="260604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03</a:t>
            </a:r>
            <a:endParaRPr lang="en-US" sz="2200" dirty="0"/>
          </a:p>
        </p:txBody>
      </p:sp>
      <p:sp>
        <p:nvSpPr>
          <p:cNvPr id="14" name="Text 12"/>
          <p:cNvSpPr/>
          <p:nvPr/>
        </p:nvSpPr>
        <p:spPr>
          <a:xfrm>
            <a:off x="1463040" y="260604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3. Commands by Intent</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"Add a new state" → Update schema, migration, API route, etc.</a:t>
            </a:r>
            <a:endParaRPr lang="en-US" sz="1400" dirty="0"/>
          </a:p>
        </p:txBody>
      </p:sp>
      <p:sp>
        <p:nvSpPr>
          <p:cNvPr id="15" name="Shape 13"/>
          <p:cNvSpPr/>
          <p:nvPr/>
        </p:nvSpPr>
        <p:spPr>
          <a:xfrm>
            <a:off x="548640" y="333756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6" name="Shape 14"/>
          <p:cNvSpPr/>
          <p:nvPr/>
        </p:nvSpPr>
        <p:spPr>
          <a:xfrm>
            <a:off x="548640" y="3337560"/>
            <a:ext cx="54864" cy="621792"/>
          </a:xfrm>
          <a:prstGeom prst="rect">
            <a:avLst/>
          </a:prstGeom>
          <a:solidFill>
            <a:srgbClr val="0891B2"/>
          </a:solidFill>
          <a:ln/>
        </p:spPr>
        <p:txBody>
          <a:bodyPr/>
          <a:p/>
        </p:txBody>
      </p:sp>
      <p:sp>
        <p:nvSpPr>
          <p:cNvPr id="17" name="Text 15"/>
          <p:cNvSpPr/>
          <p:nvPr/>
        </p:nvSpPr>
        <p:spPr>
          <a:xfrm>
            <a:off x="777240" y="333756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04</a:t>
            </a:r>
            <a:endParaRPr lang="en-US" sz="2200" dirty="0"/>
          </a:p>
        </p:txBody>
      </p:sp>
      <p:sp>
        <p:nvSpPr>
          <p:cNvPr id="18" name="Text 16"/>
          <p:cNvSpPr/>
          <p:nvPr/>
        </p:nvSpPr>
        <p:spPr>
          <a:xfrm>
            <a:off x="1463040" y="333756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4. CLI &amp; MCP Tooling</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Required CLI tools (Prisma, Vercel) and MCP servers (Context7, Supabase)</a:t>
            </a:r>
            <a:endParaRPr lang="en-US" sz="1400" dirty="0"/>
          </a:p>
        </p:txBody>
      </p:sp>
      <p:sp>
        <p:nvSpPr>
          <p:cNvPr id="19" name="Shape 17"/>
          <p:cNvSpPr/>
          <p:nvPr/>
        </p:nvSpPr>
        <p:spPr>
          <a:xfrm>
            <a:off x="548640" y="4732020"/>
            <a:ext cx="8046720" cy="0"/>
          </a:xfrm>
          <a:prstGeom prst="line">
            <a:avLst/>
          </a:prstGeom>
          <a:noFill/>
          <a:ln w="6350">
            <a:solidFill>
              <a:srgbClr val="E2E8F0"/>
            </a:solidFill>
            <a:prstDash val="solid"/>
          </a:ln>
        </p:spPr>
        <p:txBody>
          <a:bodyPr/>
          <a:p/>
        </p:txBody>
      </p:sp>
      <p:sp>
        <p:nvSpPr>
          <p:cNvPr id="20" name="Text 18"/>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21" name="Text 19"/>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30</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AGENTS.MD Components (2 of 2)</a:t>
            </a:r>
            <a:endParaRPr lang="en-US" sz="3200" dirty="0"/>
          </a:p>
        </p:txBody>
      </p:sp>
      <p:sp>
        <p:nvSpPr>
          <p:cNvPr id="3" name="Shape 1"/>
          <p:cNvSpPr/>
          <p:nvPr/>
        </p:nvSpPr>
        <p:spPr>
          <a:xfrm>
            <a:off x="548640" y="114300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4" name="Shape 2"/>
          <p:cNvSpPr/>
          <p:nvPr/>
        </p:nvSpPr>
        <p:spPr>
          <a:xfrm>
            <a:off x="548640" y="1143000"/>
            <a:ext cx="54864" cy="621792"/>
          </a:xfrm>
          <a:prstGeom prst="rect">
            <a:avLst/>
          </a:prstGeom>
          <a:solidFill>
            <a:srgbClr val="0891B2"/>
          </a:solidFill>
          <a:ln/>
        </p:spPr>
        <p:txBody>
          <a:bodyPr/>
          <a:p/>
        </p:txBody>
      </p:sp>
      <p:sp>
        <p:nvSpPr>
          <p:cNvPr id="5" name="Text 3"/>
          <p:cNvSpPr/>
          <p:nvPr/>
        </p:nvSpPr>
        <p:spPr>
          <a:xfrm>
            <a:off x="777240" y="114300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1463040" y="114300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5. Security &amp; Secrets</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Environment variables, validation rules, rate limiting policies</a:t>
            </a:r>
            <a:endParaRPr lang="en-US" sz="1400" dirty="0"/>
          </a:p>
        </p:txBody>
      </p:sp>
      <p:sp>
        <p:nvSpPr>
          <p:cNvPr id="7" name="Shape 5"/>
          <p:cNvSpPr/>
          <p:nvPr/>
        </p:nvSpPr>
        <p:spPr>
          <a:xfrm>
            <a:off x="548640" y="187452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8" name="Shape 6"/>
          <p:cNvSpPr/>
          <p:nvPr/>
        </p:nvSpPr>
        <p:spPr>
          <a:xfrm>
            <a:off x="548640" y="1874520"/>
            <a:ext cx="54864" cy="621792"/>
          </a:xfrm>
          <a:prstGeom prst="rect">
            <a:avLst/>
          </a:prstGeom>
          <a:solidFill>
            <a:srgbClr val="0891B2"/>
          </a:solidFill>
          <a:ln/>
        </p:spPr>
        <p:txBody>
          <a:bodyPr/>
          <a:p/>
        </p:txBody>
      </p:sp>
      <p:sp>
        <p:nvSpPr>
          <p:cNvPr id="9" name="Text 7"/>
          <p:cNvSpPr/>
          <p:nvPr/>
        </p:nvSpPr>
        <p:spPr>
          <a:xfrm>
            <a:off x="777240" y="187452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02</a:t>
            </a:r>
            <a:endParaRPr lang="en-US" sz="2200" dirty="0"/>
          </a:p>
        </p:txBody>
      </p:sp>
      <p:sp>
        <p:nvSpPr>
          <p:cNvPr id="10" name="Text 8"/>
          <p:cNvSpPr/>
          <p:nvPr/>
        </p:nvSpPr>
        <p:spPr>
          <a:xfrm>
            <a:off x="1463040" y="187452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6. Planning / Execution Loop</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Read files → identify changes → consider edge cases → write tests → implement</a:t>
            </a:r>
            <a:endParaRPr lang="en-US" sz="1400" dirty="0"/>
          </a:p>
        </p:txBody>
      </p:sp>
      <p:sp>
        <p:nvSpPr>
          <p:cNvPr id="11" name="Shape 9"/>
          <p:cNvSpPr/>
          <p:nvPr/>
        </p:nvSpPr>
        <p:spPr>
          <a:xfrm>
            <a:off x="548640" y="260604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2" name="Shape 10"/>
          <p:cNvSpPr/>
          <p:nvPr/>
        </p:nvSpPr>
        <p:spPr>
          <a:xfrm>
            <a:off x="548640" y="2606040"/>
            <a:ext cx="54864" cy="621792"/>
          </a:xfrm>
          <a:prstGeom prst="rect">
            <a:avLst/>
          </a:prstGeom>
          <a:solidFill>
            <a:srgbClr val="0891B2"/>
          </a:solidFill>
          <a:ln/>
        </p:spPr>
        <p:txBody>
          <a:bodyPr/>
          <a:p/>
        </p:txBody>
      </p:sp>
      <p:sp>
        <p:nvSpPr>
          <p:cNvPr id="13" name="Text 11"/>
          <p:cNvSpPr/>
          <p:nvPr/>
        </p:nvSpPr>
        <p:spPr>
          <a:xfrm>
            <a:off x="777240" y="260604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03</a:t>
            </a:r>
            <a:endParaRPr lang="en-US" sz="2200" dirty="0"/>
          </a:p>
        </p:txBody>
      </p:sp>
      <p:sp>
        <p:nvSpPr>
          <p:cNvPr id="14" name="Text 12"/>
          <p:cNvSpPr/>
          <p:nvPr/>
        </p:nvSpPr>
        <p:spPr>
          <a:xfrm>
            <a:off x="1463040" y="260604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7. Definition of Done Checklist</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No TS errors, all tests pass, mobile responsive, loading/error states, committed to git</a:t>
            </a:r>
            <a:endParaRPr lang="en-US" sz="1400" dirty="0"/>
          </a:p>
        </p:txBody>
      </p:sp>
      <p:sp>
        <p:nvSpPr>
          <p:cNvPr id="15" name="Shape 13"/>
          <p:cNvSpPr/>
          <p:nvPr/>
        </p:nvSpPr>
        <p:spPr>
          <a:xfrm>
            <a:off x="548640" y="4732020"/>
            <a:ext cx="8046720" cy="0"/>
          </a:xfrm>
          <a:prstGeom prst="line">
            <a:avLst/>
          </a:prstGeom>
          <a:noFill/>
          <a:ln w="6350">
            <a:solidFill>
              <a:srgbClr val="E2E8F0"/>
            </a:solidFill>
            <a:prstDash val="solid"/>
          </a:ln>
        </p:spPr>
        <p:txBody>
          <a:bodyPr/>
          <a:p/>
        </p:txBody>
      </p:sp>
      <p:sp>
        <p:nvSpPr>
          <p:cNvPr id="16" name="Text 14"/>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7" name="Text 15"/>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31</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Skills &amp; MCP Tools — Supercharging Your Agent</a:t>
            </a:r>
            <a:endParaRPr lang="en-US" sz="3200" dirty="0"/>
          </a:p>
        </p:txBody>
      </p:sp>
      <p:sp>
        <p:nvSpPr>
          <p:cNvPr id="3" name="Shape 1"/>
          <p:cNvSpPr/>
          <p:nvPr/>
        </p:nvSpPr>
        <p:spPr>
          <a:xfrm>
            <a:off x="548640" y="10515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4" name="Shape 2"/>
          <p:cNvSpPr/>
          <p:nvPr/>
        </p:nvSpPr>
        <p:spPr>
          <a:xfrm>
            <a:off x="548640" y="1051560"/>
            <a:ext cx="45720" cy="1600200"/>
          </a:xfrm>
          <a:prstGeom prst="rect">
            <a:avLst/>
          </a:prstGeom>
          <a:solidFill>
            <a:srgbClr val="0891B2"/>
          </a:solidFill>
          <a:ln/>
        </p:spPr>
        <p:txBody>
          <a:bodyPr/>
          <a:p/>
        </p:txBody>
      </p:sp>
      <p:pic>
        <p:nvPicPr>
          <p:cNvPr id="5" name="Image 0" descr="preencoded.png">    </p:cNvPr>
          <p:cNvPicPr>
            <a:picLocks noChangeAspect="1"/>
          </p:cNvPicPr>
          <p:nvPr/>
        </p:nvPicPr>
        <p:blipFill>
          <a:blip r:embed="rId1"/>
          <a:stretch>
            <a:fillRect/>
          </a:stretch>
        </p:blipFill>
        <p:spPr>
          <a:xfrm>
            <a:off x="777240" y="1234440"/>
            <a:ext cx="365760" cy="365760"/>
          </a:xfrm>
          <a:prstGeom prst="rect">
            <a:avLst/>
          </a:prstGeom>
        </p:spPr>
      </p:pic>
      <p:sp>
        <p:nvSpPr>
          <p:cNvPr id="6" name="Text 3"/>
          <p:cNvSpPr/>
          <p:nvPr/>
        </p:nvSpPr>
        <p:spPr>
          <a:xfrm>
            <a:off x="1280160" y="11887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Skills</a:t>
            </a:r>
            <a:endParaRPr lang="en-US" sz="1400" dirty="0"/>
          </a:p>
        </p:txBody>
      </p:sp>
      <p:sp>
        <p:nvSpPr>
          <p:cNvPr id="7" name="Text 4"/>
          <p:cNvSpPr/>
          <p:nvPr/>
        </p:nvSpPr>
        <p:spPr>
          <a:xfrm>
            <a:off x="777240" y="16916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Reusable instruction packages that make AI agents perform specific workflows reliably. Phase-plan, phase-implement, phase-review, and more.</a:t>
            </a:r>
            <a:endParaRPr lang="en-US" sz="1200" dirty="0"/>
          </a:p>
        </p:txBody>
      </p:sp>
      <p:sp>
        <p:nvSpPr>
          <p:cNvPr id="8" name="Shape 5"/>
          <p:cNvSpPr/>
          <p:nvPr/>
        </p:nvSpPr>
        <p:spPr>
          <a:xfrm>
            <a:off x="4686300" y="10515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9" name="Shape 6"/>
          <p:cNvSpPr/>
          <p:nvPr/>
        </p:nvSpPr>
        <p:spPr>
          <a:xfrm>
            <a:off x="4686300" y="1051560"/>
            <a:ext cx="45720" cy="1600200"/>
          </a:xfrm>
          <a:prstGeom prst="rect">
            <a:avLst/>
          </a:prstGeom>
          <a:solidFill>
            <a:srgbClr val="0891B2"/>
          </a:solidFill>
          <a:ln/>
        </p:spPr>
        <p:txBody>
          <a:bodyPr/>
          <a:p/>
        </p:txBody>
      </p:sp>
      <p:pic>
        <p:nvPicPr>
          <p:cNvPr id="10" name="Image 1" descr="preencoded.png">    </p:cNvPr>
          <p:cNvPicPr>
            <a:picLocks noChangeAspect="1"/>
          </p:cNvPicPr>
          <p:nvPr/>
        </p:nvPicPr>
        <p:blipFill>
          <a:blip r:embed="rId2"/>
          <a:stretch>
            <a:fillRect/>
          </a:stretch>
        </p:blipFill>
        <p:spPr>
          <a:xfrm>
            <a:off x="4914900" y="1234440"/>
            <a:ext cx="365760" cy="365760"/>
          </a:xfrm>
          <a:prstGeom prst="rect">
            <a:avLst/>
          </a:prstGeom>
        </p:spPr>
      </p:pic>
      <p:sp>
        <p:nvSpPr>
          <p:cNvPr id="11" name="Text 7"/>
          <p:cNvSpPr/>
          <p:nvPr/>
        </p:nvSpPr>
        <p:spPr>
          <a:xfrm>
            <a:off x="5417820" y="11887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MCP Tools</a:t>
            </a:r>
            <a:endParaRPr lang="en-US" sz="1400" dirty="0"/>
          </a:p>
        </p:txBody>
      </p:sp>
      <p:sp>
        <p:nvSpPr>
          <p:cNvPr id="12" name="Text 8"/>
          <p:cNvSpPr/>
          <p:nvPr/>
        </p:nvSpPr>
        <p:spPr>
          <a:xfrm>
            <a:off x="4914900" y="16916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Model Context Protocol servers that give your agent live capabilities — database access, browser automation, API documentation lookup.</a:t>
            </a:r>
            <a:endParaRPr lang="en-US" sz="1200" dirty="0"/>
          </a:p>
        </p:txBody>
      </p:sp>
      <p:sp>
        <p:nvSpPr>
          <p:cNvPr id="13" name="Shape 9"/>
          <p:cNvSpPr/>
          <p:nvPr/>
        </p:nvSpPr>
        <p:spPr>
          <a:xfrm>
            <a:off x="548640" y="28803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4" name="Shape 10"/>
          <p:cNvSpPr/>
          <p:nvPr/>
        </p:nvSpPr>
        <p:spPr>
          <a:xfrm>
            <a:off x="548640" y="2880360"/>
            <a:ext cx="45720" cy="1600200"/>
          </a:xfrm>
          <a:prstGeom prst="rect">
            <a:avLst/>
          </a:prstGeom>
          <a:solidFill>
            <a:srgbClr val="0891B2"/>
          </a:solidFill>
          <a:ln/>
        </p:spPr>
        <p:txBody>
          <a:bodyPr/>
          <a:p/>
        </p:txBody>
      </p:sp>
      <p:pic>
        <p:nvPicPr>
          <p:cNvPr id="15" name="Image 2" descr="preencoded.png">    </p:cNvPr>
          <p:cNvPicPr>
            <a:picLocks noChangeAspect="1"/>
          </p:cNvPicPr>
          <p:nvPr/>
        </p:nvPicPr>
        <p:blipFill>
          <a:blip r:embed="rId3"/>
          <a:stretch>
            <a:fillRect/>
          </a:stretch>
        </p:blipFill>
        <p:spPr>
          <a:xfrm>
            <a:off x="777240" y="3063240"/>
            <a:ext cx="365760" cy="365760"/>
          </a:xfrm>
          <a:prstGeom prst="rect">
            <a:avLst/>
          </a:prstGeom>
        </p:spPr>
      </p:pic>
      <p:sp>
        <p:nvSpPr>
          <p:cNvPr id="16" name="Text 11"/>
          <p:cNvSpPr/>
          <p:nvPr/>
        </p:nvSpPr>
        <p:spPr>
          <a:xfrm>
            <a:off x="1280160" y="30175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Context7</a:t>
            </a:r>
            <a:endParaRPr lang="en-US" sz="1400" dirty="0"/>
          </a:p>
        </p:txBody>
      </p:sp>
      <p:sp>
        <p:nvSpPr>
          <p:cNvPr id="17" name="Text 12"/>
          <p:cNvSpPr/>
          <p:nvPr/>
        </p:nvSpPr>
        <p:spPr>
          <a:xfrm>
            <a:off x="777240" y="35204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Pulls live, up-to-date API documentation so your agent never uses outdated patterns. Essential for any project with integrations.</a:t>
            </a:r>
            <a:endParaRPr lang="en-US" sz="1200" dirty="0"/>
          </a:p>
        </p:txBody>
      </p:sp>
      <p:sp>
        <p:nvSpPr>
          <p:cNvPr id="18" name="Shape 13"/>
          <p:cNvSpPr/>
          <p:nvPr/>
        </p:nvSpPr>
        <p:spPr>
          <a:xfrm>
            <a:off x="4686300" y="2880360"/>
            <a:ext cx="3909060" cy="1600200"/>
          </a:xfrm>
          <a:prstGeom prst="roundedRectangle">
            <a:avLst>
              <a:gd name="adj" fmla="val 4571"/>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9" name="Shape 14"/>
          <p:cNvSpPr/>
          <p:nvPr/>
        </p:nvSpPr>
        <p:spPr>
          <a:xfrm>
            <a:off x="4686300" y="2880360"/>
            <a:ext cx="45720" cy="1600200"/>
          </a:xfrm>
          <a:prstGeom prst="rect">
            <a:avLst/>
          </a:prstGeom>
          <a:solidFill>
            <a:srgbClr val="0891B2"/>
          </a:solidFill>
          <a:ln/>
        </p:spPr>
        <p:txBody>
          <a:bodyPr/>
          <a:p/>
        </p:txBody>
      </p:sp>
      <p:pic>
        <p:nvPicPr>
          <p:cNvPr id="20" name="Image 3" descr="preencoded.png">    </p:cNvPr>
          <p:cNvPicPr>
            <a:picLocks noChangeAspect="1"/>
          </p:cNvPicPr>
          <p:nvPr/>
        </p:nvPicPr>
        <p:blipFill>
          <a:blip r:embed="rId4"/>
          <a:stretch>
            <a:fillRect/>
          </a:stretch>
        </p:blipFill>
        <p:spPr>
          <a:xfrm>
            <a:off x="4914900" y="3063240"/>
            <a:ext cx="365760" cy="365760"/>
          </a:xfrm>
          <a:prstGeom prst="rect">
            <a:avLst/>
          </a:prstGeom>
        </p:spPr>
      </p:pic>
      <p:sp>
        <p:nvSpPr>
          <p:cNvPr id="21" name="Text 15"/>
          <p:cNvSpPr/>
          <p:nvPr/>
        </p:nvSpPr>
        <p:spPr>
          <a:xfrm>
            <a:off x="5417820" y="3017520"/>
            <a:ext cx="290322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Jam.dev</a:t>
            </a:r>
            <a:endParaRPr lang="en-US" sz="1400" dirty="0"/>
          </a:p>
        </p:txBody>
      </p:sp>
      <p:sp>
        <p:nvSpPr>
          <p:cNvPr id="22" name="Text 16"/>
          <p:cNvSpPr/>
          <p:nvPr/>
        </p:nvSpPr>
        <p:spPr>
          <a:xfrm>
            <a:off x="4914900" y="3520440"/>
            <a:ext cx="3451860" cy="777240"/>
          </a:xfrm>
          <a:prstGeom prst="rect">
            <a:avLst/>
          </a:prstGeom>
          <a:noFill/>
          <a:ln/>
        </p:spPr>
        <p:txBody>
          <a:bodyPr wrap="square" lIns="0" tIns="0" rIns="0" bIns="0" rtlCol="0" anchor="ctr"/>
          <a:lstStyle/>
          <a:p>
            <a:pPr indent="0" marL="0">
              <a:lnSpc>
                <a:spcPct val="120000"/>
              </a:lnSpc>
              <a:buNone/>
            </a:pPr>
            <a:r>
              <a:rPr lang="en-US" sz="1200" dirty="0">
                <a:solidFill>
                  <a:srgbClr val="4A5568"/>
                </a:solidFill>
                <a:latin typeface="Calibri Light" pitchFamily="34" charset="0"/>
                <a:ea typeface="Calibri Light" pitchFamily="34" charset="-122"/>
                <a:cs typeface="Calibri Light" pitchFamily="34" charset="-120"/>
              </a:rPr>
              <a:t>Captures screenshots, console logs, and network requests in one click. Share with your AI agent for instant bug diagnosis.</a:t>
            </a:r>
            <a:endParaRPr lang="en-US" sz="1200" dirty="0"/>
          </a:p>
        </p:txBody>
      </p:sp>
      <p:sp>
        <p:nvSpPr>
          <p:cNvPr id="23" name="Shape 17"/>
          <p:cNvSpPr/>
          <p:nvPr/>
        </p:nvSpPr>
        <p:spPr>
          <a:xfrm>
            <a:off x="548640" y="4732020"/>
            <a:ext cx="8046720" cy="0"/>
          </a:xfrm>
          <a:prstGeom prst="line">
            <a:avLst/>
          </a:prstGeom>
          <a:noFill/>
          <a:ln w="6350">
            <a:solidFill>
              <a:srgbClr val="E2E8F0"/>
            </a:solidFill>
            <a:prstDash val="solid"/>
          </a:ln>
        </p:spPr>
        <p:txBody>
          <a:bodyPr/>
          <a:p/>
        </p:txBody>
      </p:sp>
      <p:sp>
        <p:nvSpPr>
          <p:cNvPr id="24" name="Text 18"/>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25" name="Text 19"/>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32</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Codex vs. Claude Code</a:t>
            </a:r>
            <a:endParaRPr lang="en-US" sz="3200" dirty="0"/>
          </a:p>
        </p:txBody>
      </p:sp>
      <p:sp>
        <p:nvSpPr>
          <p:cNvPr id="3" name="Shape 1"/>
          <p:cNvSpPr/>
          <p:nvPr/>
        </p:nvSpPr>
        <p:spPr>
          <a:xfrm>
            <a:off x="548640" y="1143000"/>
            <a:ext cx="3863340" cy="3108960"/>
          </a:xfrm>
          <a:prstGeom prst="roundedRectangle">
            <a:avLst>
              <a:gd name="adj" fmla="val 2353"/>
            </a:avLst>
          </a:prstGeom>
          <a:solidFill>
            <a:srgbClr val="FEF2F2"/>
          </a:solidFill>
          <a:ln/>
        </p:spPr>
        <p:txBody>
          <a:bodyPr/>
          <a:p/>
        </p:txBody>
      </p:sp>
      <p:sp>
        <p:nvSpPr>
          <p:cNvPr id="4" name="Text 2"/>
          <p:cNvSpPr/>
          <p:nvPr/>
        </p:nvSpPr>
        <p:spPr>
          <a:xfrm>
            <a:off x="822960" y="1252728"/>
            <a:ext cx="3314700" cy="274320"/>
          </a:xfrm>
          <a:prstGeom prst="rect">
            <a:avLst/>
          </a:prstGeom>
          <a:noFill/>
          <a:ln/>
        </p:spPr>
        <p:txBody>
          <a:bodyPr wrap="square" lIns="0" tIns="0" rIns="0" bIns="0" rtlCol="0" anchor="ctr"/>
          <a:lstStyle/>
          <a:p>
            <a:pPr indent="0" marL="0">
              <a:buNone/>
            </a:pPr>
            <a:r>
              <a:rPr lang="en-US" sz="1200" b="1" spc="200" kern="0" dirty="0">
                <a:solidFill>
                  <a:srgbClr val="EF4444"/>
                </a:solidFill>
                <a:latin typeface="Calibri" pitchFamily="34" charset="0"/>
                <a:ea typeface="Calibri" pitchFamily="34" charset="-122"/>
                <a:cs typeface="Calibri" pitchFamily="34" charset="-120"/>
              </a:rPr>
              <a:t>CODEX (OPENAI)</a:t>
            </a:r>
            <a:endParaRPr lang="en-US" sz="1200" dirty="0"/>
          </a:p>
        </p:txBody>
      </p:sp>
      <p:sp>
        <p:nvSpPr>
          <p:cNvPr id="5" name="Text 3"/>
          <p:cNvSpPr/>
          <p:nvPr/>
        </p:nvSpPr>
        <p:spPr>
          <a:xfrm>
            <a:off x="822960" y="1600200"/>
            <a:ext cx="3314700" cy="25146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Longer context retention</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Can one-shot massive tasks for hours</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Included with ChatGPT Plus subscription</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Best for: gap analysis, implementation, testing</a:t>
            </a:r>
            <a:endParaRPr lang="en-US" sz="1200" dirty="0"/>
          </a:p>
        </p:txBody>
      </p:sp>
      <p:sp>
        <p:nvSpPr>
          <p:cNvPr id="6" name="Shape 4"/>
          <p:cNvSpPr/>
          <p:nvPr/>
        </p:nvSpPr>
        <p:spPr>
          <a:xfrm>
            <a:off x="4732020" y="1143000"/>
            <a:ext cx="3863340" cy="3108960"/>
          </a:xfrm>
          <a:prstGeom prst="roundedRectangle">
            <a:avLst>
              <a:gd name="adj" fmla="val 2353"/>
            </a:avLst>
          </a:prstGeom>
          <a:solidFill>
            <a:srgbClr val="ECFDF5"/>
          </a:solidFill>
          <a:ln/>
        </p:spPr>
        <p:txBody>
          <a:bodyPr/>
          <a:p/>
        </p:txBody>
      </p:sp>
      <p:sp>
        <p:nvSpPr>
          <p:cNvPr id="7" name="Text 5"/>
          <p:cNvSpPr/>
          <p:nvPr/>
        </p:nvSpPr>
        <p:spPr>
          <a:xfrm>
            <a:off x="5006340" y="1252728"/>
            <a:ext cx="3314700" cy="274320"/>
          </a:xfrm>
          <a:prstGeom prst="rect">
            <a:avLst/>
          </a:prstGeom>
          <a:noFill/>
          <a:ln/>
        </p:spPr>
        <p:txBody>
          <a:bodyPr wrap="square" lIns="0" tIns="0" rIns="0" bIns="0" rtlCol="0" anchor="ctr"/>
          <a:lstStyle/>
          <a:p>
            <a:pPr indent="0" marL="0">
              <a:buNone/>
            </a:pPr>
            <a:r>
              <a:rPr lang="en-US" sz="1200" b="1" spc="200" kern="0" dirty="0">
                <a:solidFill>
                  <a:srgbClr val="10B981"/>
                </a:solidFill>
                <a:latin typeface="Calibri" pitchFamily="34" charset="0"/>
                <a:ea typeface="Calibri" pitchFamily="34" charset="-122"/>
                <a:cs typeface="Calibri" pitchFamily="34" charset="-120"/>
              </a:rPr>
              <a:t>CLAUDE CODE</a:t>
            </a:r>
            <a:endParaRPr lang="en-US" sz="1200" dirty="0"/>
          </a:p>
        </p:txBody>
      </p:sp>
      <p:sp>
        <p:nvSpPr>
          <p:cNvPr id="8" name="Text 6"/>
          <p:cNvSpPr/>
          <p:nvPr/>
        </p:nvSpPr>
        <p:spPr>
          <a:xfrm>
            <a:off x="5006340" y="1600200"/>
            <a:ext cx="3314700" cy="25146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Faster agentic execution speed</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Higher quality reasoning per step</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Great plugin ecosystem</a:t>
            </a:r>
            <a:endParaRPr lang="en-US" sz="1200" dirty="0"/>
          </a:p>
          <a:p>
            <a:pPr marL="342900" indent="-342900">
              <a:spcAft>
                <a:spcPts val="600"/>
              </a:spcAft>
              <a:buSzPct val="100000"/>
              <a:buChar char="•"/>
            </a:pPr>
            <a:r>
              <a:rPr lang="en-US" sz="1200" dirty="0">
                <a:solidFill>
                  <a:srgbClr val="4A5568"/>
                </a:solidFill>
                <a:latin typeface="Calibri Light" pitchFamily="34" charset="0"/>
                <a:ea typeface="Calibri Light" pitchFamily="34" charset="-122"/>
                <a:cs typeface="Calibri Light" pitchFamily="34" charset="-120"/>
              </a:rPr>
              <a:t>Best for: planning, architecture, code review</a:t>
            </a:r>
            <a:endParaRPr lang="en-US" sz="1200" dirty="0"/>
          </a:p>
        </p:txBody>
      </p:sp>
      <p:sp>
        <p:nvSpPr>
          <p:cNvPr id="9" name="Shape 7"/>
          <p:cNvSpPr/>
          <p:nvPr/>
        </p:nvSpPr>
        <p:spPr>
          <a:xfrm>
            <a:off x="548640" y="4732020"/>
            <a:ext cx="8046720" cy="0"/>
          </a:xfrm>
          <a:prstGeom prst="line">
            <a:avLst/>
          </a:prstGeom>
          <a:noFill/>
          <a:ln w="6350">
            <a:solidFill>
              <a:srgbClr val="E2E8F0"/>
            </a:solidFill>
            <a:prstDash val="solid"/>
          </a:ln>
        </p:spPr>
        <p:txBody>
          <a:bodyPr/>
          <a:p/>
        </p:txBody>
      </p:sp>
      <p:sp>
        <p:nvSpPr>
          <p:cNvPr id="10" name="Text 8"/>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1" name="Text 9"/>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33</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The Dual-Terminal Workflow</a:t>
            </a:r>
            <a:endParaRPr lang="en-US" sz="3200" dirty="0"/>
          </a:p>
        </p:txBody>
      </p:sp>
      <p:sp>
        <p:nvSpPr>
          <p:cNvPr id="3" name="Shape 1"/>
          <p:cNvSpPr/>
          <p:nvPr/>
        </p:nvSpPr>
        <p:spPr>
          <a:xfrm>
            <a:off x="548640" y="114300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4" name="Shape 2"/>
          <p:cNvSpPr/>
          <p:nvPr/>
        </p:nvSpPr>
        <p:spPr>
          <a:xfrm>
            <a:off x="548640" y="1143000"/>
            <a:ext cx="54864" cy="621792"/>
          </a:xfrm>
          <a:prstGeom prst="rect">
            <a:avLst/>
          </a:prstGeom>
          <a:solidFill>
            <a:srgbClr val="0891B2"/>
          </a:solidFill>
          <a:ln/>
        </p:spPr>
        <p:txBody>
          <a:bodyPr/>
          <a:p/>
        </p:txBody>
      </p:sp>
      <p:sp>
        <p:nvSpPr>
          <p:cNvPr id="5" name="Text 3"/>
          <p:cNvSpPr/>
          <p:nvPr/>
        </p:nvSpPr>
        <p:spPr>
          <a:xfrm>
            <a:off x="777240" y="114300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1463040" y="114300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Plan with Claude Code</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Use plan mode to create a solid phase plan with $phase-plan skill</a:t>
            </a:r>
            <a:endParaRPr lang="en-US" sz="1400" dirty="0"/>
          </a:p>
        </p:txBody>
      </p:sp>
      <p:sp>
        <p:nvSpPr>
          <p:cNvPr id="7" name="Shape 5"/>
          <p:cNvSpPr/>
          <p:nvPr/>
        </p:nvSpPr>
        <p:spPr>
          <a:xfrm>
            <a:off x="548640" y="187452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8" name="Shape 6"/>
          <p:cNvSpPr/>
          <p:nvPr/>
        </p:nvSpPr>
        <p:spPr>
          <a:xfrm>
            <a:off x="548640" y="1874520"/>
            <a:ext cx="54864" cy="621792"/>
          </a:xfrm>
          <a:prstGeom prst="rect">
            <a:avLst/>
          </a:prstGeom>
          <a:solidFill>
            <a:srgbClr val="0891B2"/>
          </a:solidFill>
          <a:ln/>
        </p:spPr>
        <p:txBody>
          <a:bodyPr/>
          <a:p/>
        </p:txBody>
      </p:sp>
      <p:sp>
        <p:nvSpPr>
          <p:cNvPr id="9" name="Text 7"/>
          <p:cNvSpPr/>
          <p:nvPr/>
        </p:nvSpPr>
        <p:spPr>
          <a:xfrm>
            <a:off x="777240" y="187452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02</a:t>
            </a:r>
            <a:endParaRPr lang="en-US" sz="2200" dirty="0"/>
          </a:p>
        </p:txBody>
      </p:sp>
      <p:sp>
        <p:nvSpPr>
          <p:cNvPr id="10" name="Text 8"/>
          <p:cNvSpPr/>
          <p:nvPr/>
        </p:nvSpPr>
        <p:spPr>
          <a:xfrm>
            <a:off x="1463040" y="187452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Gap-Check with Codex</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Fresh chat with $phase-gaps to identify weak spots before building</a:t>
            </a:r>
            <a:endParaRPr lang="en-US" sz="1400" dirty="0"/>
          </a:p>
        </p:txBody>
      </p:sp>
      <p:sp>
        <p:nvSpPr>
          <p:cNvPr id="11" name="Shape 9"/>
          <p:cNvSpPr/>
          <p:nvPr/>
        </p:nvSpPr>
        <p:spPr>
          <a:xfrm>
            <a:off x="548640" y="260604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2" name="Shape 10"/>
          <p:cNvSpPr/>
          <p:nvPr/>
        </p:nvSpPr>
        <p:spPr>
          <a:xfrm>
            <a:off x="548640" y="2606040"/>
            <a:ext cx="54864" cy="621792"/>
          </a:xfrm>
          <a:prstGeom prst="rect">
            <a:avLst/>
          </a:prstGeom>
          <a:solidFill>
            <a:srgbClr val="0891B2"/>
          </a:solidFill>
          <a:ln/>
        </p:spPr>
        <p:txBody>
          <a:bodyPr/>
          <a:p/>
        </p:txBody>
      </p:sp>
      <p:sp>
        <p:nvSpPr>
          <p:cNvPr id="13" name="Text 11"/>
          <p:cNvSpPr/>
          <p:nvPr/>
        </p:nvSpPr>
        <p:spPr>
          <a:xfrm>
            <a:off x="777240" y="260604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03</a:t>
            </a:r>
            <a:endParaRPr lang="en-US" sz="2200" dirty="0"/>
          </a:p>
        </p:txBody>
      </p:sp>
      <p:sp>
        <p:nvSpPr>
          <p:cNvPr id="14" name="Text 12"/>
          <p:cNvSpPr/>
          <p:nvPr/>
        </p:nvSpPr>
        <p:spPr>
          <a:xfrm>
            <a:off x="1463040" y="260604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Implement with Claude Code</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Go back, /compact, then $phase-implement to execute</a:t>
            </a:r>
            <a:endParaRPr lang="en-US" sz="1400" dirty="0"/>
          </a:p>
        </p:txBody>
      </p:sp>
      <p:sp>
        <p:nvSpPr>
          <p:cNvPr id="15" name="Shape 13"/>
          <p:cNvSpPr/>
          <p:nvPr/>
        </p:nvSpPr>
        <p:spPr>
          <a:xfrm>
            <a:off x="548640" y="333756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6" name="Shape 14"/>
          <p:cNvSpPr/>
          <p:nvPr/>
        </p:nvSpPr>
        <p:spPr>
          <a:xfrm>
            <a:off x="548640" y="3337560"/>
            <a:ext cx="54864" cy="621792"/>
          </a:xfrm>
          <a:prstGeom prst="rect">
            <a:avLst/>
          </a:prstGeom>
          <a:solidFill>
            <a:srgbClr val="0891B2"/>
          </a:solidFill>
          <a:ln/>
        </p:spPr>
        <p:txBody>
          <a:bodyPr/>
          <a:p/>
        </p:txBody>
      </p:sp>
      <p:sp>
        <p:nvSpPr>
          <p:cNvPr id="17" name="Text 15"/>
          <p:cNvSpPr/>
          <p:nvPr/>
        </p:nvSpPr>
        <p:spPr>
          <a:xfrm>
            <a:off x="777240" y="333756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04</a:t>
            </a:r>
            <a:endParaRPr lang="en-US" sz="2200" dirty="0"/>
          </a:p>
        </p:txBody>
      </p:sp>
      <p:sp>
        <p:nvSpPr>
          <p:cNvPr id="18" name="Text 16"/>
          <p:cNvSpPr/>
          <p:nvPr/>
        </p:nvSpPr>
        <p:spPr>
          <a:xfrm>
            <a:off x="1463040" y="333756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Review with Codex</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$phase-review to validate, get next steps, and ensure production-readiness</a:t>
            </a:r>
            <a:endParaRPr lang="en-US" sz="1400" dirty="0"/>
          </a:p>
        </p:txBody>
      </p:sp>
      <p:sp>
        <p:nvSpPr>
          <p:cNvPr id="19" name="Shape 17"/>
          <p:cNvSpPr/>
          <p:nvPr/>
        </p:nvSpPr>
        <p:spPr>
          <a:xfrm>
            <a:off x="548640" y="4732020"/>
            <a:ext cx="8046720" cy="0"/>
          </a:xfrm>
          <a:prstGeom prst="line">
            <a:avLst/>
          </a:prstGeom>
          <a:noFill/>
          <a:ln w="6350">
            <a:solidFill>
              <a:srgbClr val="E2E8F0"/>
            </a:solidFill>
            <a:prstDash val="solid"/>
          </a:ln>
        </p:spPr>
        <p:txBody>
          <a:bodyPr/>
          <a:p/>
        </p:txBody>
      </p:sp>
      <p:sp>
        <p:nvSpPr>
          <p:cNvPr id="20" name="Text 18"/>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21" name="Text 19"/>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34</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77240" y="1188720"/>
            <a:ext cx="5486400" cy="320040"/>
          </a:xfrm>
          <a:prstGeom prst="rect">
            <a:avLst/>
          </a:prstGeom>
          <a:noFill/>
          <a:ln/>
        </p:spPr>
        <p:txBody>
          <a:bodyPr wrap="square" lIns="0" tIns="0" rIns="0" bIns="0" rtlCol="0" anchor="ctr"/>
          <a:lstStyle/>
          <a:p>
            <a:pPr indent="0" marL="0">
              <a:buNone/>
            </a:pPr>
            <a:r>
              <a:rPr lang="en-US" sz="1100" b="1" spc="400" kern="0" dirty="0">
                <a:solidFill>
                  <a:srgbClr val="0891B2"/>
                </a:solidFill>
                <a:latin typeface="Calibri" pitchFamily="34" charset="0"/>
                <a:ea typeface="Calibri" pitchFamily="34" charset="-122"/>
                <a:cs typeface="Calibri" pitchFamily="34" charset="-120"/>
              </a:rPr>
              <a:t>SECTION 05</a:t>
            </a:r>
            <a:endParaRPr lang="en-US" sz="1100" dirty="0"/>
          </a:p>
        </p:txBody>
      </p:sp>
      <p:sp>
        <p:nvSpPr>
          <p:cNvPr id="3" name="Shape 1"/>
          <p:cNvSpPr/>
          <p:nvPr/>
        </p:nvSpPr>
        <p:spPr>
          <a:xfrm>
            <a:off x="777240" y="1600200"/>
            <a:ext cx="731520" cy="36576"/>
          </a:xfrm>
          <a:prstGeom prst="rect">
            <a:avLst/>
          </a:prstGeom>
          <a:solidFill>
            <a:srgbClr val="0891B2"/>
          </a:solidFill>
          <a:ln/>
        </p:spPr>
        <p:txBody>
          <a:bodyPr/>
          <a:p/>
        </p:txBody>
      </p:sp>
      <p:sp>
        <p:nvSpPr>
          <p:cNvPr id="4" name="Text 2"/>
          <p:cNvSpPr/>
          <p:nvPr/>
        </p:nvSpPr>
        <p:spPr>
          <a:xfrm>
            <a:off x="777240" y="1783080"/>
            <a:ext cx="7315200" cy="9144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PUTTING AI TO WORK</a:t>
            </a:r>
            <a:endParaRPr lang="en-US" sz="3000" dirty="0"/>
          </a:p>
        </p:txBody>
      </p:sp>
      <p:sp>
        <p:nvSpPr>
          <p:cNvPr id="5" name="Text 3"/>
          <p:cNvSpPr/>
          <p:nvPr/>
        </p:nvSpPr>
        <p:spPr>
          <a:xfrm>
            <a:off x="777240" y="2697480"/>
            <a:ext cx="6400800" cy="457200"/>
          </a:xfrm>
          <a:prstGeom prst="rect">
            <a:avLst/>
          </a:prstGeom>
          <a:noFill/>
          <a:ln/>
        </p:spPr>
        <p:txBody>
          <a:bodyPr wrap="square" lIns="0" tIns="0" rIns="0" bIns="0" rtlCol="0" anchor="ctr"/>
          <a:lstStyle/>
          <a:p>
            <a:pPr indent="0" marL="0">
              <a:buNone/>
            </a:pPr>
            <a:r>
              <a:rPr lang="en-US" sz="1800" dirty="0">
                <a:solidFill>
                  <a:srgbClr val="94A3B8"/>
                </a:solidFill>
                <a:latin typeface="Calibri Light" pitchFamily="34" charset="0"/>
                <a:ea typeface="Calibri Light" pitchFamily="34" charset="-122"/>
                <a:cs typeface="Calibri Light" pitchFamily="34" charset="-120"/>
              </a:rPr>
              <a:t>From theory to practice — real business tasks with AI</a:t>
            </a:r>
            <a:endParaRPr lang="en-US" sz="1800" dirty="0"/>
          </a:p>
        </p:txBody>
      </p:sp>
      <p:sp>
        <p:nvSpPr>
          <p:cNvPr id="6" name="Text 4"/>
          <p:cNvSpPr/>
          <p:nvPr/>
        </p:nvSpPr>
        <p:spPr>
          <a:xfrm>
            <a:off x="777240" y="4320540"/>
            <a:ext cx="3657600" cy="320040"/>
          </a:xfrm>
          <a:prstGeom prst="rect">
            <a:avLst/>
          </a:prstGeom>
          <a:noFill/>
          <a:ln/>
        </p:spPr>
        <p:txBody>
          <a:bodyPr wrap="square" lIns="0" tIns="0" rIns="0" bIns="0" rtlCol="0" anchor="ctr"/>
          <a:lstStyle/>
          <a:p>
            <a:pPr indent="0" marL="0">
              <a:buNone/>
            </a:pPr>
            <a:r>
              <a:rPr lang="en-US" sz="1400" dirty="0">
                <a:solidFill>
                  <a:srgbClr val="94A3B8"/>
                </a:solidFill>
                <a:latin typeface="Calibri Light" pitchFamily="34" charset="0"/>
                <a:ea typeface="Calibri Light" pitchFamily="34" charset="-122"/>
                <a:cs typeface="Calibri Light" pitchFamily="34" charset="-120"/>
              </a:rPr>
              <a:t>~30 minutes</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Your AI Workflow Toolkit</a:t>
            </a:r>
            <a:endParaRPr lang="en-US" sz="3200" dirty="0"/>
          </a:p>
        </p:txBody>
      </p:sp>
      <p:sp>
        <p:nvSpPr>
          <p:cNvPr id="3" name="Shape 1"/>
          <p:cNvSpPr/>
          <p:nvPr/>
        </p:nvSpPr>
        <p:spPr>
          <a:xfrm>
            <a:off x="54864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4" name="Image 0" descr="preencoded.png">    </p:cNvPr>
          <p:cNvPicPr>
            <a:picLocks noChangeAspect="1"/>
          </p:cNvPicPr>
          <p:nvPr/>
        </p:nvPicPr>
        <p:blipFill>
          <a:blip r:embed="rId1"/>
          <a:stretch>
            <a:fillRect/>
          </a:stretch>
        </p:blipFill>
        <p:spPr>
          <a:xfrm>
            <a:off x="1554480" y="1463040"/>
            <a:ext cx="457200" cy="457200"/>
          </a:xfrm>
          <a:prstGeom prst="rect">
            <a:avLst/>
          </a:prstGeom>
        </p:spPr>
      </p:pic>
      <p:sp>
        <p:nvSpPr>
          <p:cNvPr id="5" name="Text 2"/>
          <p:cNvSpPr/>
          <p:nvPr/>
        </p:nvSpPr>
        <p:spPr>
          <a:xfrm>
            <a:off x="82296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ChatGPT / Claude</a:t>
            </a:r>
            <a:endParaRPr lang="en-US" sz="1600" dirty="0"/>
          </a:p>
        </p:txBody>
      </p:sp>
      <p:sp>
        <p:nvSpPr>
          <p:cNvPr id="6" name="Text 3"/>
          <p:cNvSpPr/>
          <p:nvPr/>
        </p:nvSpPr>
        <p:spPr>
          <a:xfrm>
            <a:off x="82296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Your primary AI assistant. Use for drafting, analyzing, brainstorming, and processing any text-based task. Free tiers available for both.</a:t>
            </a:r>
            <a:endParaRPr lang="en-US" sz="1200" dirty="0"/>
          </a:p>
        </p:txBody>
      </p:sp>
      <p:sp>
        <p:nvSpPr>
          <p:cNvPr id="7" name="Shape 4"/>
          <p:cNvSpPr/>
          <p:nvPr/>
        </p:nvSpPr>
        <p:spPr>
          <a:xfrm>
            <a:off x="333756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8" name="Image 1" descr="preencoded.png">    </p:cNvPr>
          <p:cNvPicPr>
            <a:picLocks noChangeAspect="1"/>
          </p:cNvPicPr>
          <p:nvPr/>
        </p:nvPicPr>
        <p:blipFill>
          <a:blip r:embed="rId2"/>
          <a:stretch>
            <a:fillRect/>
          </a:stretch>
        </p:blipFill>
        <p:spPr>
          <a:xfrm>
            <a:off x="4343400" y="1463040"/>
            <a:ext cx="457200" cy="457200"/>
          </a:xfrm>
          <a:prstGeom prst="rect">
            <a:avLst/>
          </a:prstGeom>
        </p:spPr>
      </p:pic>
      <p:sp>
        <p:nvSpPr>
          <p:cNvPr id="9" name="Text 5"/>
          <p:cNvSpPr/>
          <p:nvPr/>
        </p:nvSpPr>
        <p:spPr>
          <a:xfrm>
            <a:off x="361188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MCP Connections</a:t>
            </a:r>
            <a:endParaRPr lang="en-US" sz="1600" dirty="0"/>
          </a:p>
        </p:txBody>
      </p:sp>
      <p:sp>
        <p:nvSpPr>
          <p:cNvPr id="10" name="Text 6"/>
          <p:cNvSpPr/>
          <p:nvPr/>
        </p:nvSpPr>
        <p:spPr>
          <a:xfrm>
            <a:off x="361188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Plug AI into Google Drive, Gmail, Slack, your CRM. AI reads and acts inside your real tools — no copy-pasting between apps.</a:t>
            </a:r>
            <a:endParaRPr lang="en-US" sz="1200" dirty="0"/>
          </a:p>
        </p:txBody>
      </p:sp>
      <p:sp>
        <p:nvSpPr>
          <p:cNvPr id="11" name="Shape 7"/>
          <p:cNvSpPr/>
          <p:nvPr/>
        </p:nvSpPr>
        <p:spPr>
          <a:xfrm>
            <a:off x="612648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12" name="Image 2" descr="preencoded.png">    </p:cNvPr>
          <p:cNvPicPr>
            <a:picLocks noChangeAspect="1"/>
          </p:cNvPicPr>
          <p:nvPr/>
        </p:nvPicPr>
        <p:blipFill>
          <a:blip r:embed="rId3"/>
          <a:stretch>
            <a:fillRect/>
          </a:stretch>
        </p:blipFill>
        <p:spPr>
          <a:xfrm>
            <a:off x="7132320" y="1463040"/>
            <a:ext cx="457200" cy="457200"/>
          </a:xfrm>
          <a:prstGeom prst="rect">
            <a:avLst/>
          </a:prstGeom>
        </p:spPr>
      </p:pic>
      <p:sp>
        <p:nvSpPr>
          <p:cNvPr id="13" name="Text 8"/>
          <p:cNvSpPr/>
          <p:nvPr/>
        </p:nvSpPr>
        <p:spPr>
          <a:xfrm>
            <a:off x="640080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Creative Tools</a:t>
            </a:r>
            <a:endParaRPr lang="en-US" sz="1600" dirty="0"/>
          </a:p>
        </p:txBody>
      </p:sp>
      <p:sp>
        <p:nvSpPr>
          <p:cNvPr id="14" name="Text 9"/>
          <p:cNvSpPr/>
          <p:nvPr/>
        </p:nvSpPr>
        <p:spPr>
          <a:xfrm>
            <a:off x="640080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Midjourney for images, Higgsfield for video ads, Whisper Flow for voice-to-text. Generate marketing assets in minutes, not days.</a:t>
            </a:r>
            <a:endParaRPr lang="en-US" sz="1200" dirty="0"/>
          </a:p>
        </p:txBody>
      </p:sp>
      <p:sp>
        <p:nvSpPr>
          <p:cNvPr id="15" name="Shape 10"/>
          <p:cNvSpPr/>
          <p:nvPr/>
        </p:nvSpPr>
        <p:spPr>
          <a:xfrm>
            <a:off x="548640" y="4732020"/>
            <a:ext cx="8046720" cy="0"/>
          </a:xfrm>
          <a:prstGeom prst="line">
            <a:avLst/>
          </a:prstGeom>
          <a:noFill/>
          <a:ln w="6350">
            <a:solidFill>
              <a:srgbClr val="E2E8F0"/>
            </a:solidFill>
            <a:prstDash val="solid"/>
          </a:ln>
        </p:spPr>
        <p:txBody>
          <a:bodyPr/>
          <a:p/>
        </p:txBody>
      </p:sp>
      <p:sp>
        <p:nvSpPr>
          <p:cNvPr id="16" name="Text 11"/>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7" name="Text 12"/>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35</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The 3-Step AI Business Workflow</a:t>
            </a:r>
            <a:endParaRPr lang="en-US" sz="3200" dirty="0"/>
          </a:p>
        </p:txBody>
      </p:sp>
      <p:sp>
        <p:nvSpPr>
          <p:cNvPr id="3" name="Shape 1"/>
          <p:cNvSpPr/>
          <p:nvPr/>
        </p:nvSpPr>
        <p:spPr>
          <a:xfrm>
            <a:off x="548640" y="114300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4" name="Shape 2"/>
          <p:cNvSpPr/>
          <p:nvPr/>
        </p:nvSpPr>
        <p:spPr>
          <a:xfrm>
            <a:off x="548640" y="1143000"/>
            <a:ext cx="54864" cy="621792"/>
          </a:xfrm>
          <a:prstGeom prst="rect">
            <a:avLst/>
          </a:prstGeom>
          <a:solidFill>
            <a:srgbClr val="0891B2"/>
          </a:solidFill>
          <a:ln/>
        </p:spPr>
        <p:txBody>
          <a:bodyPr/>
          <a:p/>
        </p:txBody>
      </p:sp>
      <p:sp>
        <p:nvSpPr>
          <p:cNvPr id="5" name="Text 3"/>
          <p:cNvSpPr/>
          <p:nvPr/>
        </p:nvSpPr>
        <p:spPr>
          <a:xfrm>
            <a:off x="777240" y="114300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1463040" y="114300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Prepare Your Context</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Gather the inputs: the email thread, the spreadsheet, the brief. The more context AI has, the better the output.</a:t>
            </a:r>
            <a:endParaRPr lang="en-US" sz="1400" dirty="0"/>
          </a:p>
        </p:txBody>
      </p:sp>
      <p:sp>
        <p:nvSpPr>
          <p:cNvPr id="7" name="Shape 5"/>
          <p:cNvSpPr/>
          <p:nvPr/>
        </p:nvSpPr>
        <p:spPr>
          <a:xfrm>
            <a:off x="548640" y="187452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8" name="Shape 6"/>
          <p:cNvSpPr/>
          <p:nvPr/>
        </p:nvSpPr>
        <p:spPr>
          <a:xfrm>
            <a:off x="548640" y="1874520"/>
            <a:ext cx="54864" cy="621792"/>
          </a:xfrm>
          <a:prstGeom prst="rect">
            <a:avLst/>
          </a:prstGeom>
          <a:solidFill>
            <a:srgbClr val="0891B2"/>
          </a:solidFill>
          <a:ln/>
        </p:spPr>
        <p:txBody>
          <a:bodyPr/>
          <a:p/>
        </p:txBody>
      </p:sp>
      <p:sp>
        <p:nvSpPr>
          <p:cNvPr id="9" name="Text 7"/>
          <p:cNvSpPr/>
          <p:nvPr/>
        </p:nvSpPr>
        <p:spPr>
          <a:xfrm>
            <a:off x="777240" y="187452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02</a:t>
            </a:r>
            <a:endParaRPr lang="en-US" sz="2200" dirty="0"/>
          </a:p>
        </p:txBody>
      </p:sp>
      <p:sp>
        <p:nvSpPr>
          <p:cNvPr id="10" name="Text 8"/>
          <p:cNvSpPr/>
          <p:nvPr/>
        </p:nvSpPr>
        <p:spPr>
          <a:xfrm>
            <a:off x="1463040" y="187452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Prompt with the Formula</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Apply Intent + Context + Process + Outcome. Be specific. Use the ambiguity audit before you hit send.</a:t>
            </a:r>
            <a:endParaRPr lang="en-US" sz="1400" dirty="0"/>
          </a:p>
        </p:txBody>
      </p:sp>
      <p:sp>
        <p:nvSpPr>
          <p:cNvPr id="11" name="Shape 9"/>
          <p:cNvSpPr/>
          <p:nvPr/>
        </p:nvSpPr>
        <p:spPr>
          <a:xfrm>
            <a:off x="548640" y="260604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2" name="Shape 10"/>
          <p:cNvSpPr/>
          <p:nvPr/>
        </p:nvSpPr>
        <p:spPr>
          <a:xfrm>
            <a:off x="548640" y="2606040"/>
            <a:ext cx="54864" cy="621792"/>
          </a:xfrm>
          <a:prstGeom prst="rect">
            <a:avLst/>
          </a:prstGeom>
          <a:solidFill>
            <a:srgbClr val="0891B2"/>
          </a:solidFill>
          <a:ln/>
        </p:spPr>
        <p:txBody>
          <a:bodyPr/>
          <a:p/>
        </p:txBody>
      </p:sp>
      <p:sp>
        <p:nvSpPr>
          <p:cNvPr id="13" name="Text 11"/>
          <p:cNvSpPr/>
          <p:nvPr/>
        </p:nvSpPr>
        <p:spPr>
          <a:xfrm>
            <a:off x="777240" y="260604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03</a:t>
            </a:r>
            <a:endParaRPr lang="en-US" sz="2200" dirty="0"/>
          </a:p>
        </p:txBody>
      </p:sp>
      <p:sp>
        <p:nvSpPr>
          <p:cNvPr id="14" name="Text 12"/>
          <p:cNvSpPr/>
          <p:nvPr/>
        </p:nvSpPr>
        <p:spPr>
          <a:xfrm>
            <a:off x="1463040" y="260604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Review, Refine, Deploy</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AI gives you a strong first draft. You refine it with follow-up prompts. Then use it — send the email, save the report, share the doc.</a:t>
            </a:r>
            <a:endParaRPr lang="en-US" sz="1400" dirty="0"/>
          </a:p>
        </p:txBody>
      </p:sp>
      <p:sp>
        <p:nvSpPr>
          <p:cNvPr id="15" name="Shape 13"/>
          <p:cNvSpPr/>
          <p:nvPr/>
        </p:nvSpPr>
        <p:spPr>
          <a:xfrm>
            <a:off x="548640" y="4732020"/>
            <a:ext cx="8046720" cy="0"/>
          </a:xfrm>
          <a:prstGeom prst="line">
            <a:avLst/>
          </a:prstGeom>
          <a:noFill/>
          <a:ln w="6350">
            <a:solidFill>
              <a:srgbClr val="E2E8F0"/>
            </a:solidFill>
            <a:prstDash val="solid"/>
          </a:ln>
        </p:spPr>
        <p:txBody>
          <a:bodyPr/>
          <a:p/>
        </p:txBody>
      </p:sp>
      <p:sp>
        <p:nvSpPr>
          <p:cNvPr id="16" name="Text 14"/>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7" name="Text 15"/>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36</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Exercise 1: Draft a Dealer Email</a:t>
            </a:r>
            <a:endParaRPr lang="en-US" sz="3200" dirty="0"/>
          </a:p>
        </p:txBody>
      </p:sp>
      <p:sp>
        <p:nvSpPr>
          <p:cNvPr id="3" name="Shape 1"/>
          <p:cNvSpPr/>
          <p:nvPr/>
        </p:nvSpPr>
        <p:spPr>
          <a:xfrm>
            <a:off x="548640" y="914400"/>
            <a:ext cx="548640" cy="36576"/>
          </a:xfrm>
          <a:prstGeom prst="rect">
            <a:avLst/>
          </a:prstGeom>
          <a:solidFill>
            <a:srgbClr val="0891B2"/>
          </a:solidFill>
          <a:ln/>
        </p:spPr>
        <p:txBody>
          <a:bodyPr/>
          <a:p/>
        </p:txBody>
      </p:sp>
      <p:sp>
        <p:nvSpPr>
          <p:cNvPr id="4" name="Text 2"/>
          <p:cNvSpPr/>
          <p:nvPr/>
        </p:nvSpPr>
        <p:spPr>
          <a:xfrm>
            <a:off x="548640" y="1143000"/>
            <a:ext cx="4667098" cy="777240"/>
          </a:xfrm>
          <a:prstGeom prst="rect">
            <a:avLst/>
          </a:prstGeom>
          <a:noFill/>
          <a:ln/>
        </p:spPr>
        <p:txBody>
          <a:bodyPr wrap="square" lIns="0" tIns="0" rIns="0" bIns="0" rtlCol="0" anchor="ctr">
            <a:normAutofit/>
          </a:bodyPr>
          <a:lstStyle/>
          <a:p>
            <a:pPr indent="0" marL="0">
              <a:lnSpc>
                <a:spcPct val="125000"/>
              </a:lnSpc>
              <a:buNone/>
            </a:pPr>
            <a:r>
              <a:rPr lang="en-US" sz="1400" dirty="0">
                <a:solidFill>
                  <a:srgbClr val="4A5568"/>
                </a:solidFill>
                <a:latin typeface="Calibri Light" pitchFamily="34" charset="0"/>
                <a:ea typeface="Calibri Light" pitchFamily="34" charset="-122"/>
                <a:cs typeface="Calibri Light" pitchFamily="34" charset="-120"/>
              </a:rPr>
              <a:t>Open ChatGPT or Claude right now. We'll draft a professional dealer response together using the prompt formula. Paste the scenario and watch AI work.</a:t>
            </a:r>
            <a:endParaRPr lang="en-US" sz="1400" dirty="0"/>
          </a:p>
        </p:txBody>
      </p:sp>
      <p:sp>
        <p:nvSpPr>
          <p:cNvPr id="5" name="Text 3"/>
          <p:cNvSpPr/>
          <p:nvPr/>
        </p:nvSpPr>
        <p:spPr>
          <a:xfrm>
            <a:off x="548640" y="2286000"/>
            <a:ext cx="4667098" cy="19659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Scenario: A dealer emails asking about bulk pricing on 500 units of a new product line</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Apply the formula: Intent (retain dealer) + Context (pricing tiers, stock) + Process (format) + Outcome (reply ready to send)</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Add constraints: under 150 words, professional but warm, include next steps</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Refine: ask AI to "make it more direct" or "add urgency about limited stock"</a:t>
            </a:r>
            <a:endParaRPr lang="en-US" sz="1400" dirty="0"/>
          </a:p>
        </p:txBody>
      </p:sp>
      <p:sp>
        <p:nvSpPr>
          <p:cNvPr id="6" name="Shape 4"/>
          <p:cNvSpPr/>
          <p:nvPr/>
        </p:nvSpPr>
        <p:spPr>
          <a:xfrm>
            <a:off x="5672938" y="1143000"/>
            <a:ext cx="2922422" cy="2926080"/>
          </a:xfrm>
          <a:prstGeom prst="roundedRectangle">
            <a:avLst>
              <a:gd name="adj" fmla="val 250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7" name="Image 0" descr="preencoded.png">    </p:cNvPr>
          <p:cNvPicPr>
            <a:picLocks noChangeAspect="1"/>
          </p:cNvPicPr>
          <p:nvPr/>
        </p:nvPicPr>
        <p:blipFill>
          <a:blip r:embed="rId1"/>
          <a:stretch>
            <a:fillRect/>
          </a:stretch>
        </p:blipFill>
        <p:spPr>
          <a:xfrm>
            <a:off x="6676949" y="2148840"/>
            <a:ext cx="914400" cy="914400"/>
          </a:xfrm>
          <a:prstGeom prst="rect">
            <a:avLst/>
          </a:prstGeom>
        </p:spPr>
      </p:pic>
      <p:sp>
        <p:nvSpPr>
          <p:cNvPr id="8" name="Shape 5"/>
          <p:cNvSpPr/>
          <p:nvPr/>
        </p:nvSpPr>
        <p:spPr>
          <a:xfrm>
            <a:off x="548640" y="4732020"/>
            <a:ext cx="8046720" cy="0"/>
          </a:xfrm>
          <a:prstGeom prst="line">
            <a:avLst/>
          </a:prstGeom>
          <a:noFill/>
          <a:ln w="6350">
            <a:solidFill>
              <a:srgbClr val="E2E8F0"/>
            </a:solidFill>
            <a:prstDash val="solid"/>
          </a:ln>
        </p:spPr>
        <p:txBody>
          <a:bodyPr/>
          <a:p/>
        </p:txBody>
      </p:sp>
      <p:sp>
        <p:nvSpPr>
          <p:cNvPr id="9" name="Text 6"/>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0" name="Text 7"/>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37</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Exercise 2: Analyze a Sales Report</a:t>
            </a:r>
            <a:endParaRPr lang="en-US" sz="3200" dirty="0"/>
          </a:p>
        </p:txBody>
      </p:sp>
      <p:sp>
        <p:nvSpPr>
          <p:cNvPr id="3" name="Shape 1"/>
          <p:cNvSpPr/>
          <p:nvPr/>
        </p:nvSpPr>
        <p:spPr>
          <a:xfrm>
            <a:off x="548640" y="914400"/>
            <a:ext cx="548640" cy="36576"/>
          </a:xfrm>
          <a:prstGeom prst="rect">
            <a:avLst/>
          </a:prstGeom>
          <a:solidFill>
            <a:srgbClr val="0891B2"/>
          </a:solidFill>
          <a:ln/>
        </p:spPr>
        <p:txBody>
          <a:bodyPr/>
          <a:p/>
        </p:txBody>
      </p:sp>
      <p:sp>
        <p:nvSpPr>
          <p:cNvPr id="4" name="Text 2"/>
          <p:cNvSpPr/>
          <p:nvPr/>
        </p:nvSpPr>
        <p:spPr>
          <a:xfrm>
            <a:off x="548640" y="1143000"/>
            <a:ext cx="4667098" cy="777240"/>
          </a:xfrm>
          <a:prstGeom prst="rect">
            <a:avLst/>
          </a:prstGeom>
          <a:noFill/>
          <a:ln/>
        </p:spPr>
        <p:txBody>
          <a:bodyPr wrap="square" lIns="0" tIns="0" rIns="0" bIns="0" rtlCol="0" anchor="ctr">
            <a:normAutofit/>
          </a:bodyPr>
          <a:lstStyle/>
          <a:p>
            <a:pPr indent="0" marL="0">
              <a:lnSpc>
                <a:spcPct val="125000"/>
              </a:lnSpc>
              <a:buNone/>
            </a:pPr>
            <a:r>
              <a:rPr lang="en-US" sz="1400" dirty="0">
                <a:solidFill>
                  <a:srgbClr val="4A5568"/>
                </a:solidFill>
                <a:latin typeface="Calibri Light" pitchFamily="34" charset="0"/>
                <a:ea typeface="Calibri Light" pitchFamily="34" charset="-122"/>
                <a:cs typeface="Calibri Light" pitchFamily="34" charset="-120"/>
              </a:rPr>
              <a:t>Upload a spreadsheet (or paste data) into ChatGPT. Ask it to find insights you'd normally spend hours digging for. AI turns raw data into decisions.</a:t>
            </a:r>
            <a:endParaRPr lang="en-US" sz="1400" dirty="0"/>
          </a:p>
        </p:txBody>
      </p:sp>
      <p:sp>
        <p:nvSpPr>
          <p:cNvPr id="5" name="Text 3"/>
          <p:cNvSpPr/>
          <p:nvPr/>
        </p:nvSpPr>
        <p:spPr>
          <a:xfrm>
            <a:off x="548640" y="2286000"/>
            <a:ext cx="4667098" cy="19659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Upload your CSV or paste a table of last month's sales data</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Prompt: "Identify top 5 products by margin, flag any with declining trend, suggest 3 actions"</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Ask follow-ups: "Which dealer accounts are growing fastest?" "What should we reorder?"</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Export: ask AI to format findings as a summary email to your team</a:t>
            </a:r>
            <a:endParaRPr lang="en-US" sz="1400" dirty="0"/>
          </a:p>
        </p:txBody>
      </p:sp>
      <p:sp>
        <p:nvSpPr>
          <p:cNvPr id="6" name="Shape 4"/>
          <p:cNvSpPr/>
          <p:nvPr/>
        </p:nvSpPr>
        <p:spPr>
          <a:xfrm>
            <a:off x="5672938" y="1143000"/>
            <a:ext cx="2922422" cy="2926080"/>
          </a:xfrm>
          <a:prstGeom prst="roundedRectangle">
            <a:avLst>
              <a:gd name="adj" fmla="val 250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7" name="Image 0" descr="preencoded.png">    </p:cNvPr>
          <p:cNvPicPr>
            <a:picLocks noChangeAspect="1"/>
          </p:cNvPicPr>
          <p:nvPr/>
        </p:nvPicPr>
        <p:blipFill>
          <a:blip r:embed="rId1"/>
          <a:stretch>
            <a:fillRect/>
          </a:stretch>
        </p:blipFill>
        <p:spPr>
          <a:xfrm>
            <a:off x="6676949" y="2148840"/>
            <a:ext cx="914400" cy="914400"/>
          </a:xfrm>
          <a:prstGeom prst="rect">
            <a:avLst/>
          </a:prstGeom>
        </p:spPr>
      </p:pic>
      <p:sp>
        <p:nvSpPr>
          <p:cNvPr id="8" name="Shape 5"/>
          <p:cNvSpPr/>
          <p:nvPr/>
        </p:nvSpPr>
        <p:spPr>
          <a:xfrm>
            <a:off x="548640" y="4732020"/>
            <a:ext cx="8046720" cy="0"/>
          </a:xfrm>
          <a:prstGeom prst="line">
            <a:avLst/>
          </a:prstGeom>
          <a:noFill/>
          <a:ln w="6350">
            <a:solidFill>
              <a:srgbClr val="E2E8F0"/>
            </a:solidFill>
            <a:prstDash val="solid"/>
          </a:ln>
        </p:spPr>
        <p:txBody>
          <a:bodyPr/>
          <a:p/>
        </p:txBody>
      </p:sp>
      <p:sp>
        <p:nvSpPr>
          <p:cNvPr id="9" name="Text 6"/>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0" name="Text 7"/>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38</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Exercise 3: Create an SOP from Scratch</a:t>
            </a:r>
            <a:endParaRPr lang="en-US" sz="3200" dirty="0"/>
          </a:p>
        </p:txBody>
      </p:sp>
      <p:sp>
        <p:nvSpPr>
          <p:cNvPr id="3" name="Shape 1"/>
          <p:cNvSpPr/>
          <p:nvPr/>
        </p:nvSpPr>
        <p:spPr>
          <a:xfrm>
            <a:off x="548640" y="914400"/>
            <a:ext cx="548640" cy="36576"/>
          </a:xfrm>
          <a:prstGeom prst="rect">
            <a:avLst/>
          </a:prstGeom>
          <a:solidFill>
            <a:srgbClr val="0891B2"/>
          </a:solidFill>
          <a:ln/>
        </p:spPr>
        <p:txBody>
          <a:bodyPr/>
          <a:p/>
        </p:txBody>
      </p:sp>
      <p:sp>
        <p:nvSpPr>
          <p:cNvPr id="4" name="Text 2"/>
          <p:cNvSpPr/>
          <p:nvPr/>
        </p:nvSpPr>
        <p:spPr>
          <a:xfrm>
            <a:off x="548640" y="1143000"/>
            <a:ext cx="4667098" cy="777240"/>
          </a:xfrm>
          <a:prstGeom prst="rect">
            <a:avLst/>
          </a:prstGeom>
          <a:noFill/>
          <a:ln/>
        </p:spPr>
        <p:txBody>
          <a:bodyPr wrap="square" lIns="0" tIns="0" rIns="0" bIns="0" rtlCol="0" anchor="ctr">
            <a:normAutofit/>
          </a:bodyPr>
          <a:lstStyle/>
          <a:p>
            <a:pPr indent="0" marL="0">
              <a:lnSpc>
                <a:spcPct val="125000"/>
              </a:lnSpc>
              <a:buNone/>
            </a:pPr>
            <a:r>
              <a:rPr lang="en-US" sz="1400" dirty="0">
                <a:solidFill>
                  <a:srgbClr val="4A5568"/>
                </a:solidFill>
                <a:latin typeface="Calibri Light" pitchFamily="34" charset="0"/>
                <a:ea typeface="Calibri Light" pitchFamily="34" charset="-122"/>
                <a:cs typeface="Calibri Light" pitchFamily="34" charset="-120"/>
              </a:rPr>
              <a:t>Describe any business process out loud or in text. AI turns your explanation into a structured, step-by-step Standard Operating Procedure with checklists — ready to share with your team.</a:t>
            </a:r>
            <a:endParaRPr lang="en-US" sz="1400" dirty="0"/>
          </a:p>
        </p:txBody>
      </p:sp>
      <p:sp>
        <p:nvSpPr>
          <p:cNvPr id="5" name="Text 3"/>
          <p:cNvSpPr/>
          <p:nvPr/>
        </p:nvSpPr>
        <p:spPr>
          <a:xfrm>
            <a:off x="548640" y="2286000"/>
            <a:ext cx="4667098" cy="19659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Pick a real process: new dealer onboarding, returns handling, inventory recount</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Describe it conversationally: "When a new dealer applies, first we check their business license..."</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AI structures it: numbered steps, responsible parties, checklists, exception handling</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Refine: "Add a quality check step after step 3" or "Include estimated time per step"</a:t>
            </a:r>
            <a:endParaRPr lang="en-US" sz="1400" dirty="0"/>
          </a:p>
        </p:txBody>
      </p:sp>
      <p:sp>
        <p:nvSpPr>
          <p:cNvPr id="6" name="Shape 4"/>
          <p:cNvSpPr/>
          <p:nvPr/>
        </p:nvSpPr>
        <p:spPr>
          <a:xfrm>
            <a:off x="5672938" y="1143000"/>
            <a:ext cx="2922422" cy="2926080"/>
          </a:xfrm>
          <a:prstGeom prst="roundedRectangle">
            <a:avLst>
              <a:gd name="adj" fmla="val 250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7" name="Image 0" descr="preencoded.png">    </p:cNvPr>
          <p:cNvPicPr>
            <a:picLocks noChangeAspect="1"/>
          </p:cNvPicPr>
          <p:nvPr/>
        </p:nvPicPr>
        <p:blipFill>
          <a:blip r:embed="rId1"/>
          <a:stretch>
            <a:fillRect/>
          </a:stretch>
        </p:blipFill>
        <p:spPr>
          <a:xfrm>
            <a:off x="6676949" y="2148840"/>
            <a:ext cx="914400" cy="914400"/>
          </a:xfrm>
          <a:prstGeom prst="rect">
            <a:avLst/>
          </a:prstGeom>
        </p:spPr>
      </p:pic>
      <p:sp>
        <p:nvSpPr>
          <p:cNvPr id="8" name="Shape 5"/>
          <p:cNvSpPr/>
          <p:nvPr/>
        </p:nvSpPr>
        <p:spPr>
          <a:xfrm>
            <a:off x="548640" y="4732020"/>
            <a:ext cx="8046720" cy="0"/>
          </a:xfrm>
          <a:prstGeom prst="line">
            <a:avLst/>
          </a:prstGeom>
          <a:noFill/>
          <a:ln w="6350">
            <a:solidFill>
              <a:srgbClr val="E2E8F0"/>
            </a:solidFill>
            <a:prstDash val="solid"/>
          </a:ln>
        </p:spPr>
        <p:txBody>
          <a:bodyPr/>
          <a:p/>
        </p:txBody>
      </p:sp>
      <p:sp>
        <p:nvSpPr>
          <p:cNvPr id="9" name="Text 6"/>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0" name="Text 7"/>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39</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Exercise 4: Generate Marketing Content</a:t>
            </a:r>
            <a:endParaRPr lang="en-US" sz="3200" dirty="0"/>
          </a:p>
        </p:txBody>
      </p:sp>
      <p:sp>
        <p:nvSpPr>
          <p:cNvPr id="3" name="Shape 1"/>
          <p:cNvSpPr/>
          <p:nvPr/>
        </p:nvSpPr>
        <p:spPr>
          <a:xfrm>
            <a:off x="548640" y="914400"/>
            <a:ext cx="548640" cy="36576"/>
          </a:xfrm>
          <a:prstGeom prst="rect">
            <a:avLst/>
          </a:prstGeom>
          <a:solidFill>
            <a:srgbClr val="0891B2"/>
          </a:solidFill>
          <a:ln/>
        </p:spPr>
        <p:txBody>
          <a:bodyPr/>
          <a:p/>
        </p:txBody>
      </p:sp>
      <p:sp>
        <p:nvSpPr>
          <p:cNvPr id="4" name="Text 2"/>
          <p:cNvSpPr/>
          <p:nvPr/>
        </p:nvSpPr>
        <p:spPr>
          <a:xfrm>
            <a:off x="548640" y="1143000"/>
            <a:ext cx="4667098" cy="777240"/>
          </a:xfrm>
          <a:prstGeom prst="rect">
            <a:avLst/>
          </a:prstGeom>
          <a:noFill/>
          <a:ln/>
        </p:spPr>
        <p:txBody>
          <a:bodyPr wrap="square" lIns="0" tIns="0" rIns="0" bIns="0" rtlCol="0" anchor="ctr">
            <a:normAutofit/>
          </a:bodyPr>
          <a:lstStyle/>
          <a:p>
            <a:pPr indent="0" marL="0">
              <a:lnSpc>
                <a:spcPct val="125000"/>
              </a:lnSpc>
              <a:buNone/>
            </a:pPr>
            <a:r>
              <a:rPr lang="en-US" sz="1400" dirty="0">
                <a:solidFill>
                  <a:srgbClr val="4A5568"/>
                </a:solidFill>
                <a:latin typeface="Calibri Light" pitchFamily="34" charset="0"/>
                <a:ea typeface="Calibri Light" pitchFamily="34" charset="-122"/>
                <a:cs typeface="Calibri Light" pitchFamily="34" charset="-120"/>
              </a:rPr>
              <a:t>Use AI to create product descriptions, social posts, and email campaigns. Feed it your brand voice doc and watch it produce on-brand content at scale.</a:t>
            </a:r>
            <a:endParaRPr lang="en-US" sz="1400" dirty="0"/>
          </a:p>
        </p:txBody>
      </p:sp>
      <p:sp>
        <p:nvSpPr>
          <p:cNvPr id="5" name="Text 3"/>
          <p:cNvSpPr/>
          <p:nvPr/>
        </p:nvSpPr>
        <p:spPr>
          <a:xfrm>
            <a:off x="548640" y="2286000"/>
            <a:ext cx="4667098" cy="19659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Product description: paste specs, ask for a compelling listing for your website and catalog</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Social media: "Write 5 LinkedIn posts promoting our new TV line to B2B buyers"</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Email campaign: "Draft a 3-email sequence to re-engage inactive dealers"</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Pro tip: give AI an example of content you love and say "match this tone and style"</a:t>
            </a:r>
            <a:endParaRPr lang="en-US" sz="1400" dirty="0"/>
          </a:p>
        </p:txBody>
      </p:sp>
      <p:sp>
        <p:nvSpPr>
          <p:cNvPr id="6" name="Shape 4"/>
          <p:cNvSpPr/>
          <p:nvPr/>
        </p:nvSpPr>
        <p:spPr>
          <a:xfrm>
            <a:off x="5672938" y="1143000"/>
            <a:ext cx="2922422" cy="2926080"/>
          </a:xfrm>
          <a:prstGeom prst="roundedRectangle">
            <a:avLst>
              <a:gd name="adj" fmla="val 250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7" name="Image 0" descr="preencoded.png">    </p:cNvPr>
          <p:cNvPicPr>
            <a:picLocks noChangeAspect="1"/>
          </p:cNvPicPr>
          <p:nvPr/>
        </p:nvPicPr>
        <p:blipFill>
          <a:blip r:embed="rId1"/>
          <a:stretch>
            <a:fillRect/>
          </a:stretch>
        </p:blipFill>
        <p:spPr>
          <a:xfrm>
            <a:off x="6676949" y="2148840"/>
            <a:ext cx="914400" cy="914400"/>
          </a:xfrm>
          <a:prstGeom prst="rect">
            <a:avLst/>
          </a:prstGeom>
        </p:spPr>
      </p:pic>
      <p:sp>
        <p:nvSpPr>
          <p:cNvPr id="8" name="Shape 5"/>
          <p:cNvSpPr/>
          <p:nvPr/>
        </p:nvSpPr>
        <p:spPr>
          <a:xfrm>
            <a:off x="548640" y="4732020"/>
            <a:ext cx="8046720" cy="0"/>
          </a:xfrm>
          <a:prstGeom prst="line">
            <a:avLst/>
          </a:prstGeom>
          <a:noFill/>
          <a:ln w="6350">
            <a:solidFill>
              <a:srgbClr val="E2E8F0"/>
            </a:solidFill>
            <a:prstDash val="solid"/>
          </a:ln>
        </p:spPr>
        <p:txBody>
          <a:bodyPr/>
          <a:p/>
        </p:txBody>
      </p:sp>
      <p:sp>
        <p:nvSpPr>
          <p:cNvPr id="9" name="Text 6"/>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0" name="Text 7"/>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40</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Tips for Getting Great Results Every Time</a:t>
            </a:r>
            <a:endParaRPr lang="en-US" sz="3200" dirty="0"/>
          </a:p>
        </p:txBody>
      </p:sp>
      <p:sp>
        <p:nvSpPr>
          <p:cNvPr id="3" name="Shape 1"/>
          <p:cNvSpPr/>
          <p:nvPr/>
        </p:nvSpPr>
        <p:spPr>
          <a:xfrm>
            <a:off x="54864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4" name="Image 0" descr="preencoded.png">    </p:cNvPr>
          <p:cNvPicPr>
            <a:picLocks noChangeAspect="1"/>
          </p:cNvPicPr>
          <p:nvPr/>
        </p:nvPicPr>
        <p:blipFill>
          <a:blip r:embed="rId1"/>
          <a:stretch>
            <a:fillRect/>
          </a:stretch>
        </p:blipFill>
        <p:spPr>
          <a:xfrm>
            <a:off x="1554480" y="1463040"/>
            <a:ext cx="457200" cy="457200"/>
          </a:xfrm>
          <a:prstGeom prst="rect">
            <a:avLst/>
          </a:prstGeom>
        </p:spPr>
      </p:pic>
      <p:sp>
        <p:nvSpPr>
          <p:cNvPr id="5" name="Text 2"/>
          <p:cNvSpPr/>
          <p:nvPr/>
        </p:nvSpPr>
        <p:spPr>
          <a:xfrm>
            <a:off x="82296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Iterate, Don't Restart</a:t>
            </a:r>
            <a:endParaRPr lang="en-US" sz="1600" dirty="0"/>
          </a:p>
        </p:txBody>
      </p:sp>
      <p:sp>
        <p:nvSpPr>
          <p:cNvPr id="6" name="Text 3"/>
          <p:cNvSpPr/>
          <p:nvPr/>
        </p:nvSpPr>
        <p:spPr>
          <a:xfrm>
            <a:off x="82296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If the first output isn't right, don't start over. Say "make it shorter", "more formal", or "add a table". Each follow-up sharpens the result.</a:t>
            </a:r>
            <a:endParaRPr lang="en-US" sz="1200" dirty="0"/>
          </a:p>
        </p:txBody>
      </p:sp>
      <p:sp>
        <p:nvSpPr>
          <p:cNvPr id="7" name="Shape 4"/>
          <p:cNvSpPr/>
          <p:nvPr/>
        </p:nvSpPr>
        <p:spPr>
          <a:xfrm>
            <a:off x="333756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8" name="Image 1" descr="preencoded.png">    </p:cNvPr>
          <p:cNvPicPr>
            <a:picLocks noChangeAspect="1"/>
          </p:cNvPicPr>
          <p:nvPr/>
        </p:nvPicPr>
        <p:blipFill>
          <a:blip r:embed="rId2"/>
          <a:stretch>
            <a:fillRect/>
          </a:stretch>
        </p:blipFill>
        <p:spPr>
          <a:xfrm>
            <a:off x="4343400" y="1463040"/>
            <a:ext cx="457200" cy="457200"/>
          </a:xfrm>
          <a:prstGeom prst="rect">
            <a:avLst/>
          </a:prstGeom>
        </p:spPr>
      </p:pic>
      <p:sp>
        <p:nvSpPr>
          <p:cNvPr id="9" name="Text 5"/>
          <p:cNvSpPr/>
          <p:nvPr/>
        </p:nvSpPr>
        <p:spPr>
          <a:xfrm>
            <a:off x="361188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Save Your Best Prompts</a:t>
            </a:r>
            <a:endParaRPr lang="en-US" sz="1600" dirty="0"/>
          </a:p>
        </p:txBody>
      </p:sp>
      <p:sp>
        <p:nvSpPr>
          <p:cNvPr id="10" name="Text 6"/>
          <p:cNvSpPr/>
          <p:nvPr/>
        </p:nvSpPr>
        <p:spPr>
          <a:xfrm>
            <a:off x="361188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When a prompt works perfectly, save it. Build a prompt library for your team. These become reusable templates for every common task.</a:t>
            </a:r>
            <a:endParaRPr lang="en-US" sz="1200" dirty="0"/>
          </a:p>
        </p:txBody>
      </p:sp>
      <p:sp>
        <p:nvSpPr>
          <p:cNvPr id="11" name="Shape 7"/>
          <p:cNvSpPr/>
          <p:nvPr/>
        </p:nvSpPr>
        <p:spPr>
          <a:xfrm>
            <a:off x="612648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12" name="Image 2" descr="preencoded.png">    </p:cNvPr>
          <p:cNvPicPr>
            <a:picLocks noChangeAspect="1"/>
          </p:cNvPicPr>
          <p:nvPr/>
        </p:nvPicPr>
        <p:blipFill>
          <a:blip r:embed="rId3"/>
          <a:stretch>
            <a:fillRect/>
          </a:stretch>
        </p:blipFill>
        <p:spPr>
          <a:xfrm>
            <a:off x="7132320" y="1463040"/>
            <a:ext cx="457200" cy="457200"/>
          </a:xfrm>
          <a:prstGeom prst="rect">
            <a:avLst/>
          </a:prstGeom>
        </p:spPr>
      </p:pic>
      <p:sp>
        <p:nvSpPr>
          <p:cNvPr id="13" name="Text 8"/>
          <p:cNvSpPr/>
          <p:nvPr/>
        </p:nvSpPr>
        <p:spPr>
          <a:xfrm>
            <a:off x="640080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Always Review Before Sending</a:t>
            </a:r>
            <a:endParaRPr lang="en-US" sz="1600" dirty="0"/>
          </a:p>
        </p:txBody>
      </p:sp>
      <p:sp>
        <p:nvSpPr>
          <p:cNvPr id="14" name="Text 9"/>
          <p:cNvSpPr/>
          <p:nvPr/>
        </p:nvSpPr>
        <p:spPr>
          <a:xfrm>
            <a:off x="640080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AI is a draft machine, not a decision-maker. Always review for accuracy, tone, and sensitive information before sharing externally.</a:t>
            </a:r>
            <a:endParaRPr lang="en-US" sz="1200" dirty="0"/>
          </a:p>
        </p:txBody>
      </p:sp>
      <p:sp>
        <p:nvSpPr>
          <p:cNvPr id="15" name="Shape 10"/>
          <p:cNvSpPr/>
          <p:nvPr/>
        </p:nvSpPr>
        <p:spPr>
          <a:xfrm>
            <a:off x="548640" y="4732020"/>
            <a:ext cx="8046720" cy="0"/>
          </a:xfrm>
          <a:prstGeom prst="line">
            <a:avLst/>
          </a:prstGeom>
          <a:noFill/>
          <a:ln w="6350">
            <a:solidFill>
              <a:srgbClr val="E2E8F0"/>
            </a:solidFill>
            <a:prstDash val="solid"/>
          </a:ln>
        </p:spPr>
        <p:txBody>
          <a:bodyPr/>
          <a:p/>
        </p:txBody>
      </p:sp>
      <p:sp>
        <p:nvSpPr>
          <p:cNvPr id="16" name="Text 11"/>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7" name="Text 12"/>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41</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77240" y="1188720"/>
            <a:ext cx="5486400" cy="320040"/>
          </a:xfrm>
          <a:prstGeom prst="rect">
            <a:avLst/>
          </a:prstGeom>
          <a:noFill/>
          <a:ln/>
        </p:spPr>
        <p:txBody>
          <a:bodyPr wrap="square" lIns="0" tIns="0" rIns="0" bIns="0" rtlCol="0" anchor="ctr"/>
          <a:lstStyle/>
          <a:p>
            <a:pPr indent="0" marL="0">
              <a:buNone/>
            </a:pPr>
            <a:r>
              <a:rPr lang="en-US" sz="1100" b="1" spc="400" kern="0" dirty="0">
                <a:solidFill>
                  <a:srgbClr val="0891B2"/>
                </a:solidFill>
                <a:latin typeface="Calibri" pitchFamily="34" charset="0"/>
                <a:ea typeface="Calibri" pitchFamily="34" charset="-122"/>
                <a:cs typeface="Calibri" pitchFamily="34" charset="-120"/>
              </a:rPr>
              <a:t>SECTION 06</a:t>
            </a:r>
            <a:endParaRPr lang="en-US" sz="1100" dirty="0"/>
          </a:p>
        </p:txBody>
      </p:sp>
      <p:sp>
        <p:nvSpPr>
          <p:cNvPr id="3" name="Shape 1"/>
          <p:cNvSpPr/>
          <p:nvPr/>
        </p:nvSpPr>
        <p:spPr>
          <a:xfrm>
            <a:off x="777240" y="1600200"/>
            <a:ext cx="731520" cy="36576"/>
          </a:xfrm>
          <a:prstGeom prst="rect">
            <a:avLst/>
          </a:prstGeom>
          <a:solidFill>
            <a:srgbClr val="0891B2"/>
          </a:solidFill>
          <a:ln/>
        </p:spPr>
        <p:txBody>
          <a:bodyPr/>
          <a:p/>
        </p:txBody>
      </p:sp>
      <p:sp>
        <p:nvSpPr>
          <p:cNvPr id="4" name="Text 2"/>
          <p:cNvSpPr/>
          <p:nvPr/>
        </p:nvSpPr>
        <p:spPr>
          <a:xfrm>
            <a:off x="777240" y="1783080"/>
            <a:ext cx="7315200" cy="9144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WHAT'S POSSIBLE NEXT</a:t>
            </a:r>
            <a:endParaRPr lang="en-US" sz="3000" dirty="0"/>
          </a:p>
        </p:txBody>
      </p:sp>
      <p:sp>
        <p:nvSpPr>
          <p:cNvPr id="5" name="Text 3"/>
          <p:cNvSpPr/>
          <p:nvPr/>
        </p:nvSpPr>
        <p:spPr>
          <a:xfrm>
            <a:off x="777240" y="2697480"/>
            <a:ext cx="6400800" cy="457200"/>
          </a:xfrm>
          <a:prstGeom prst="rect">
            <a:avLst/>
          </a:prstGeom>
          <a:noFill/>
          <a:ln/>
        </p:spPr>
        <p:txBody>
          <a:bodyPr wrap="square" lIns="0" tIns="0" rIns="0" bIns="0" rtlCol="0" anchor="ctr"/>
          <a:lstStyle/>
          <a:p>
            <a:pPr indent="0" marL="0">
              <a:buNone/>
            </a:pPr>
            <a:r>
              <a:rPr lang="en-US" sz="1800" dirty="0">
                <a:solidFill>
                  <a:srgbClr val="94A3B8"/>
                </a:solidFill>
                <a:latin typeface="Calibri Light" pitchFamily="34" charset="0"/>
                <a:ea typeface="Calibri Light" pitchFamily="34" charset="-122"/>
                <a:cs typeface="Calibri Light" pitchFamily="34" charset="-120"/>
              </a:rPr>
              <a:t>From business workflows to full custom applications</a:t>
            </a:r>
            <a:endParaRPr lang="en-US" sz="1800" dirty="0"/>
          </a:p>
        </p:txBody>
      </p:sp>
      <p:sp>
        <p:nvSpPr>
          <p:cNvPr id="6" name="Text 4"/>
          <p:cNvSpPr/>
          <p:nvPr/>
        </p:nvSpPr>
        <p:spPr>
          <a:xfrm>
            <a:off x="777240" y="4320540"/>
            <a:ext cx="3657600" cy="320040"/>
          </a:xfrm>
          <a:prstGeom prst="rect">
            <a:avLst/>
          </a:prstGeom>
          <a:noFill/>
          <a:ln/>
        </p:spPr>
        <p:txBody>
          <a:bodyPr wrap="square" lIns="0" tIns="0" rIns="0" bIns="0" rtlCol="0" anchor="ctr"/>
          <a:lstStyle/>
          <a:p>
            <a:pPr indent="0" marL="0">
              <a:buNone/>
            </a:pPr>
            <a:r>
              <a:rPr lang="en-US" sz="1400" dirty="0">
                <a:solidFill>
                  <a:srgbClr val="94A3B8"/>
                </a:solidFill>
                <a:latin typeface="Calibri Light" pitchFamily="34" charset="0"/>
                <a:ea typeface="Calibri Light" pitchFamily="34" charset="-122"/>
                <a:cs typeface="Calibri Light" pitchFamily="34" charset="-120"/>
              </a:rPr>
              <a:t>~10 minutes</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WholesaleTech Hub — What AI Can Build</a:t>
            </a:r>
            <a:endParaRPr lang="en-US" sz="3200" dirty="0"/>
          </a:p>
        </p:txBody>
      </p:sp>
      <p:sp>
        <p:nvSpPr>
          <p:cNvPr id="3" name="Shape 1"/>
          <p:cNvSpPr/>
          <p:nvPr/>
        </p:nvSpPr>
        <p:spPr>
          <a:xfrm>
            <a:off x="548640" y="914400"/>
            <a:ext cx="548640" cy="36576"/>
          </a:xfrm>
          <a:prstGeom prst="rect">
            <a:avLst/>
          </a:prstGeom>
          <a:solidFill>
            <a:srgbClr val="0891B2"/>
          </a:solidFill>
          <a:ln/>
        </p:spPr>
        <p:txBody>
          <a:bodyPr/>
          <a:p/>
        </p:txBody>
      </p:sp>
      <p:sp>
        <p:nvSpPr>
          <p:cNvPr id="4" name="Text 2"/>
          <p:cNvSpPr/>
          <p:nvPr/>
        </p:nvSpPr>
        <p:spPr>
          <a:xfrm>
            <a:off x="548640" y="1143000"/>
            <a:ext cx="4667098" cy="777240"/>
          </a:xfrm>
          <a:prstGeom prst="rect">
            <a:avLst/>
          </a:prstGeom>
          <a:noFill/>
          <a:ln/>
        </p:spPr>
        <p:txBody>
          <a:bodyPr wrap="square" lIns="0" tIns="0" rIns="0" bIns="0" rtlCol="0" anchor="ctr">
            <a:normAutofit/>
          </a:bodyPr>
          <a:lstStyle/>
          <a:p>
            <a:pPr indent="0" marL="0">
              <a:lnSpc>
                <a:spcPct val="125000"/>
              </a:lnSpc>
              <a:buNone/>
            </a:pPr>
            <a:r>
              <a:rPr lang="en-US" sz="1400" dirty="0">
                <a:solidFill>
                  <a:srgbClr val="4A5568"/>
                </a:solidFill>
                <a:latin typeface="Calibri Light" pitchFamily="34" charset="0"/>
                <a:ea typeface="Calibri Light" pitchFamily="34" charset="-122"/>
                <a:cs typeface="Calibri Light" pitchFamily="34" charset="-120"/>
              </a:rPr>
              <a:t>Everything you learned today — prompting, context docs, MCP tools — scales up to building full software. Here's a wholesale portal built entirely with AI agents using the same techniques.</a:t>
            </a:r>
            <a:endParaRPr lang="en-US" sz="1400" dirty="0"/>
          </a:p>
        </p:txBody>
      </p:sp>
      <p:sp>
        <p:nvSpPr>
          <p:cNvPr id="5" name="Text 3"/>
          <p:cNvSpPr/>
          <p:nvPr/>
        </p:nvSpPr>
        <p:spPr>
          <a:xfrm>
            <a:off x="548640" y="2286000"/>
            <a:ext cx="4667098" cy="19659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Full dealer portal: registration, catalog browsing, bulk ordering, shipment tracking</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Admin dashboard: inventory management, dealer approvals, analytics</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Built with AI agents in days, not months — no traditional development team needed</a:t>
            </a:r>
            <a:endParaRPr lang="en-US" sz="1400" dirty="0"/>
          </a:p>
          <a:p>
            <a:pPr marL="342900" indent="-342900">
              <a:spcAft>
                <a:spcPts val="800"/>
              </a:spcAft>
              <a:buSzPct val="100000"/>
              <a:buChar char="•"/>
            </a:pPr>
            <a:r>
              <a:rPr lang="en-US" sz="1400" dirty="0">
                <a:solidFill>
                  <a:srgbClr val="4A5568"/>
                </a:solidFill>
                <a:latin typeface="Calibri Light" pitchFamily="34" charset="0"/>
                <a:ea typeface="Calibri Light" pitchFamily="34" charset="-122"/>
                <a:cs typeface="Calibri Light" pitchFamily="34" charset="-120"/>
              </a:rPr>
              <a:t>Same prompt formula + context docs + MCP tools, just applied to a bigger project</a:t>
            </a:r>
            <a:endParaRPr lang="en-US" sz="1400" dirty="0"/>
          </a:p>
        </p:txBody>
      </p:sp>
      <p:sp>
        <p:nvSpPr>
          <p:cNvPr id="6" name="Shape 4"/>
          <p:cNvSpPr/>
          <p:nvPr/>
        </p:nvSpPr>
        <p:spPr>
          <a:xfrm>
            <a:off x="5672938" y="1143000"/>
            <a:ext cx="2922422" cy="2926080"/>
          </a:xfrm>
          <a:prstGeom prst="roundedRectangle">
            <a:avLst>
              <a:gd name="adj" fmla="val 250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7" name="Image 0" descr="preencoded.png">    </p:cNvPr>
          <p:cNvPicPr>
            <a:picLocks noChangeAspect="1"/>
          </p:cNvPicPr>
          <p:nvPr/>
        </p:nvPicPr>
        <p:blipFill>
          <a:blip r:embed="rId1"/>
          <a:stretch>
            <a:fillRect/>
          </a:stretch>
        </p:blipFill>
        <p:spPr>
          <a:xfrm>
            <a:off x="6676949" y="2148840"/>
            <a:ext cx="914400" cy="914400"/>
          </a:xfrm>
          <a:prstGeom prst="rect">
            <a:avLst/>
          </a:prstGeom>
        </p:spPr>
      </p:pic>
      <p:sp>
        <p:nvSpPr>
          <p:cNvPr id="8" name="Shape 5"/>
          <p:cNvSpPr/>
          <p:nvPr/>
        </p:nvSpPr>
        <p:spPr>
          <a:xfrm>
            <a:off x="548640" y="4732020"/>
            <a:ext cx="8046720" cy="0"/>
          </a:xfrm>
          <a:prstGeom prst="line">
            <a:avLst/>
          </a:prstGeom>
          <a:noFill/>
          <a:ln w="6350">
            <a:solidFill>
              <a:srgbClr val="E2E8F0"/>
            </a:solidFill>
            <a:prstDash val="solid"/>
          </a:ln>
        </p:spPr>
        <p:txBody>
          <a:bodyPr/>
          <a:p/>
        </p:txBody>
      </p:sp>
      <p:sp>
        <p:nvSpPr>
          <p:cNvPr id="9" name="Text 6"/>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0" name="Text 7"/>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42</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Your Growth Path</a:t>
            </a:r>
            <a:endParaRPr lang="en-US" sz="3200" dirty="0"/>
          </a:p>
        </p:txBody>
      </p:sp>
      <p:sp>
        <p:nvSpPr>
          <p:cNvPr id="3" name="Shape 1"/>
          <p:cNvSpPr/>
          <p:nvPr/>
        </p:nvSpPr>
        <p:spPr>
          <a:xfrm>
            <a:off x="548640" y="114300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4" name="Shape 2"/>
          <p:cNvSpPr/>
          <p:nvPr/>
        </p:nvSpPr>
        <p:spPr>
          <a:xfrm>
            <a:off x="548640" y="1143000"/>
            <a:ext cx="54864" cy="621792"/>
          </a:xfrm>
          <a:prstGeom prst="rect">
            <a:avLst/>
          </a:prstGeom>
          <a:solidFill>
            <a:srgbClr val="0891B2"/>
          </a:solidFill>
          <a:ln/>
        </p:spPr>
        <p:txBody>
          <a:bodyPr/>
          <a:p/>
        </p:txBody>
      </p:sp>
      <p:sp>
        <p:nvSpPr>
          <p:cNvPr id="5" name="Text 3"/>
          <p:cNvSpPr/>
          <p:nvPr/>
        </p:nvSpPr>
        <p:spPr>
          <a:xfrm>
            <a:off x="777240" y="114300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1463040" y="114300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Today: AI Business Workflows</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Draft emails, analyze data, create SOPs, generate content — using ChatGPT and Claude with good prompts</a:t>
            </a:r>
            <a:endParaRPr lang="en-US" sz="1400" dirty="0"/>
          </a:p>
        </p:txBody>
      </p:sp>
      <p:sp>
        <p:nvSpPr>
          <p:cNvPr id="7" name="Shape 5"/>
          <p:cNvSpPr/>
          <p:nvPr/>
        </p:nvSpPr>
        <p:spPr>
          <a:xfrm>
            <a:off x="548640" y="187452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8" name="Shape 6"/>
          <p:cNvSpPr/>
          <p:nvPr/>
        </p:nvSpPr>
        <p:spPr>
          <a:xfrm>
            <a:off x="548640" y="1874520"/>
            <a:ext cx="54864" cy="621792"/>
          </a:xfrm>
          <a:prstGeom prst="rect">
            <a:avLst/>
          </a:prstGeom>
          <a:solidFill>
            <a:srgbClr val="0891B2"/>
          </a:solidFill>
          <a:ln/>
        </p:spPr>
        <p:txBody>
          <a:bodyPr/>
          <a:p/>
        </p:txBody>
      </p:sp>
      <p:sp>
        <p:nvSpPr>
          <p:cNvPr id="9" name="Text 7"/>
          <p:cNvSpPr/>
          <p:nvPr/>
        </p:nvSpPr>
        <p:spPr>
          <a:xfrm>
            <a:off x="777240" y="187452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02</a:t>
            </a:r>
            <a:endParaRPr lang="en-US" sz="2200" dirty="0"/>
          </a:p>
        </p:txBody>
      </p:sp>
      <p:sp>
        <p:nvSpPr>
          <p:cNvPr id="10" name="Text 8"/>
          <p:cNvSpPr/>
          <p:nvPr/>
        </p:nvSpPr>
        <p:spPr>
          <a:xfrm>
            <a:off x="1463040" y="187452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Next Week: Connect Your Tools</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Set up MCP connections to Google Drive, Gmail, Slack. AI starts working inside your real systems</a:t>
            </a:r>
            <a:endParaRPr lang="en-US" sz="1400" dirty="0"/>
          </a:p>
        </p:txBody>
      </p:sp>
      <p:sp>
        <p:nvSpPr>
          <p:cNvPr id="11" name="Shape 9"/>
          <p:cNvSpPr/>
          <p:nvPr/>
        </p:nvSpPr>
        <p:spPr>
          <a:xfrm>
            <a:off x="548640" y="260604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2" name="Shape 10"/>
          <p:cNvSpPr/>
          <p:nvPr/>
        </p:nvSpPr>
        <p:spPr>
          <a:xfrm>
            <a:off x="548640" y="2606040"/>
            <a:ext cx="54864" cy="621792"/>
          </a:xfrm>
          <a:prstGeom prst="rect">
            <a:avLst/>
          </a:prstGeom>
          <a:solidFill>
            <a:srgbClr val="0891B2"/>
          </a:solidFill>
          <a:ln/>
        </p:spPr>
        <p:txBody>
          <a:bodyPr/>
          <a:p/>
        </p:txBody>
      </p:sp>
      <p:sp>
        <p:nvSpPr>
          <p:cNvPr id="13" name="Text 11"/>
          <p:cNvSpPr/>
          <p:nvPr/>
        </p:nvSpPr>
        <p:spPr>
          <a:xfrm>
            <a:off x="777240" y="260604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03</a:t>
            </a:r>
            <a:endParaRPr lang="en-US" sz="2200" dirty="0"/>
          </a:p>
        </p:txBody>
      </p:sp>
      <p:sp>
        <p:nvSpPr>
          <p:cNvPr id="14" name="Text 12"/>
          <p:cNvSpPr/>
          <p:nvPr/>
        </p:nvSpPr>
        <p:spPr>
          <a:xfrm>
            <a:off x="1463040" y="260604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Next Month: Automate Repeating Tasks</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Build workflows that run on triggers — new email arrives, AI drafts reply; weekly report auto-generates every Monday</a:t>
            </a:r>
            <a:endParaRPr lang="en-US" sz="1400" dirty="0"/>
          </a:p>
        </p:txBody>
      </p:sp>
      <p:sp>
        <p:nvSpPr>
          <p:cNvPr id="15" name="Shape 13"/>
          <p:cNvSpPr/>
          <p:nvPr/>
        </p:nvSpPr>
        <p:spPr>
          <a:xfrm>
            <a:off x="548640" y="3337560"/>
            <a:ext cx="8046720" cy="621792"/>
          </a:xfrm>
          <a:prstGeom prst="rect">
            <a:avLst/>
          </a:prstGeom>
          <a:solidFill>
            <a:srgbClr val="FFFFFF"/>
          </a:solidFill>
          <a:ln/>
          <a:effectLst>
            <a:outerShdw sx="100000" sy="100000" kx="0" ky="0" algn="bl" rotWithShape="0" blurRad="50800" dist="25400" dir="8100000">
              <a:srgbClr val="000000">
                <a:alpha val="8000"/>
              </a:srgbClr>
            </a:outerShdw>
          </a:effectLst>
        </p:spPr>
        <p:txBody>
          <a:bodyPr/>
          <a:p/>
        </p:txBody>
      </p:sp>
      <p:sp>
        <p:nvSpPr>
          <p:cNvPr id="16" name="Shape 14"/>
          <p:cNvSpPr/>
          <p:nvPr/>
        </p:nvSpPr>
        <p:spPr>
          <a:xfrm>
            <a:off x="548640" y="3337560"/>
            <a:ext cx="54864" cy="621792"/>
          </a:xfrm>
          <a:prstGeom prst="rect">
            <a:avLst/>
          </a:prstGeom>
          <a:solidFill>
            <a:srgbClr val="0891B2"/>
          </a:solidFill>
          <a:ln/>
        </p:spPr>
        <p:txBody>
          <a:bodyPr/>
          <a:p/>
        </p:txBody>
      </p:sp>
      <p:sp>
        <p:nvSpPr>
          <p:cNvPr id="17" name="Text 15"/>
          <p:cNvSpPr/>
          <p:nvPr/>
        </p:nvSpPr>
        <p:spPr>
          <a:xfrm>
            <a:off x="777240" y="3337560"/>
            <a:ext cx="548640" cy="621792"/>
          </a:xfrm>
          <a:prstGeom prst="rect">
            <a:avLst/>
          </a:prstGeom>
          <a:noFill/>
          <a:ln/>
        </p:spPr>
        <p:txBody>
          <a:bodyPr wrap="square" lIns="0" tIns="0" rIns="0" bIns="0" rtlCol="0" anchor="ctr"/>
          <a:lstStyle/>
          <a:p>
            <a:pPr indent="0" marL="0">
              <a:buNone/>
            </a:pPr>
            <a:r>
              <a:rPr lang="en-US" sz="2200" b="1" dirty="0">
                <a:solidFill>
                  <a:srgbClr val="0891B2"/>
                </a:solidFill>
                <a:latin typeface="Calibri" pitchFamily="34" charset="0"/>
                <a:ea typeface="Calibri" pitchFamily="34" charset="-122"/>
                <a:cs typeface="Calibri" pitchFamily="34" charset="-120"/>
              </a:rPr>
              <a:t>04</a:t>
            </a:r>
            <a:endParaRPr lang="en-US" sz="2200" dirty="0"/>
          </a:p>
        </p:txBody>
      </p:sp>
      <p:sp>
        <p:nvSpPr>
          <p:cNvPr id="18" name="Text 16"/>
          <p:cNvSpPr/>
          <p:nvPr/>
        </p:nvSpPr>
        <p:spPr>
          <a:xfrm>
            <a:off x="1463040" y="3337560"/>
            <a:ext cx="6949440" cy="62179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Next Quarter: Build Custom Apps</a:t>
            </a:r>
            <a:endParaRPr lang="en-US" sz="1400" dirty="0"/>
          </a:p>
          <a:p>
            <a:pPr indent="0" marL="0">
              <a:buNone/>
            </a:pPr>
            <a:r>
              <a:rPr lang="en-US" sz="1200" dirty="0">
                <a:solidFill>
                  <a:srgbClr val="4A5568"/>
                </a:solidFill>
                <a:latin typeface="Calibri Light" pitchFamily="34" charset="0"/>
                <a:ea typeface="Calibri Light" pitchFamily="34" charset="-122"/>
                <a:cs typeface="Calibri Light" pitchFamily="34" charset="-120"/>
              </a:rPr>
              <a:t>Use AI agents to build full software products tailored to your business — dealer portals, inventory systems, customer dashboards</a:t>
            </a:r>
            <a:endParaRPr lang="en-US" sz="1400" dirty="0"/>
          </a:p>
        </p:txBody>
      </p:sp>
      <p:sp>
        <p:nvSpPr>
          <p:cNvPr id="19" name="Shape 17"/>
          <p:cNvSpPr/>
          <p:nvPr/>
        </p:nvSpPr>
        <p:spPr>
          <a:xfrm>
            <a:off x="548640" y="4732020"/>
            <a:ext cx="8046720" cy="0"/>
          </a:xfrm>
          <a:prstGeom prst="line">
            <a:avLst/>
          </a:prstGeom>
          <a:noFill/>
          <a:ln w="6350">
            <a:solidFill>
              <a:srgbClr val="E2E8F0"/>
            </a:solidFill>
            <a:prstDash val="solid"/>
          </a:ln>
        </p:spPr>
        <p:txBody>
          <a:bodyPr/>
          <a:p/>
        </p:txBody>
      </p:sp>
      <p:sp>
        <p:nvSpPr>
          <p:cNvPr id="20" name="Text 18"/>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21" name="Text 19"/>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43</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77240" y="1188720"/>
            <a:ext cx="5486400" cy="320040"/>
          </a:xfrm>
          <a:prstGeom prst="rect">
            <a:avLst/>
          </a:prstGeom>
          <a:noFill/>
          <a:ln/>
        </p:spPr>
        <p:txBody>
          <a:bodyPr wrap="square" lIns="0" tIns="0" rIns="0" bIns="0" rtlCol="0" anchor="ctr"/>
          <a:lstStyle/>
          <a:p>
            <a:pPr indent="0" marL="0">
              <a:buNone/>
            </a:pPr>
            <a:r>
              <a:rPr lang="en-US" sz="1100" b="1" spc="400" kern="0" dirty="0">
                <a:solidFill>
                  <a:srgbClr val="0891B2"/>
                </a:solidFill>
                <a:latin typeface="Calibri" pitchFamily="34" charset="0"/>
                <a:ea typeface="Calibri" pitchFamily="34" charset="-122"/>
                <a:cs typeface="Calibri" pitchFamily="34" charset="-120"/>
              </a:rPr>
              <a:t>SECTION 07</a:t>
            </a:r>
            <a:endParaRPr lang="en-US" sz="1100" dirty="0"/>
          </a:p>
        </p:txBody>
      </p:sp>
      <p:sp>
        <p:nvSpPr>
          <p:cNvPr id="3" name="Shape 1"/>
          <p:cNvSpPr/>
          <p:nvPr/>
        </p:nvSpPr>
        <p:spPr>
          <a:xfrm>
            <a:off x="777240" y="1600200"/>
            <a:ext cx="731520" cy="36576"/>
          </a:xfrm>
          <a:prstGeom prst="rect">
            <a:avLst/>
          </a:prstGeom>
          <a:solidFill>
            <a:srgbClr val="0891B2"/>
          </a:solidFill>
          <a:ln/>
        </p:spPr>
        <p:txBody>
          <a:bodyPr/>
          <a:p/>
        </p:txBody>
      </p:sp>
      <p:sp>
        <p:nvSpPr>
          <p:cNvPr id="4" name="Text 2"/>
          <p:cNvSpPr/>
          <p:nvPr/>
        </p:nvSpPr>
        <p:spPr>
          <a:xfrm>
            <a:off x="777240" y="1783080"/>
            <a:ext cx="7315200" cy="9144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WRAPPING UP</a:t>
            </a:r>
            <a:endParaRPr lang="en-US" sz="3000" dirty="0"/>
          </a:p>
        </p:txBody>
      </p:sp>
      <p:sp>
        <p:nvSpPr>
          <p:cNvPr id="5" name="Text 3"/>
          <p:cNvSpPr/>
          <p:nvPr/>
        </p:nvSpPr>
        <p:spPr>
          <a:xfrm>
            <a:off x="777240" y="2697480"/>
            <a:ext cx="6400800" cy="457200"/>
          </a:xfrm>
          <a:prstGeom prst="rect">
            <a:avLst/>
          </a:prstGeom>
          <a:noFill/>
          <a:ln/>
        </p:spPr>
        <p:txBody>
          <a:bodyPr wrap="square" lIns="0" tIns="0" rIns="0" bIns="0" rtlCol="0" anchor="ctr"/>
          <a:lstStyle/>
          <a:p>
            <a:pPr indent="0" marL="0">
              <a:buNone/>
            </a:pPr>
            <a:r>
              <a:rPr lang="en-US" sz="1800" dirty="0">
                <a:solidFill>
                  <a:srgbClr val="94A3B8"/>
                </a:solidFill>
                <a:latin typeface="Calibri Light" pitchFamily="34" charset="0"/>
                <a:ea typeface="Calibri Light" pitchFamily="34" charset="-122"/>
                <a:cs typeface="Calibri Light" pitchFamily="34" charset="-120"/>
              </a:rPr>
              <a:t>Key takeaways and next steps</a:t>
            </a:r>
            <a:endParaRPr lang="en-US" sz="1800" dirty="0"/>
          </a:p>
        </p:txBody>
      </p:sp>
      <p:sp>
        <p:nvSpPr>
          <p:cNvPr id="6" name="Text 4"/>
          <p:cNvSpPr/>
          <p:nvPr/>
        </p:nvSpPr>
        <p:spPr>
          <a:xfrm>
            <a:off x="777240" y="4320540"/>
            <a:ext cx="3657600" cy="320040"/>
          </a:xfrm>
          <a:prstGeom prst="rect">
            <a:avLst/>
          </a:prstGeom>
          <a:noFill/>
          <a:ln/>
        </p:spPr>
        <p:txBody>
          <a:bodyPr wrap="square" lIns="0" tIns="0" rIns="0" bIns="0" rtlCol="0" anchor="ctr"/>
          <a:lstStyle/>
          <a:p>
            <a:pPr indent="0" marL="0">
              <a:buNone/>
            </a:pPr>
            <a:r>
              <a:rPr lang="en-US" sz="1400" dirty="0">
                <a:solidFill>
                  <a:srgbClr val="94A3B8"/>
                </a:solidFill>
                <a:latin typeface="Calibri Light" pitchFamily="34" charset="0"/>
                <a:ea typeface="Calibri Light" pitchFamily="34" charset="-122"/>
                <a:cs typeface="Calibri Light" pitchFamily="34" charset="-120"/>
              </a:rPr>
              <a:t>~10 minutes</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Key Takeaways</a:t>
            </a:r>
            <a:endParaRPr lang="en-US" sz="3200" dirty="0"/>
          </a:p>
        </p:txBody>
      </p:sp>
      <p:sp>
        <p:nvSpPr>
          <p:cNvPr id="3" name="Shape 1"/>
          <p:cNvSpPr/>
          <p:nvPr/>
        </p:nvSpPr>
        <p:spPr>
          <a:xfrm>
            <a:off x="548640" y="1252728"/>
            <a:ext cx="457200" cy="457200"/>
          </a:xfrm>
          <a:prstGeom prst="ellipse">
            <a:avLst/>
          </a:prstGeom>
          <a:solidFill>
            <a:srgbClr val="0891B2"/>
          </a:solidFill>
          <a:ln/>
        </p:spPr>
        <p:txBody>
          <a:bodyPr/>
          <a:p/>
        </p:txBody>
      </p:sp>
      <p:sp>
        <p:nvSpPr>
          <p:cNvPr id="4" name="Text 2"/>
          <p:cNvSpPr/>
          <p:nvPr/>
        </p:nvSpPr>
        <p:spPr>
          <a:xfrm>
            <a:off x="548640" y="12527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p:nvPr/>
        </p:nvSpPr>
        <p:spPr>
          <a:xfrm>
            <a:off x="1234440" y="1143000"/>
            <a:ext cx="7132320" cy="731520"/>
          </a:xfrm>
          <a:prstGeom prst="rect">
            <a:avLst/>
          </a:prstGeom>
          <a:noFill/>
          <a:ln/>
        </p:spPr>
        <p:txBody>
          <a:bodyPr wrap="square" lIns="0" tIns="0" rIns="0" bIns="0" rtlCol="0" anchor="ctr"/>
          <a:lstStyle/>
          <a:p>
            <a:pPr indent="0" marL="0">
              <a:buNone/>
            </a:pPr>
            <a:r>
              <a:rPr lang="en-US" sz="1600" b="1" dirty="0">
                <a:solidFill>
                  <a:srgbClr val="1A1A2E"/>
                </a:solidFill>
                <a:latin typeface="Calibri" pitchFamily="34" charset="0"/>
                <a:ea typeface="Calibri" pitchFamily="34" charset="-122"/>
                <a:cs typeface="Calibri" pitchFamily="34" charset="-120"/>
              </a:rPr>
              <a:t>Prompt quality determines output quality</a:t>
            </a:r>
            <a:endParaRPr lang="en-US" sz="1600" dirty="0"/>
          </a:p>
          <a:p>
            <a:pPr indent="0" marL="0">
              <a:buNone/>
            </a:pPr>
            <a:r>
              <a:rPr lang="en-US" sz="1400" dirty="0">
                <a:solidFill>
                  <a:srgbClr val="4A5568"/>
                </a:solidFill>
                <a:latin typeface="Calibri Light" pitchFamily="34" charset="0"/>
                <a:ea typeface="Calibri Light" pitchFamily="34" charset="-122"/>
                <a:cs typeface="Calibri Light" pitchFamily="34" charset="-120"/>
              </a:rPr>
              <a:t>Use Intent + Context + Process + Outcome. Be specific, eliminate ambiguity, front-load critical info.</a:t>
            </a:r>
            <a:endParaRPr lang="en-US" sz="1600" dirty="0"/>
          </a:p>
        </p:txBody>
      </p:sp>
      <p:sp>
        <p:nvSpPr>
          <p:cNvPr id="6" name="Shape 4"/>
          <p:cNvSpPr/>
          <p:nvPr/>
        </p:nvSpPr>
        <p:spPr>
          <a:xfrm>
            <a:off x="548640" y="2121408"/>
            <a:ext cx="457200" cy="457200"/>
          </a:xfrm>
          <a:prstGeom prst="ellipse">
            <a:avLst/>
          </a:prstGeom>
          <a:solidFill>
            <a:srgbClr val="0891B2"/>
          </a:solidFill>
          <a:ln/>
        </p:spPr>
        <p:txBody>
          <a:bodyPr/>
          <a:p/>
        </p:txBody>
      </p:sp>
      <p:sp>
        <p:nvSpPr>
          <p:cNvPr id="7" name="Text 5"/>
          <p:cNvSpPr/>
          <p:nvPr/>
        </p:nvSpPr>
        <p:spPr>
          <a:xfrm>
            <a:off x="548640" y="21214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8" name="Text 6"/>
          <p:cNvSpPr/>
          <p:nvPr/>
        </p:nvSpPr>
        <p:spPr>
          <a:xfrm>
            <a:off x="1234440" y="2011680"/>
            <a:ext cx="7132320" cy="731520"/>
          </a:xfrm>
          <a:prstGeom prst="rect">
            <a:avLst/>
          </a:prstGeom>
          <a:noFill/>
          <a:ln/>
        </p:spPr>
        <p:txBody>
          <a:bodyPr wrap="square" lIns="0" tIns="0" rIns="0" bIns="0" rtlCol="0" anchor="ctr"/>
          <a:lstStyle/>
          <a:p>
            <a:pPr indent="0" marL="0">
              <a:buNone/>
            </a:pPr>
            <a:r>
              <a:rPr lang="en-US" sz="1600" b="1" dirty="0">
                <a:solidFill>
                  <a:srgbClr val="1A1A2E"/>
                </a:solidFill>
                <a:latin typeface="Calibri" pitchFamily="34" charset="0"/>
                <a:ea typeface="Calibri" pitchFamily="34" charset="-122"/>
                <a:cs typeface="Calibri" pitchFamily="34" charset="-120"/>
              </a:rPr>
              <a:t>AGENTS.MD is your agent's operating system</a:t>
            </a:r>
            <a:endParaRPr lang="en-US" sz="1600" dirty="0"/>
          </a:p>
          <a:p>
            <a:pPr indent="0" marL="0">
              <a:buNone/>
            </a:pPr>
            <a:r>
              <a:rPr lang="en-US" sz="1400" dirty="0">
                <a:solidFill>
                  <a:srgbClr val="4A5568"/>
                </a:solidFill>
                <a:latin typeface="Calibri Light" pitchFamily="34" charset="0"/>
                <a:ea typeface="Calibri Light" pitchFamily="34" charset="-122"/>
                <a:cs typeface="Calibri Light" pitchFamily="34" charset="-120"/>
              </a:rPr>
              <a:t>Define scope, non-negotiables, commands, security, and success criteria before writing any code.</a:t>
            </a:r>
            <a:endParaRPr lang="en-US" sz="1600" dirty="0"/>
          </a:p>
        </p:txBody>
      </p:sp>
      <p:sp>
        <p:nvSpPr>
          <p:cNvPr id="9" name="Shape 7"/>
          <p:cNvSpPr/>
          <p:nvPr/>
        </p:nvSpPr>
        <p:spPr>
          <a:xfrm>
            <a:off x="548640" y="2990088"/>
            <a:ext cx="457200" cy="457200"/>
          </a:xfrm>
          <a:prstGeom prst="ellipse">
            <a:avLst/>
          </a:prstGeom>
          <a:solidFill>
            <a:srgbClr val="0891B2"/>
          </a:solidFill>
          <a:ln/>
        </p:spPr>
        <p:txBody>
          <a:bodyPr/>
          <a:p/>
        </p:txBody>
      </p:sp>
      <p:sp>
        <p:nvSpPr>
          <p:cNvPr id="10" name="Text 8"/>
          <p:cNvSpPr/>
          <p:nvPr/>
        </p:nvSpPr>
        <p:spPr>
          <a:xfrm>
            <a:off x="548640" y="299008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1" name="Text 9"/>
          <p:cNvSpPr/>
          <p:nvPr/>
        </p:nvSpPr>
        <p:spPr>
          <a:xfrm>
            <a:off x="1234440" y="2880360"/>
            <a:ext cx="7132320" cy="731520"/>
          </a:xfrm>
          <a:prstGeom prst="rect">
            <a:avLst/>
          </a:prstGeom>
          <a:noFill/>
          <a:ln/>
        </p:spPr>
        <p:txBody>
          <a:bodyPr wrap="square" lIns="0" tIns="0" rIns="0" bIns="0" rtlCol="0" anchor="ctr"/>
          <a:lstStyle/>
          <a:p>
            <a:pPr indent="0" marL="0">
              <a:buNone/>
            </a:pPr>
            <a:r>
              <a:rPr lang="en-US" sz="1600" b="1" dirty="0">
                <a:solidFill>
                  <a:srgbClr val="1A1A2E"/>
                </a:solidFill>
                <a:latin typeface="Calibri" pitchFamily="34" charset="0"/>
                <a:ea typeface="Calibri" pitchFamily="34" charset="-122"/>
                <a:cs typeface="Calibri" pitchFamily="34" charset="-120"/>
              </a:rPr>
              <a:t>The stack is simple: Next.js + Supabase + Prisma + Vercel</a:t>
            </a:r>
            <a:endParaRPr lang="en-US" sz="1600" dirty="0"/>
          </a:p>
          <a:p>
            <a:pPr indent="0" marL="0">
              <a:buNone/>
            </a:pPr>
            <a:r>
              <a:rPr lang="en-US" sz="1400" dirty="0">
                <a:solidFill>
                  <a:srgbClr val="4A5568"/>
                </a:solidFill>
                <a:latin typeface="Calibri Light" pitchFamily="34" charset="0"/>
                <a:ea typeface="Calibri Light" pitchFamily="34" charset="-122"/>
                <a:cs typeface="Calibri Light" pitchFamily="34" charset="-120"/>
              </a:rPr>
              <a:t>This combo handles 90% of projects. Start simple, split later if needed. Declare your stack upfront.</a:t>
            </a:r>
            <a:endParaRPr lang="en-US" sz="1600" dirty="0"/>
          </a:p>
        </p:txBody>
      </p:sp>
      <p:sp>
        <p:nvSpPr>
          <p:cNvPr id="12" name="Shape 10"/>
          <p:cNvSpPr/>
          <p:nvPr/>
        </p:nvSpPr>
        <p:spPr>
          <a:xfrm>
            <a:off x="548640" y="3858768"/>
            <a:ext cx="457200" cy="457200"/>
          </a:xfrm>
          <a:prstGeom prst="ellipse">
            <a:avLst/>
          </a:prstGeom>
          <a:solidFill>
            <a:srgbClr val="0891B2"/>
          </a:solidFill>
          <a:ln/>
        </p:spPr>
        <p:txBody>
          <a:bodyPr/>
          <a:p/>
        </p:txBody>
      </p:sp>
      <p:sp>
        <p:nvSpPr>
          <p:cNvPr id="13" name="Text 11"/>
          <p:cNvSpPr/>
          <p:nvPr/>
        </p:nvSpPr>
        <p:spPr>
          <a:xfrm>
            <a:off x="548640" y="3858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4" name="Text 12"/>
          <p:cNvSpPr/>
          <p:nvPr/>
        </p:nvSpPr>
        <p:spPr>
          <a:xfrm>
            <a:off x="1234440" y="3749040"/>
            <a:ext cx="7132320" cy="731520"/>
          </a:xfrm>
          <a:prstGeom prst="rect">
            <a:avLst/>
          </a:prstGeom>
          <a:noFill/>
          <a:ln/>
        </p:spPr>
        <p:txBody>
          <a:bodyPr wrap="square" lIns="0" tIns="0" rIns="0" bIns="0" rtlCol="0" anchor="ctr"/>
          <a:lstStyle/>
          <a:p>
            <a:pPr indent="0" marL="0">
              <a:buNone/>
            </a:pPr>
            <a:r>
              <a:rPr lang="en-US" sz="1600" b="1" dirty="0">
                <a:solidFill>
                  <a:srgbClr val="1A1A2E"/>
                </a:solidFill>
                <a:latin typeface="Calibri" pitchFamily="34" charset="0"/>
                <a:ea typeface="Calibri" pitchFamily="34" charset="-122"/>
                <a:cs typeface="Calibri" pitchFamily="34" charset="-120"/>
              </a:rPr>
              <a:t>Build in phases, not all at once</a:t>
            </a:r>
            <a:endParaRPr lang="en-US" sz="1600" dirty="0"/>
          </a:p>
          <a:p>
            <a:pPr indent="0" marL="0">
              <a:buNone/>
            </a:pPr>
            <a:r>
              <a:rPr lang="en-US" sz="1400" dirty="0">
                <a:solidFill>
                  <a:srgbClr val="4A5568"/>
                </a:solidFill>
                <a:latin typeface="Calibri Light" pitchFamily="34" charset="0"/>
                <a:ea typeface="Calibri Light" pitchFamily="34" charset="-122"/>
                <a:cs typeface="Calibri Light" pitchFamily="34" charset="-120"/>
              </a:rPr>
              <a:t>Plan → Gaps → Implement → Review. Commit at every checkpoint. Use the dual-terminal system.</a:t>
            </a:r>
            <a:endParaRPr lang="en-US" sz="1600" dirty="0"/>
          </a:p>
        </p:txBody>
      </p:sp>
      <p:sp>
        <p:nvSpPr>
          <p:cNvPr id="15" name="Shape 13"/>
          <p:cNvSpPr/>
          <p:nvPr/>
        </p:nvSpPr>
        <p:spPr>
          <a:xfrm>
            <a:off x="548640" y="4732020"/>
            <a:ext cx="8046720" cy="0"/>
          </a:xfrm>
          <a:prstGeom prst="line">
            <a:avLst/>
          </a:prstGeom>
          <a:noFill/>
          <a:ln w="6350">
            <a:solidFill>
              <a:srgbClr val="E2E8F0"/>
            </a:solidFill>
            <a:prstDash val="solid"/>
          </a:ln>
        </p:spPr>
        <p:txBody>
          <a:bodyPr/>
          <a:p/>
        </p:txBody>
      </p:sp>
      <p:sp>
        <p:nvSpPr>
          <p:cNvPr id="16" name="Text 14"/>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7" name="Text 15"/>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44</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200" b="1" dirty="0">
                <a:solidFill>
                  <a:srgbClr val="1A1A2E"/>
                </a:solidFill>
                <a:latin typeface="Calibri" pitchFamily="34" charset="0"/>
                <a:ea typeface="Calibri" pitchFamily="34" charset="-122"/>
                <a:cs typeface="Calibri" pitchFamily="34" charset="-120"/>
              </a:rPr>
              <a:t>Your Agent-Building Roadmap</a:t>
            </a:r>
            <a:endParaRPr lang="en-US" sz="3200" dirty="0"/>
          </a:p>
        </p:txBody>
      </p:sp>
      <p:sp>
        <p:nvSpPr>
          <p:cNvPr id="3" name="Shape 1"/>
          <p:cNvSpPr/>
          <p:nvPr/>
        </p:nvSpPr>
        <p:spPr>
          <a:xfrm>
            <a:off x="54864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4" name="Image 0" descr="preencoded.png">    </p:cNvPr>
          <p:cNvPicPr>
            <a:picLocks noChangeAspect="1"/>
          </p:cNvPicPr>
          <p:nvPr/>
        </p:nvPicPr>
        <p:blipFill>
          <a:blip r:embed="rId1"/>
          <a:stretch>
            <a:fillRect/>
          </a:stretch>
        </p:blipFill>
        <p:spPr>
          <a:xfrm>
            <a:off x="1554480" y="1463040"/>
            <a:ext cx="457200" cy="457200"/>
          </a:xfrm>
          <a:prstGeom prst="rect">
            <a:avLst/>
          </a:prstGeom>
        </p:spPr>
      </p:pic>
      <p:sp>
        <p:nvSpPr>
          <p:cNvPr id="5" name="Text 2"/>
          <p:cNvSpPr/>
          <p:nvPr/>
        </p:nvSpPr>
        <p:spPr>
          <a:xfrm>
            <a:off x="82296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Level 1: Workflows</a:t>
            </a:r>
            <a:endParaRPr lang="en-US" sz="1600" dirty="0"/>
          </a:p>
        </p:txBody>
      </p:sp>
      <p:sp>
        <p:nvSpPr>
          <p:cNvPr id="6" name="Text 3"/>
          <p:cNvSpPr/>
          <p:nvPr/>
        </p:nvSpPr>
        <p:spPr>
          <a:xfrm>
            <a:off x="82296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Connect prompts into systematic business processes. Start with: email drafter, report generator, content pipeline. Use context docs + prompt formula.</a:t>
            </a:r>
            <a:endParaRPr lang="en-US" sz="1200" dirty="0"/>
          </a:p>
        </p:txBody>
      </p:sp>
      <p:sp>
        <p:nvSpPr>
          <p:cNvPr id="7" name="Shape 4"/>
          <p:cNvSpPr/>
          <p:nvPr/>
        </p:nvSpPr>
        <p:spPr>
          <a:xfrm>
            <a:off x="333756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8" name="Image 1" descr="preencoded.png">    </p:cNvPr>
          <p:cNvPicPr>
            <a:picLocks noChangeAspect="1"/>
          </p:cNvPicPr>
          <p:nvPr/>
        </p:nvPicPr>
        <p:blipFill>
          <a:blip r:embed="rId2"/>
          <a:stretch>
            <a:fillRect/>
          </a:stretch>
        </p:blipFill>
        <p:spPr>
          <a:xfrm>
            <a:off x="4343400" y="1463040"/>
            <a:ext cx="457200" cy="457200"/>
          </a:xfrm>
          <a:prstGeom prst="rect">
            <a:avLst/>
          </a:prstGeom>
        </p:spPr>
      </p:pic>
      <p:sp>
        <p:nvSpPr>
          <p:cNvPr id="9" name="Text 5"/>
          <p:cNvSpPr/>
          <p:nvPr/>
        </p:nvSpPr>
        <p:spPr>
          <a:xfrm>
            <a:off x="361188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Level 2: Multi-Agent</a:t>
            </a:r>
            <a:endParaRPr lang="en-US" sz="1600" dirty="0"/>
          </a:p>
        </p:txBody>
      </p:sp>
      <p:sp>
        <p:nvSpPr>
          <p:cNvPr id="10" name="Text 6"/>
          <p:cNvSpPr/>
          <p:nvPr/>
        </p:nvSpPr>
        <p:spPr>
          <a:xfrm>
            <a:off x="361188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Design AI teams with specialized roles. Research AI feeds Strategy AI feeds Implementation AI. The dual-terminal workflow is your entry point.</a:t>
            </a:r>
            <a:endParaRPr lang="en-US" sz="1200" dirty="0"/>
          </a:p>
        </p:txBody>
      </p:sp>
      <p:sp>
        <p:nvSpPr>
          <p:cNvPr id="11" name="Shape 7"/>
          <p:cNvSpPr/>
          <p:nvPr/>
        </p:nvSpPr>
        <p:spPr>
          <a:xfrm>
            <a:off x="6126480" y="1188720"/>
            <a:ext cx="2468880" cy="3017520"/>
          </a:xfrm>
          <a:prstGeom prst="roundedRectangle">
            <a:avLst>
              <a:gd name="adj" fmla="val 2963"/>
            </a:avLst>
          </a:prstGeom>
          <a:solidFill>
            <a:srgbClr val="FFFFFF"/>
          </a:solidFill>
          <a:ln/>
          <a:effectLst>
            <a:outerShdw sx="100000" sy="100000" kx="0" ky="0" algn="bl" rotWithShape="0" blurRad="50800" dist="25400" dir="8100000">
              <a:srgbClr val="000000">
                <a:alpha val="8000"/>
              </a:srgbClr>
            </a:outerShdw>
          </a:effectLst>
        </p:spPr>
        <p:txBody>
          <a:bodyPr/>
          <a:p/>
        </p:txBody>
      </p:sp>
      <p:pic>
        <p:nvPicPr>
          <p:cNvPr id="12" name="Image 2" descr="preencoded.png">    </p:cNvPr>
          <p:cNvPicPr>
            <a:picLocks noChangeAspect="1"/>
          </p:cNvPicPr>
          <p:nvPr/>
        </p:nvPicPr>
        <p:blipFill>
          <a:blip r:embed="rId3"/>
          <a:stretch>
            <a:fillRect/>
          </a:stretch>
        </p:blipFill>
        <p:spPr>
          <a:xfrm>
            <a:off x="7132320" y="1463040"/>
            <a:ext cx="457200" cy="457200"/>
          </a:xfrm>
          <a:prstGeom prst="rect">
            <a:avLst/>
          </a:prstGeom>
        </p:spPr>
      </p:pic>
      <p:sp>
        <p:nvSpPr>
          <p:cNvPr id="13" name="Text 8"/>
          <p:cNvSpPr/>
          <p:nvPr/>
        </p:nvSpPr>
        <p:spPr>
          <a:xfrm>
            <a:off x="6400800" y="2103120"/>
            <a:ext cx="1920240" cy="411480"/>
          </a:xfrm>
          <a:prstGeom prst="rect">
            <a:avLst/>
          </a:prstGeom>
          <a:noFill/>
          <a:ln/>
        </p:spPr>
        <p:txBody>
          <a:bodyPr wrap="square" lIns="0" tIns="0" rIns="0" bIns="0" rtlCol="0" anchor="ctr"/>
          <a:lstStyle/>
          <a:p>
            <a:pPr algn="ctr" indent="0" marL="0">
              <a:buNone/>
            </a:pPr>
            <a:r>
              <a:rPr lang="en-US" sz="1600" b="1" dirty="0">
                <a:solidFill>
                  <a:srgbClr val="1A1A2E"/>
                </a:solidFill>
                <a:latin typeface="Calibri" pitchFamily="34" charset="0"/>
                <a:ea typeface="Calibri" pitchFamily="34" charset="-122"/>
                <a:cs typeface="Calibri" pitchFamily="34" charset="-120"/>
              </a:rPr>
              <a:t>Level 3: Adaptive</a:t>
            </a:r>
            <a:endParaRPr lang="en-US" sz="1600" dirty="0"/>
          </a:p>
        </p:txBody>
      </p:sp>
      <p:sp>
        <p:nvSpPr>
          <p:cNvPr id="14" name="Text 9"/>
          <p:cNvSpPr/>
          <p:nvPr/>
        </p:nvSpPr>
        <p:spPr>
          <a:xfrm>
            <a:off x="6400800" y="2560320"/>
            <a:ext cx="1920240" cy="1371600"/>
          </a:xfrm>
          <a:prstGeom prst="rect">
            <a:avLst/>
          </a:prstGeom>
          <a:noFill/>
          <a:ln/>
        </p:spPr>
        <p:txBody>
          <a:bodyPr wrap="square" lIns="0" tIns="0" rIns="0" bIns="0" rtlCol="0" anchor="ctr"/>
          <a:lstStyle/>
          <a:p>
            <a:pPr algn="l" indent="0" marL="0">
              <a:lnSpc>
                <a:spcPct val="125000"/>
              </a:lnSpc>
              <a:buNone/>
            </a:pPr>
            <a:r>
              <a:rPr lang="en-US" sz="1200" dirty="0">
                <a:solidFill>
                  <a:srgbClr val="4A5568"/>
                </a:solidFill>
                <a:latin typeface="Calibri Light" pitchFamily="34" charset="0"/>
                <a:ea typeface="Calibri Light" pitchFamily="34" charset="-122"/>
                <a:cs typeface="Calibri Light" pitchFamily="34" charset="-120"/>
              </a:rPr>
              <a:t>Self-optimizing systems that improve without intervention. Agents that monitor their own output quality, learn from feedback, and auto-correct.</a:t>
            </a:r>
            <a:endParaRPr lang="en-US" sz="1200" dirty="0"/>
          </a:p>
        </p:txBody>
      </p:sp>
      <p:sp>
        <p:nvSpPr>
          <p:cNvPr id="15" name="Shape 10"/>
          <p:cNvSpPr/>
          <p:nvPr/>
        </p:nvSpPr>
        <p:spPr>
          <a:xfrm>
            <a:off x="548640" y="4732020"/>
            <a:ext cx="8046720" cy="0"/>
          </a:xfrm>
          <a:prstGeom prst="line">
            <a:avLst/>
          </a:prstGeom>
          <a:noFill/>
          <a:ln w="6350">
            <a:solidFill>
              <a:srgbClr val="E2E8F0"/>
            </a:solidFill>
            <a:prstDash val="solid"/>
          </a:ln>
        </p:spPr>
        <p:txBody>
          <a:bodyPr/>
          <a:p/>
        </p:txBody>
      </p:sp>
      <p:sp>
        <p:nvSpPr>
          <p:cNvPr id="16" name="Text 11"/>
          <p:cNvSpPr/>
          <p:nvPr/>
        </p:nvSpPr>
        <p:spPr>
          <a:xfrm>
            <a:off x="548640" y="4777740"/>
            <a:ext cx="8046720" cy="274320"/>
          </a:xfrm>
          <a:prstGeom prst="rect">
            <a:avLst/>
          </a:prstGeom>
          <a:noFill/>
          <a:ln/>
        </p:spPr>
        <p:txBody>
          <a:bodyPr wrap="square" lIns="0" tIns="0" rIns="0" bIns="0" rtlCol="0" anchor="ctr"/>
          <a:lstStyle/>
          <a:p>
            <a:pPr algn="r" indent="0" marL="0">
              <a:buNone/>
            </a:pPr>
            <a:r>
              <a:rPr lang="en-US" sz="1100" dirty="0">
                <a:solidFill>
                  <a:srgbClr val="94A3B8"/>
                </a:solidFill>
                <a:latin typeface="Calibri Light" pitchFamily="34" charset="0"/>
                <a:ea typeface="Calibri Light" pitchFamily="34" charset="-122"/>
                <a:cs typeface="Calibri Light" pitchFamily="34" charset="-120"/>
              </a:rPr>
              <a:t>Zero to Agent | zerotoagent.com</a:t>
            </a:r>
            <a:endParaRPr lang="en-US" sz="1100" dirty="0"/>
          </a:p>
        </p:txBody>
      </p:sp>
      <p:sp>
        <p:nvSpPr>
          <p:cNvPr id="17" name="Text 12"/>
          <p:cNvSpPr/>
          <p:nvPr/>
        </p:nvSpPr>
        <p:spPr>
          <a:xfrm>
            <a:off x="548640" y="4777740"/>
            <a:ext cx="45720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Light" pitchFamily="34" charset="0"/>
                <a:ea typeface="Calibri Light" pitchFamily="34" charset="-122"/>
                <a:cs typeface="Calibri Light" pitchFamily="34" charset="-120"/>
              </a:rPr>
              <a:t>45</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77240" y="1097280"/>
            <a:ext cx="5486400" cy="320040"/>
          </a:xfrm>
          <a:prstGeom prst="rect">
            <a:avLst/>
          </a:prstGeom>
          <a:noFill/>
          <a:ln/>
        </p:spPr>
        <p:txBody>
          <a:bodyPr wrap="square" lIns="0" tIns="0" rIns="0" bIns="0" rtlCol="0" anchor="ctr"/>
          <a:lstStyle/>
          <a:p>
            <a:pPr indent="0" marL="0">
              <a:buNone/>
            </a:pPr>
            <a:r>
              <a:rPr lang="en-US" sz="1100" b="1" spc="400" kern="0" dirty="0">
                <a:solidFill>
                  <a:srgbClr val="0891B2"/>
                </a:solidFill>
                <a:latin typeface="Calibri" pitchFamily="34" charset="0"/>
                <a:ea typeface="Calibri" pitchFamily="34" charset="-122"/>
                <a:cs typeface="Calibri" pitchFamily="34" charset="-120"/>
              </a:rPr>
              <a:t>ZERO TO AGENT</a:t>
            </a:r>
            <a:endParaRPr lang="en-US" sz="1100" dirty="0"/>
          </a:p>
        </p:txBody>
      </p:sp>
      <p:sp>
        <p:nvSpPr>
          <p:cNvPr id="3" name="Text 1"/>
          <p:cNvSpPr/>
          <p:nvPr/>
        </p:nvSpPr>
        <p:spPr>
          <a:xfrm>
            <a:off x="777240" y="1508760"/>
            <a:ext cx="7315200" cy="9144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Start Building Today</a:t>
            </a:r>
            <a:endParaRPr lang="en-US" sz="3200" dirty="0"/>
          </a:p>
        </p:txBody>
      </p:sp>
      <p:sp>
        <p:nvSpPr>
          <p:cNvPr id="4" name="Shape 2"/>
          <p:cNvSpPr/>
          <p:nvPr/>
        </p:nvSpPr>
        <p:spPr>
          <a:xfrm>
            <a:off x="777240" y="2743200"/>
            <a:ext cx="3200400" cy="502920"/>
          </a:xfrm>
          <a:prstGeom prst="roundedRectangle">
            <a:avLst>
              <a:gd name="adj" fmla="val 14545"/>
            </a:avLst>
          </a:prstGeom>
          <a:solidFill>
            <a:srgbClr val="0891B2"/>
          </a:solidFill>
          <a:ln/>
        </p:spPr>
        <p:txBody>
          <a:bodyPr/>
          <a:p/>
        </p:txBody>
      </p:sp>
      <p:sp>
        <p:nvSpPr>
          <p:cNvPr id="5" name="Text 3"/>
          <p:cNvSpPr/>
          <p:nvPr/>
        </p:nvSpPr>
        <p:spPr>
          <a:xfrm>
            <a:off x="777240" y="2743200"/>
            <a:ext cx="320040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zerotoagent.com</a:t>
            </a:r>
            <a:endParaRPr lang="en-US" sz="1400" dirty="0"/>
          </a:p>
        </p:txBody>
      </p:sp>
      <p:sp>
        <p:nvSpPr>
          <p:cNvPr id="6" name="Text 4"/>
          <p:cNvSpPr/>
          <p:nvPr/>
        </p:nvSpPr>
        <p:spPr>
          <a:xfrm>
            <a:off x="777240" y="4320540"/>
            <a:ext cx="731520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Light" pitchFamily="34" charset="0"/>
                <a:ea typeface="Calibri Light" pitchFamily="34" charset="-122"/>
                <a:cs typeface="Calibri Light" pitchFamily="34" charset="-120"/>
              </a:rPr>
              <a:t>AR Sajid • abdur@zeroriskgrowth.com • zerotoagent.com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Engineering Workshop — From Zero to Production-Ready</dc:title>
  <dc:subject>PptxGenJS Presentation</dc:subject>
  <dc:creator>AR Sajid / Zero to Agent</dc:creator>
  <cp:lastModifiedBy>AR Sajid / Zero to Agent</cp:lastModifiedBy>
  <cp:revision>1</cp:revision>
  <dcterms:created xsi:type="dcterms:W3CDTF">2026-02-13T19:48:23Z</dcterms:created>
  <dcterms:modified xsi:type="dcterms:W3CDTF">2026-02-13T19:48:23Z</dcterms:modified>
</cp:coreProperties>
</file>